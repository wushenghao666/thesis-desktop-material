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7" r:id="rId4"/>
    <p:sldId id="336" r:id="rId5"/>
    <p:sldId id="444" r:id="rId6"/>
    <p:sldId id="451" r:id="rId7"/>
    <p:sldId id="470" r:id="rId8"/>
    <p:sldId id="455" r:id="rId9"/>
    <p:sldId id="479" r:id="rId10"/>
    <p:sldId id="471" r:id="rId11"/>
    <p:sldId id="472" r:id="rId12"/>
    <p:sldId id="452" r:id="rId13"/>
    <p:sldId id="446" r:id="rId14"/>
    <p:sldId id="473" r:id="rId15"/>
    <p:sldId id="458" r:id="rId16"/>
    <p:sldId id="474" r:id="rId17"/>
    <p:sldId id="459" r:id="rId18"/>
    <p:sldId id="460" r:id="rId19"/>
    <p:sldId id="447" r:id="rId20"/>
    <p:sldId id="453" r:id="rId21"/>
    <p:sldId id="457" r:id="rId22"/>
    <p:sldId id="469" r:id="rId23"/>
    <p:sldId id="466" r:id="rId24"/>
    <p:sldId id="475" r:id="rId25"/>
    <p:sldId id="462" r:id="rId26"/>
    <p:sldId id="476" r:id="rId27"/>
    <p:sldId id="463" r:id="rId28"/>
    <p:sldId id="464" r:id="rId29"/>
    <p:sldId id="477" r:id="rId30"/>
    <p:sldId id="448" r:id="rId31"/>
    <p:sldId id="461" r:id="rId32"/>
    <p:sldId id="467" r:id="rId33"/>
    <p:sldId id="468" r:id="rId34"/>
    <p:sldId id="449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0" autoAdjust="0"/>
    <p:restoredTop sz="82051" autoAdjust="0"/>
  </p:normalViewPr>
  <p:slideViewPr>
    <p:cSldViewPr snapToGrid="0">
      <p:cViewPr varScale="1">
        <p:scale>
          <a:sx n="92" d="100"/>
          <a:sy n="92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CC64B-21A6-4689-A978-F795439921FB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11FB3-3B76-4B3E-A610-B7E51F4413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各位老师好</a:t>
            </a:r>
            <a:r>
              <a:rPr lang="en-US" altLang="zh-CN" dirty="0"/>
              <a:t>，</a:t>
            </a:r>
            <a:r>
              <a:rPr lang="zh-CN" altLang="en-US" dirty="0"/>
              <a:t>我是吴晟昊，今天要给大家带来我的毕业论文答辩。</a:t>
            </a:r>
            <a:r>
              <a:rPr lang="en-US" altLang="zh-CN" dirty="0" err="1"/>
              <a:t>我的题目是《面向</a:t>
            </a:r>
            <a:r>
              <a:rPr lang="en-US" altLang="zh-CN" dirty="0"/>
              <a:t> Serverless </a:t>
            </a:r>
            <a:r>
              <a:rPr lang="en-US" altLang="zh-CN" dirty="0" err="1"/>
              <a:t>工作流的投机执行优化研究</a:t>
            </a:r>
            <a:r>
              <a:rPr lang="en-US" altLang="zh-CN" dirty="0"/>
              <a:t>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本次汇报主要包括四部分。首先说明为什么要研究</a:t>
            </a:r>
            <a:r>
              <a:rPr lang="en-US" altLang="zh-CN" dirty="0"/>
              <a:t> Serverless </a:t>
            </a:r>
            <a:r>
              <a:rPr lang="en-US" altLang="zh-CN" dirty="0" err="1"/>
              <a:t>工作流的端到端优化；其次介绍本文提出的方法与关键机制；然后展示系统实现和实验结果；最后给出结论与后续工作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下面首先进入第一部分，研究背景和研究目标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近年来，Serverless</a:t>
            </a:r>
            <a:r>
              <a:rPr lang="en-US" altLang="zh-CN" dirty="0"/>
              <a:t> 作为一种新兴的云计算开发范式发展非常快。它的核心优势在于，开发者不用管理底层基础设施，平台能够自动扩缩容，并且按需计费，因此非常适合事件驱动型应用。
</a:t>
            </a:r>
            <a:r>
              <a:rPr lang="zh-CN" altLang="en-US" dirty="0"/>
              <a:t>同时，越来越多的应用将采用</a:t>
            </a:r>
            <a:r>
              <a:rPr lang="en-US" altLang="zh-CN" dirty="0"/>
              <a:t>Serverless</a:t>
            </a:r>
            <a:r>
              <a:rPr lang="zh-CN" altLang="en-US" dirty="0"/>
              <a:t>架构</a:t>
            </a:r>
            <a:r>
              <a:rPr lang="en-US" altLang="zh-CN" dirty="0"/>
              <a:t>，Serverless </a:t>
            </a:r>
            <a:r>
              <a:rPr lang="en-US" altLang="zh-CN" dirty="0" err="1"/>
              <a:t>已经不再</a:t>
            </a:r>
            <a:r>
              <a:rPr lang="zh-CN" altLang="en-US" dirty="0"/>
              <a:t>只是简单的单个</a:t>
            </a:r>
            <a:r>
              <a:rPr lang="en-US" altLang="zh-CN" dirty="0" err="1"/>
              <a:t>函数调用，而是越来越多地承载在线服务和数据处理任务</a:t>
            </a:r>
            <a:r>
              <a:rPr lang="en-US" altLang="zh-CN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随着业务复杂度提升，很多任务已经无法由单个函数独立完成，而是需要多个函数通过控制流和数据流组织成工作流。例如前一个节点做路由判断，后一个节点做风控、日志分析或者内容处理。
在这种情况下，系统性能不再只取决于某一个函数运行得快不快，而更多取决于跨函数依赖、分支判定以及关键路径上的等待时间。因此，优化目标就从单函数性能，转向了工作流的端到端性能。如何降低这类工作流的整体时延，就是本文关注的核心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032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0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为了统一描述这个过程，本文进一步抽象出一个投机执行模型。模型包含六个核心组成部分：工作流本身、控制器、预测器、门控与预算、状态缓冲，以及验证与恢复。
其中，控制器负责运行时决策；预测器负责估计各个候选分支的概率；门控与预算决定是否值得投机以及投机到什么程度；状态缓冲用于隔离投机期间产生的中间状态和副作用；验证与恢复则在真实结果揭示后完成提交或回滚。
这个模型的重要意义在于，它把投机执行从某个具体系统中的零散技巧，上升为一个可以统一描述、可工程实现的方法框架，也为后续优化点的展开提供了清晰接口。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558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在这个模型里，最关键的模块之一就是预测器。现有工作通常比较粗略：它往往根据历史调用频率估计候选路径概率，再结合已经到达的路径作为上下文，最后对超过阈值的路径提前发起投机执行。
这类方法的问题在于，它默认历史统计足够稳定，但真实工作流并不总是这样。很多分支的走向其实与当前输入强相关；另外，线上环境的请求分布也会随时间变化。如果还是只看长时间的平均统计，就容易造成误预测，进而带来额外浪费。因此，本文的关键优化就是围绕这两个不足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1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在这个模型里，最关键的模块之一就是预测器。现有工作通常比较粗略：它往往根据历史调用频率估计候选路径概率，再结合已经到达的路径作为上下文，最后对超过阈值的路径提前发起投机执行。
这类方法的问题在于，它默认历史统计足够稳定，但真实工作流并不总是这样。很多分支的走向其实与当前输入强相关；另外，线上环境的请求分布也会随时间变化。如果还是只看长时间的平均统计，就容易造成误预测，进而带来额外浪费。因此，本文的关键优化就是围绕这两个不足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811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在这个模型里，最关键的模块之一就是预测器。现有工作通常比较粗略：它往往根据历史调用频率估计候选路径概率，再结合已经到达的路径作为上下文，最后对超过阈值的路径提前发起投机执行。
这类方法的问题在于，它默认历史统计足够稳定，但真实工作流并不总是这样。很多分支的走向其实与当前输入强相关；另外，线上环境的请求分布也会随时间变化。如果还是只看长时间的平均统计，就容易造成误预测，进而带来额外浪费。因此，本文的关键优化就是围绕这两个不足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273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基于前面的分析，本文将问题定位为：面向输入相关与动态变化场景的</a:t>
            </a:r>
            <a:r>
              <a:rPr lang="en-US" altLang="zh-CN" dirty="0"/>
              <a:t> Serverless </a:t>
            </a:r>
            <a:r>
              <a:rPr lang="en-US" altLang="zh-CN" dirty="0" err="1"/>
              <a:t>工作流投机执行优化</a:t>
            </a:r>
            <a:r>
              <a:rPr lang="en-US" altLang="zh-CN" dirty="0"/>
              <a:t>。
围绕这个问题，我的研究目标有三个。第一，是给出统一描述，构建一个可工程实现的投机执行模型和支撑框架；第二，是在预测层面提升分支判断的准确性和适应性；第三，是在不改变原有语义的前提下，尽可能获得稳定的端到端收益。也就是说，既要快，也要保证正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638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接下来进入第二部分，方法设计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595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优化点是输入感知。所谓输入相关分支，就是分支走向会明显受到当前函数输入影响。针对这种情况，本文的核心思路是：除了路径级的整体统计之外，再引入桶级统计，也就是先把输入映射到不同桶，再分别统计各个桶内的分支概率。
这样做的好处是，预测不再只依赖全局平均，而是能够更细粒度地利用输入特征。当然，桶级统计会面临冷启动和数据稀疏问题，所以本文又设计了两个配套机制。第一是回退混合：在初期样本不足时更多相信路径级统计，随着数据增多再逐步提升桶级统计的权重。第二是自适应启用：只有当桶级统计相比路径级统计体现出足够可靠性时，系统才启用它。通过这两个设计，可以在提升精度的同时避免过拟合和噪声放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554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优化点是输入感知。所谓输入相关分支，就是分支走向会明显受到当前函数输入影响。针对这种情况，本文的核心思路是：除了路径级的整体统计之外，再引入桶级统计，也就是先把输入映射到不同桶，再分别统计各个桶内的分支概率。
这样做的好处是，预测不再只依赖全局平均，而是能够更细粒度地利用输入特征。当然，桶级统计会面临冷启动和数据稀疏问题，所以本文又设计了两个配套机制。第一是回退混合：在初期样本不足时更多相信路径级统计，随着数据增多再逐步提升桶级统计的权重。第二是自适应启用：只有当桶级统计相比路径级统计体现出足够可靠性时，系统才启用它。通过这两个设计，可以在提升精度的同时避免过拟合和噪声放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34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优化点是输入感知。所谓输入相关分支，就是分支走向会明显受到当前函数输入影响。针对这种情况，本文的核心思路是：除了路径级的整体统计之外，再引入桶级统计，也就是先把输入映射到不同桶，再分别统计各个桶内的分支概率。
这样做的好处是，预测不再只依赖全局平均，而是能够更细粒度地利用输入特征。当然，桶级统计会面临冷启动和数据稀疏问题，所以本文又设计了两个配套机制。第一是回退混合：在初期样本不足时更多相信路径级统计，随着数据增多再逐步提升桶级统计的权重。第二是自适应启用：只有当桶级统计相比路径级统计体现出足够可靠性时，系统才启用它。通过这两个设计，可以在提升精度的同时避免过拟合和噪声放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124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二个优化点是分布漂移适应。这里的分布漂移，是指分支行为可能会随着时间发生缓慢变化，甚至在某些场景下出现突变。针对这个问题，本文没有只采用单一统计方式，而是结合了指数衰减统计和滑动窗口统计。
指数衰减统计的思想是让越新的样本权重越高、越旧的样本影响越小，因此更适合处理渐进变化；滑动窗口统计则直接只看最近一段时间的数据，更有利于快速响应突变。
在此基础上，本文又设计了双阈值滞回式切换机制：当两类统计的判断差异足够大时，优先相信更能反映近期行为的滑动窗口；而在差异不明显时，则保持原有选择，避免频繁来回切换。这样可以在响应速度和稳定性之间取得更好的平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61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最后，在联合使用这两类优化时，本文采取了相对保守的策略。原因是输入感知和漂移适应同时启用时，统计样本会进一步被切分，如果处理不当，反而可能因为样本过少导致不稳定。
因此，本文在联合策略下只启用指数衰减这一种漂移适应方式，以控制复杂度并降低噪声影响。这个设计体现的思想是：联合优化不是简单叠加，而是要优先保证鲁棒性。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502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下面进入第三部分，系统实现与实验验证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18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本文提出的整体方案叫做</a:t>
            </a:r>
            <a:r>
              <a:rPr lang="en-US" altLang="zh-CN" dirty="0"/>
              <a:t> </a:t>
            </a:r>
            <a:r>
              <a:rPr lang="en-US" altLang="zh-CN" dirty="0" err="1"/>
              <a:t>SpecSW，用于优化</a:t>
            </a:r>
            <a:r>
              <a:rPr lang="en-US" altLang="zh-CN" dirty="0"/>
              <a:t> Serverless </a:t>
            </a:r>
            <a:r>
              <a:rPr lang="en-US" altLang="zh-CN" dirty="0" err="1"/>
              <a:t>工作流中的投机执行。这里可以看到整个方案包含三类角色：用户、Serverless</a:t>
            </a:r>
            <a:r>
              <a:rPr lang="en-US" altLang="zh-CN" dirty="0"/>
              <a:t> </a:t>
            </a:r>
            <a:r>
              <a:rPr lang="en-US" altLang="zh-CN" dirty="0" err="1"/>
              <a:t>平台，以及位于中间的</a:t>
            </a:r>
            <a:r>
              <a:rPr lang="en-US" altLang="zh-CN" dirty="0"/>
              <a:t> </a:t>
            </a:r>
            <a:r>
              <a:rPr lang="en-US" altLang="zh-CN" dirty="0" err="1"/>
              <a:t>SpecSW</a:t>
            </a:r>
            <a:r>
              <a:rPr lang="en-US" altLang="zh-CN" dirty="0"/>
              <a:t> </a:t>
            </a:r>
            <a:r>
              <a:rPr lang="en-US" altLang="zh-CN" dirty="0" err="1"/>
              <a:t>系统</a:t>
            </a:r>
            <a:r>
              <a:rPr lang="en-US" altLang="zh-CN" dirty="0"/>
              <a:t>。
它的基本运行机制可以概括为四步：先预测，再门控，然后对投机状态进行缓冲隔离，最后做验证与恢复。具体来说，就是在真实分支结果还没有揭示时，系统先预测最有可能的后继路径，并提前执行高概率候选；等真实结果出来后，如果预测正确就提交，如果预测错误就撤销。这样做的目标，是在保持语义一致的前提下，把原本必须串行等待的时间，转化为可并行推进的计算时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301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基于前面的设计，本文实现了一个原型系统。从总体架构上看，系统包括工作流定义、运行配置、控制与执行模块，以及状态管理和验证恢复模块。
</a:t>
            </a:r>
            <a:r>
              <a:rPr lang="en-US" altLang="zh-CN" dirty="0" err="1"/>
              <a:t>在用户接口方面，本文提供了工作流定义与运行配置方式，并实现了</a:t>
            </a:r>
            <a:r>
              <a:rPr lang="en-US" altLang="zh-CN" dirty="0"/>
              <a:t> </a:t>
            </a:r>
            <a:r>
              <a:rPr lang="en-US" altLang="zh-CN" dirty="0" err="1"/>
              <a:t>specx</a:t>
            </a:r>
            <a:r>
              <a:rPr lang="en-US" altLang="zh-CN" dirty="0"/>
              <a:t> </a:t>
            </a:r>
            <a:r>
              <a:rPr lang="en-US" altLang="zh-CN" dirty="0" err="1"/>
              <a:t>命令行工具，方便用户提交、运行和管理工作流实验。系统同时支持不同执行后端，包括本地执行环境和</a:t>
            </a:r>
            <a:r>
              <a:rPr lang="en-US" altLang="zh-CN" dirty="0"/>
              <a:t> OpenWhisk </a:t>
            </a:r>
            <a:r>
              <a:rPr lang="en-US" altLang="zh-CN" dirty="0" err="1"/>
              <a:t>执行后端，从而为后面的功能验证和性能实验提供统一支撑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692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826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为了系统性验证本文方案，实验设计围绕四个研究问题展开。RQ1 是仿真实验，用于回答预测优化机制本身是否有效；RQ2 是功能实验，验证系统能不能在保证语义一致的前提下正确加速；RQ3 是性能实验，考察真实应用中的端到端收益；RQ4 </a:t>
            </a:r>
            <a:r>
              <a:rPr lang="en-US" altLang="zh-CN" dirty="0" err="1"/>
              <a:t>是消融实验，用来解释各个关键设计到底有没有必要。这样的设计逻辑，是从机制、功能到性能，再到原因分析，逐层展开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527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功能实验关注的是系统是否“能正确地加速”。这里本文设计了一组功能验证工作流，并采用自动化差分验证的方法，分别比较投机执行和非投机执行两种模式下的最终返回结果、数据库状态以及对外可见消息记录。
</a:t>
            </a:r>
            <a:r>
              <a:rPr lang="en-US" altLang="zh-CN" dirty="0" err="1"/>
              <a:t>实验结果显示，在本地执行后端和</a:t>
            </a:r>
            <a:r>
              <a:rPr lang="en-US" altLang="zh-CN" dirty="0"/>
              <a:t> OpenWhisk 后端上，所有测试工作流都通过了语义一致性验证，同时也验证了投机机制本身是有效的。也就是说，系统不仅能够提前做事，而且不会把错误路径的副作用暴露出去。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751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先看仿真实验。这个实验主要回答核心机制是否有效。为此，本文构建了具有代表性的工作流，并分别模拟输入相关分支和动态负载变化等场景。
实验结果表明，输入感知和分布漂移适应这两类机制，都能够显著降低误预测率和无效投机带来的浪费时间，整体趋势符合预期。进一步地，在复合场景下，联合机制也表现出较好的综合效果。
从现象上看，如果输入分布越均衡，说明桶级统计更有机会发挥作用，那么输入感知带来的收益就越明显；而如果分布突变越强，说明近期信息越重要，那么分布漂移适应机制的优势也会更加突出。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852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最后是消融实验，用来回答关键设计是否必要。结果首先表明，在输入感知策略中，自适应混合在稀疏噪声场景下能够明显降低误预测率，说明单纯使用桶级统计并不稳妥，必须结合样本可靠性做权重调节。
</a:t>
            </a:r>
            <a:r>
              <a:rPr lang="en-US" altLang="zh-CN" dirty="0" err="1"/>
              <a:t>其次，在分布漂移适应方面，无论是强漂移还是弱漂移场景，综合策略都优于单独使用指数衰减或滑动窗口统计，说明两者确实具有互补性</a:t>
            </a:r>
            <a:r>
              <a:rPr lang="en-US" altLang="zh-CN" dirty="0"/>
              <a:t>。
最后，对于联合优化策略，实验显示它在多种场景下的鲁棒性最好，跨场景表现最稳健。这也从侧面说明，本文的系统设计不是针对单一情形做的局部调优，而具有一定通用性。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915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性能实验主要回答一个问题：在真实应用中，本文的方法到底能带来多大收益。这里本文选择了三类工作流作为代表，分别是请求路由与风控流、事件日志分析与告警流，以及内容感知媒体处理流。同时设置了 stable 和 drift </a:t>
            </a:r>
            <a:r>
              <a:rPr lang="en-US" altLang="zh-CN" dirty="0" err="1"/>
              <a:t>两种分布场景，以及高、中、低三种并发水平</a:t>
            </a:r>
            <a:r>
              <a:rPr lang="en-US" altLang="zh-CN" dirty="0"/>
              <a:t>。
</a:t>
            </a:r>
            <a:r>
              <a:rPr lang="en-US" altLang="zh-CN" dirty="0" err="1"/>
              <a:t>结果表明，本文方法带来了比较稳定的整体提升：平均加速比提高了</a:t>
            </a:r>
            <a:r>
              <a:rPr lang="en-US" altLang="zh-CN" dirty="0"/>
              <a:t> 22.73%，P95 </a:t>
            </a:r>
            <a:r>
              <a:rPr lang="en-US" altLang="zh-CN" dirty="0" err="1"/>
              <a:t>尾延迟下降了</a:t>
            </a:r>
            <a:r>
              <a:rPr lang="en-US" altLang="zh-CN" dirty="0"/>
              <a:t> 10.3%，</a:t>
            </a:r>
            <a:r>
              <a:rPr lang="en-US" altLang="zh-CN" dirty="0" err="1"/>
              <a:t>误预测率平均降低了</a:t>
            </a:r>
            <a:r>
              <a:rPr lang="en-US" altLang="zh-CN" dirty="0"/>
              <a:t> 5.78 </a:t>
            </a:r>
            <a:r>
              <a:rPr lang="en-US" altLang="zh-CN" dirty="0" err="1"/>
              <a:t>个百分点</a:t>
            </a:r>
            <a:r>
              <a:rPr lang="en-US" altLang="zh-CN" dirty="0"/>
              <a:t>。
另外，实验还显示，当并发更高、漂移更强、输入相关性更明显时，优化效果会更突出。这也说明本文提出的机制确实是针对这些关键痛点发挥作用，而不是只在某一个特定案例中有效。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61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性能实验主要回答一个问题：在真实应用中，本文的方法到底能带来多大收益。这里本文选择了三类工作流作为代表，分别是请求路由与风控流、事件日志分析与告警流，以及内容感知媒体处理流。同时设置了 stable 和 drift </a:t>
            </a:r>
            <a:r>
              <a:rPr lang="en-US" altLang="zh-CN" dirty="0" err="1"/>
              <a:t>两种分布场景，以及高、中、低三种并发水平</a:t>
            </a:r>
            <a:r>
              <a:rPr lang="en-US" altLang="zh-CN" dirty="0"/>
              <a:t>。
</a:t>
            </a:r>
            <a:r>
              <a:rPr lang="en-US" altLang="zh-CN" dirty="0" err="1"/>
              <a:t>结果表明，本文方法带来了比较稳定的整体提升：平均加速比提高了</a:t>
            </a:r>
            <a:r>
              <a:rPr lang="en-US" altLang="zh-CN" dirty="0"/>
              <a:t> 22.73%，P95 </a:t>
            </a:r>
            <a:r>
              <a:rPr lang="en-US" altLang="zh-CN" dirty="0" err="1"/>
              <a:t>尾延迟下降了</a:t>
            </a:r>
            <a:r>
              <a:rPr lang="en-US" altLang="zh-CN" dirty="0"/>
              <a:t> 10.3%，</a:t>
            </a:r>
            <a:r>
              <a:rPr lang="en-US" altLang="zh-CN" dirty="0" err="1"/>
              <a:t>误预测率平均降低了</a:t>
            </a:r>
            <a:r>
              <a:rPr lang="en-US" altLang="zh-CN" dirty="0"/>
              <a:t> 5.78 </a:t>
            </a:r>
            <a:r>
              <a:rPr lang="en-US" altLang="zh-CN" dirty="0" err="1"/>
              <a:t>个百分点</a:t>
            </a:r>
            <a:r>
              <a:rPr lang="en-US" altLang="zh-CN" dirty="0"/>
              <a:t>。
另外，实验还显示，当并发更高、漂移更强、输入相关性更明显时，优化效果会更突出。这也说明本文提出的机制确实是针对这些关键痛点发挥作用，而不是只在某一个特定案例中有效。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63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最后进入第四部分，结论与展望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6914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本文围绕</a:t>
            </a:r>
            <a:r>
              <a:rPr lang="en-US" altLang="zh-CN" dirty="0"/>
              <a:t> Serverless 工作流端到端优化问题，构建了一个统一的投机执行框架，并在此基础上提出了输入感知和漂移适应相结合的分支预测方法。通过系统实现和多层次实验验证，可以看到，这些设计在不改变语义的前提下，能够有效改善特定场景下的端到端时延和投机稳定性。
未来的工作主要有四个方向。第一，继续研究参数的自适应配置，让系统减少人工调参成本；第二，扩展到更复杂的工作流结构和更多执行平台；第三，引入更多工作流类型和负载模式，开展更大规模的实验验证；第四，进一步从单纯追求性能，扩展到性能与成本协同优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697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我的汇报到这里结束。感谢各位老师的聆听，恳请批评指正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04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C9F72-C157-4B88-8326-B193C6A6EE17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9DE-83B3-457D-A7BC-BF898793C6D2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9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09BD-4D76-49EA-9978-816F26B6B355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46D90-AF55-4F17-8B66-E96529220BB8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6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4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4" y="2507556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E71D-0FE6-4E0B-9AFD-DCC4EB547111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A095-54FA-4444-8527-2FB755A9A164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54FC-1999-43FC-BADA-FB3A117CB452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6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6544A-1E01-44AA-AC6A-964B538E06DB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BDC5E-1903-4DCF-ACB2-A5573D5D739A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3ACA-D204-4B17-BCBB-96BE6FD6CAE4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0368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40DF-CC3E-4A3F-A56F-7897125079D9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45"/>
            <a:ext cx="9144000" cy="14382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90"/>
          <a:stretch>
            <a:fillRect/>
          </a:stretch>
        </p:blipFill>
        <p:spPr>
          <a:xfrm>
            <a:off x="10174309" y="5132390"/>
            <a:ext cx="1179491" cy="1143000"/>
          </a:xfrm>
          <a:prstGeom prst="rect">
            <a:avLst/>
          </a:prstGeom>
        </p:spPr>
      </p:pic>
      <p:pic>
        <p:nvPicPr>
          <p:cNvPr id="5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6678" r="5909" b="21508"/>
          <a:stretch>
            <a:fillRect/>
          </a:stretch>
        </p:blipFill>
        <p:spPr>
          <a:xfrm>
            <a:off x="9243267" y="157018"/>
            <a:ext cx="2715491" cy="899542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2423693"/>
            <a:ext cx="12192000" cy="1634837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 descr="https://ss1.bdstatic.com/70cFuXSh_Q1YnxGkpoWK1HF6hhy/it/u=895424434,4021804793&amp;fm=27&amp;gp=0.jp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868" y="794598"/>
            <a:ext cx="2288886" cy="28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7"/>
          <p:cNvSpPr/>
          <p:nvPr userDrawn="1"/>
        </p:nvSpPr>
        <p:spPr>
          <a:xfrm>
            <a:off x="0" y="4132421"/>
            <a:ext cx="12192000" cy="73892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232" y="4291584"/>
            <a:ext cx="3858768" cy="2566416"/>
          </a:xfrm>
          <a:prstGeom prst="rect">
            <a:avLst/>
          </a:prstGeom>
        </p:spPr>
      </p:pic>
      <p:sp>
        <p:nvSpPr>
          <p:cNvPr id="11" name="Text Placeholder 59"/>
          <p:cNvSpPr>
            <a:spLocks noGrp="1"/>
          </p:cNvSpPr>
          <p:nvPr>
            <p:ph type="body" sz="quarter" idx="17" hasCustomPrompt="1"/>
          </p:nvPr>
        </p:nvSpPr>
        <p:spPr>
          <a:xfrm>
            <a:off x="3581400" y="2755900"/>
            <a:ext cx="8016875" cy="1143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论文标题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2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A4278CB3-A231-43EA-B174-675ACFD3117C}" type="datetime1">
              <a:rPr lang="zh-CN" altLang="en-US" smtClean="0"/>
              <a:t>2026/4/23</a:t>
            </a:fld>
            <a:endParaRPr lang="zh-CN" altLang="en-US" dirty="0"/>
          </a:p>
        </p:txBody>
      </p:sp>
      <p:cxnSp>
        <p:nvCxnSpPr>
          <p:cNvPr id="15" name="直接连接符 8"/>
          <p:cNvCxnSpPr/>
          <p:nvPr userDrawn="1"/>
        </p:nvCxnSpPr>
        <p:spPr>
          <a:xfrm>
            <a:off x="1147779" y="848260"/>
            <a:ext cx="10738786" cy="0"/>
          </a:xfrm>
          <a:prstGeom prst="line">
            <a:avLst/>
          </a:prstGeom>
          <a:ln w="28575" cmpd="sng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4" descr="https://ss1.bdstatic.com/70cFuXSh_Q1YnxGkpoWK1HF6hhy/it/u=895424434,4021804793&amp;fm=27&amp;gp=0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664" y="270910"/>
            <a:ext cx="677359" cy="8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147779" y="270910"/>
            <a:ext cx="3599174" cy="436606"/>
          </a:xfrm>
        </p:spPr>
        <p:txBody>
          <a:bodyPr>
            <a:noAutofit/>
          </a:bodyPr>
          <a:lstStyle>
            <a:lvl1pPr marL="0" indent="0" algn="just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第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dirty="0"/>
              <a:t>部分</a:t>
            </a:r>
            <a:r>
              <a:rPr lang="zh-CN" altLang="en-US" dirty="0"/>
              <a:t> 节标题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0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08313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490C2987-3FD1-4A87-B467-8131E3A7921F}" type="datetime1">
              <a:rPr lang="zh-CN" altLang="en-US" smtClean="0"/>
              <a:t>2026/4/23</a:t>
            </a:fld>
            <a:endParaRPr lang="zh-CN" altLang="en-US" dirty="0"/>
          </a:p>
        </p:txBody>
      </p:sp>
      <p:pic>
        <p:nvPicPr>
          <p:cNvPr id="12" name="图片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6678" r="5909" b="21508"/>
          <a:stretch>
            <a:fillRect/>
          </a:stretch>
        </p:blipFill>
        <p:spPr>
          <a:xfrm>
            <a:off x="184970" y="229755"/>
            <a:ext cx="2120900" cy="702576"/>
          </a:xfrm>
          <a:prstGeom prst="rect">
            <a:avLst/>
          </a:prstGeom>
        </p:spPr>
      </p:pic>
      <p:sp>
        <p:nvSpPr>
          <p:cNvPr id="13" name="矩形 1"/>
          <p:cNvSpPr/>
          <p:nvPr userDrawn="1"/>
        </p:nvSpPr>
        <p:spPr>
          <a:xfrm>
            <a:off x="126366" y="2361565"/>
            <a:ext cx="4359008" cy="1583690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 userDrawn="1"/>
        </p:nvSpPr>
        <p:spPr>
          <a:xfrm>
            <a:off x="0" y="2008505"/>
            <a:ext cx="12192000" cy="252727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9"/>
          <p:cNvSpPr/>
          <p:nvPr userDrawn="1"/>
        </p:nvSpPr>
        <p:spPr>
          <a:xfrm>
            <a:off x="4672497" y="2357756"/>
            <a:ext cx="200025" cy="1584012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792413"/>
            <a:ext cx="2743200" cy="7905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第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dirty="0" err="1"/>
              <a:t>部分</a:t>
            </a:r>
            <a:endParaRPr lang="en-US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197475" y="3429000"/>
            <a:ext cx="2463800" cy="5127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节标题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5197475" y="2519363"/>
            <a:ext cx="2463800" cy="65246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rgbClr val="6A0160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5197475" y="4494845"/>
            <a:ext cx="5010215" cy="950912"/>
          </a:xfrm>
        </p:spPr>
        <p:txBody>
          <a:bodyPr>
            <a:normAutofit/>
          </a:bodyPr>
          <a:lstStyle>
            <a:lvl1pPr marL="228600" indent="-444500">
              <a:buFont typeface="Wingdings" panose="05000000000000000000" pitchFamily="2" charset="2"/>
              <a:buChar char="q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要点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0"/>
            <a:r>
              <a:rPr lang="en-US" dirty="0" err="1"/>
              <a:t>要点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372755"/>
            <a:ext cx="5181600" cy="48042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372755"/>
            <a:ext cx="5181600" cy="48042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88461018-8F6A-44E7-9AF9-58ACE165EE68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8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360055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193489"/>
            <a:ext cx="5157787" cy="3996174"/>
          </a:xfrm>
        </p:spPr>
        <p:txBody>
          <a:bodyPr/>
          <a:lstStyle>
            <a:lvl1pPr>
              <a:defRPr u="none" strike="noStrike" kern="1200" cap="none" spc="0" normalizeH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69023" y="1360055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3" y="2193489"/>
            <a:ext cx="5183188" cy="3996174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0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4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D87EF887-55C5-421C-9242-3A0B3DA1E4B0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8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9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168509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7B9061BA-8758-4683-A86E-01B2C41FBB89}" type="datetime1">
              <a:rPr lang="zh-CN" altLang="en-US" smtClean="0"/>
              <a:t>2026/4/23</a:t>
            </a:fld>
            <a:endParaRPr lang="zh-CN" altLang="en-US" dirty="0"/>
          </a:p>
        </p:txBody>
      </p:sp>
      <p:cxnSp>
        <p:nvCxnSpPr>
          <p:cNvPr id="12" name="直接连接符 8"/>
          <p:cNvCxnSpPr/>
          <p:nvPr userDrawn="1"/>
        </p:nvCxnSpPr>
        <p:spPr>
          <a:xfrm>
            <a:off x="1147779" y="848260"/>
            <a:ext cx="10738786" cy="0"/>
          </a:xfrm>
          <a:prstGeom prst="line">
            <a:avLst/>
          </a:prstGeom>
          <a:ln w="28575" cmpd="sng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https://ss1.bdstatic.com/70cFuXSh_Q1YnxGkpoWK1HF6hhy/it/u=895424434,4021804793&amp;fm=27&amp;gp=0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664" y="270910"/>
            <a:ext cx="677359" cy="8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7779" y="270910"/>
            <a:ext cx="3599174" cy="436606"/>
          </a:xfrm>
        </p:spPr>
        <p:txBody>
          <a:bodyPr>
            <a:noAutofit/>
          </a:bodyPr>
          <a:lstStyle>
            <a:lvl1pPr marL="0" indent="0" algn="just" eaLnBrk="1" fontAlgn="auto" latinLnBrk="0" hangingPunct="1">
              <a:lnSpc>
                <a:spcPct val="90000"/>
              </a:lnSpc>
              <a:spcBef>
                <a:spcPts val="0"/>
              </a:spcBef>
              <a:buNone/>
              <a:defRPr sz="3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第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dirty="0"/>
              <a:t>部分</a:t>
            </a:r>
            <a:r>
              <a:rPr lang="zh-CN" altLang="en-US" dirty="0"/>
              <a:t> 节标题</a:t>
            </a:r>
            <a:endParaRPr 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4074795" y="3420745"/>
            <a:ext cx="4064000" cy="173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22" name="日期占位符 21"/>
          <p:cNvSpPr>
            <a:spLocks noGrp="1"/>
          </p:cNvSpPr>
          <p:nvPr>
            <p:ph type="dt" sz="half" idx="10"/>
          </p:nvPr>
        </p:nvSpPr>
        <p:spPr>
          <a:xfrm>
            <a:off x="8610600" y="6356358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0C510292-CB59-410E-86E6-8AD039AD2F6F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18"/>
          <p:cNvSpPr txBox="1"/>
          <p:nvPr userDrawn="1"/>
        </p:nvSpPr>
        <p:spPr>
          <a:xfrm>
            <a:off x="9257372" y="64119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4724400" y="6411916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/>
          <a:p>
            <a:fld id="{A8A9758C-48A0-41B9-87E4-AF7E81A441C6}" type="datetime1">
              <a:rPr lang="zh-CN" altLang="en-US" smtClean="0"/>
              <a:t>2026/4/23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4724400" y="6411916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/>
          <a:p>
            <a:fld id="{F86341CB-910D-4A79-A532-D9438773BBE5}" type="datetime1">
              <a:rPr lang="zh-CN" altLang="en-US" smtClean="0"/>
              <a:t>2026/4/23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371607"/>
            <a:ext cx="10515600" cy="480536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0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39952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9D533CD-4D6E-4877-BFFB-4624338100BD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8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0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4724400" y="6411916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/>
          <a:p>
            <a:fld id="{BDA4D891-E732-4F7A-8C0E-C6552F5DF1E9}" type="datetime1">
              <a:rPr lang="zh-CN" altLang="en-US" smtClean="0"/>
              <a:t>2026/4/23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38E33E6-3118-46B5-BEB9-D201CC9A68C6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EEB98-9658-41DD-AF8A-F505062621B9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indent="0" algn="l" defTabSz="685800" rtl="0" eaLnBrk="1" fontAlgn="auto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openwhisk.apache.org/" TargetMode="Externa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79713" y="2286001"/>
            <a:ext cx="8832574" cy="1647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dirty="0">
                <a:solidFill>
                  <a:schemeClr val="bg1"/>
                </a:solidFill>
              </a:rPr>
              <a:t>面向 </a:t>
            </a:r>
            <a:r>
              <a:rPr lang="en-US" altLang="zh-CN" sz="4000" dirty="0">
                <a:solidFill>
                  <a:schemeClr val="bg1"/>
                </a:solidFill>
              </a:rPr>
              <a:t>Serverless </a:t>
            </a:r>
            <a:r>
              <a:rPr lang="zh-CN" altLang="en-US" sz="4000" dirty="0">
                <a:solidFill>
                  <a:schemeClr val="bg1"/>
                </a:solidFill>
              </a:rPr>
              <a:t>工作流</a:t>
            </a:r>
            <a:br>
              <a:rPr lang="en-US" altLang="zh-CN" sz="4000" dirty="0">
                <a:solidFill>
                  <a:schemeClr val="bg1"/>
                </a:solidFill>
              </a:rPr>
            </a:br>
            <a:r>
              <a:rPr lang="zh-CN" altLang="en-US" sz="4000" dirty="0">
                <a:solidFill>
                  <a:schemeClr val="bg1"/>
                </a:solidFill>
              </a:rPr>
              <a:t>的投机执行优化研究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45354C76-0CDD-5485-7D50-DF12B90EF187}"/>
              </a:ext>
            </a:extLst>
          </p:cNvPr>
          <p:cNvSpPr txBox="1"/>
          <p:nvPr/>
        </p:nvSpPr>
        <p:spPr>
          <a:xfrm>
            <a:off x="4085359" y="934162"/>
            <a:ext cx="4914900" cy="4805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zh-CN" altLang="en-US" sz="205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435699-7E0B-0F47-994F-257CBB0F1968}"/>
              </a:ext>
            </a:extLst>
          </p:cNvPr>
          <p:cNvSpPr txBox="1"/>
          <p:nvPr/>
        </p:nvSpPr>
        <p:spPr>
          <a:xfrm>
            <a:off x="4085359" y="4365331"/>
            <a:ext cx="3158836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algn="ctr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答辩人：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吴晟昊</a:t>
            </a:r>
            <a:endParaRPr lang="en-US" altLang="zh-CN" dirty="0"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  <a:p>
            <a:pPr marL="457200" lvl="2" algn="ctr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指导教师：马骏 副教授</a:t>
            </a:r>
            <a:endParaRPr lang="en-US" altLang="zh-CN" sz="18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7"/>
    </mc:Choice>
    <mc:Fallback xmlns="">
      <p:transition spd="slow" advTm="30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sz="3000" dirty="0"/>
              <a:t>提纲</a:t>
            </a:r>
          </a:p>
        </p:txBody>
      </p:sp>
      <p:sp>
        <p:nvSpPr>
          <p:cNvPr id="6" name="内容占位符 4"/>
          <p:cNvSpPr txBox="1"/>
          <p:nvPr/>
        </p:nvSpPr>
        <p:spPr>
          <a:xfrm>
            <a:off x="838200" y="1443317"/>
            <a:ext cx="4914900" cy="4805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研究动机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方法设计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系统实现与实验验证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"/>
    </mc:Choice>
    <mc:Fallback xmlns="">
      <p:transition spd="slow" advTm="3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第一部分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研究动机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Introduction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"/>
    </mc:Choice>
    <mc:Fallback xmlns="">
      <p:transition spd="slow" advTm="20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upload_post_object_v2_3952008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795" y="894083"/>
            <a:ext cx="2889154" cy="2261077"/>
          </a:xfrm>
          <a:prstGeom prst="rect">
            <a:avLst/>
          </a:prstGeom>
        </p:spPr>
      </p:pic>
      <p:sp>
        <p:nvSpPr>
          <p:cNvPr id="32" name="Content Placeholder 2"/>
          <p:cNvSpPr txBox="1"/>
          <p:nvPr/>
        </p:nvSpPr>
        <p:spPr>
          <a:xfrm>
            <a:off x="321402" y="1206877"/>
            <a:ext cx="6713243" cy="247150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新兴云计算开发范式 </a:t>
            </a:r>
            <a:r>
              <a:rPr lang="en-US" altLang="zh-CN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Serverless </a:t>
            </a: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计算快速发展</a:t>
            </a: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降低基础设施管理负担</a:t>
            </a:r>
            <a:endParaRPr lang="en-US" altLang="zh-CN" sz="20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按需计费，具备弹性扩缩能力</a:t>
            </a:r>
            <a:endParaRPr lang="en-US" altLang="zh-CN" sz="20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已广泛用于事件驱动应用开发</a:t>
            </a:r>
            <a:endParaRPr lang="en-US" altLang="zh-CN" sz="20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148080" y="271145"/>
            <a:ext cx="5183505" cy="43688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研究背景 </a:t>
            </a:r>
            <a:r>
              <a:rPr lang="en-US" altLang="zh-CN" dirty="0">
                <a:sym typeface="+mn-ea"/>
              </a:rPr>
              <a:t>- Serverless </a:t>
            </a:r>
            <a:r>
              <a:rPr lang="zh-CN" altLang="en-US" dirty="0">
                <a:sym typeface="+mn-ea"/>
              </a:rPr>
              <a:t>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9B74C58-60A2-9DD9-818C-71DADCE49A0B}"/>
              </a:ext>
            </a:extLst>
          </p:cNvPr>
          <p:cNvSpPr txBox="1"/>
          <p:nvPr/>
        </p:nvSpPr>
        <p:spPr>
          <a:xfrm>
            <a:off x="8166494" y="3059668"/>
            <a:ext cx="2147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四大特性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CADB86-F2FF-8ADC-AD44-EAAA9E459C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778" y="3429000"/>
            <a:ext cx="6174017" cy="24148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FD0A98D-0DFA-64FA-C634-8086FED07A63}"/>
              </a:ext>
            </a:extLst>
          </p:cNvPr>
          <p:cNvSpPr txBox="1"/>
          <p:nvPr/>
        </p:nvSpPr>
        <p:spPr>
          <a:xfrm>
            <a:off x="3274107" y="5900505"/>
            <a:ext cx="3760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几种云服务模式的区别比较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"/>
    </mc:Choice>
    <mc:Fallback xmlns="">
      <p:transition spd="slow" advTm="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2"/>
          <p:cNvSpPr txBox="1"/>
          <p:nvPr/>
        </p:nvSpPr>
        <p:spPr>
          <a:xfrm>
            <a:off x="320400" y="1206000"/>
            <a:ext cx="11383238" cy="468045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50000"/>
              </a:lnSpc>
              <a:spcBef>
                <a:spcPts val="200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</a:rPr>
              <a:t>单函数应用向多函数工作流演进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复杂业务难以由单函数独立完成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多个函数需通过控制流与数据流组成工作流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因此，优化目标也从单函数性能转向工作流端到端性能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如何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降低工作流端到端延迟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，成为核心问题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现有研究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工作流编排：流程描述、状态维护与编排运行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一般性能优化：冷启动、资源供给、通信与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I/O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开销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投机执行研究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：预测路径并提前触发后继函数，代表研究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SpecFaaS</a:t>
            </a:r>
            <a:r>
              <a:rPr lang="en-US" altLang="zh-CN" sz="2000" baseline="30000" dirty="0">
                <a:latin typeface="Gill Sans" panose="020B0502020104020203" charset="0"/>
                <a:ea typeface="等线" panose="02010600030101010101" charset="-122"/>
              </a:rPr>
              <a:t>[1]</a:t>
            </a:r>
            <a:endParaRPr lang="zh-CN" altLang="en-US" sz="2000" baseline="30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zh-CN" altLang="en-US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148080" y="271145"/>
            <a:ext cx="5642379" cy="43688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研究背景 </a:t>
            </a:r>
            <a:r>
              <a:rPr lang="en-US" altLang="zh-CN" dirty="0">
                <a:sym typeface="+mn-ea"/>
              </a:rPr>
              <a:t>- Serverless </a:t>
            </a:r>
            <a:r>
              <a:rPr lang="zh-CN" altLang="en-US" dirty="0">
                <a:sym typeface="+mn-ea"/>
              </a:rPr>
              <a:t>工作流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2F71793-9217-D7CE-B7D3-065293D9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106" y="1013824"/>
            <a:ext cx="4892532" cy="226107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99EC920E-0F19-DDDC-C0EC-2E887DB2CB2B}"/>
              </a:ext>
            </a:extLst>
          </p:cNvPr>
          <p:cNvSpPr txBox="1"/>
          <p:nvPr/>
        </p:nvSpPr>
        <p:spPr>
          <a:xfrm>
            <a:off x="7939397" y="3244334"/>
            <a:ext cx="268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编排式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工作流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D1823C-19B2-EA9D-45EE-6CACCFAB4C0E}"/>
              </a:ext>
            </a:extLst>
          </p:cNvPr>
          <p:cNvSpPr txBox="1"/>
          <p:nvPr/>
        </p:nvSpPr>
        <p:spPr>
          <a:xfrm>
            <a:off x="3876037" y="5694125"/>
            <a:ext cx="4473057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投机执行提供了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新的优化思路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740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"/>
    </mc:Choice>
    <mc:Fallback xmlns="">
      <p:transition spd="slow" advTm="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98F458-3C83-3491-E577-DC842C9D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EF60F1-E2FF-A958-4F71-4C07DFC84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6193398" cy="436606"/>
          </a:xfrm>
        </p:spPr>
        <p:txBody>
          <a:bodyPr/>
          <a:lstStyle/>
          <a:p>
            <a:r>
              <a:rPr lang="zh-CN" altLang="en-US" dirty="0"/>
              <a:t>投机执行（推测执行）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E75377-CB96-2D35-7B75-7FCBDE7A5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96" y="2358761"/>
            <a:ext cx="7725600" cy="38394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DF9391C-388F-09C3-5069-42C118820879}"/>
              </a:ext>
            </a:extLst>
          </p:cNvPr>
          <p:cNvSpPr txBox="1"/>
          <p:nvPr/>
        </p:nvSpPr>
        <p:spPr>
          <a:xfrm>
            <a:off x="1147779" y="921254"/>
            <a:ext cx="8754717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核心思想：用“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预测 </a:t>
            </a:r>
            <a:r>
              <a:rPr lang="en-US" altLang="zh-CN" sz="1800" b="1" dirty="0">
                <a:latin typeface="Gill Sans" panose="020B0502020104020203" charset="0"/>
                <a:ea typeface="等线" panose="02010600030101010101" charset="-122"/>
              </a:rPr>
              <a:t>+ 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提前执行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”来换取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更低延迟</a:t>
            </a:r>
            <a:endParaRPr lang="en-US" altLang="zh-CN" sz="18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控制依赖投机：猜接下来会走哪个分支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数据依赖投机：猜上游函数会产出什么数据，好让下游先跑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EC54A-AD28-C364-94E9-DAFAFC31E801}"/>
              </a:ext>
            </a:extLst>
          </p:cNvPr>
          <p:cNvSpPr txBox="1"/>
          <p:nvPr/>
        </p:nvSpPr>
        <p:spPr>
          <a:xfrm>
            <a:off x="7783031" y="2758166"/>
            <a:ext cx="3551275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那么，如何保证投机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正确性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11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98F458-3C83-3491-E577-DC842C9D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EF60F1-E2FF-A958-4F71-4C07DFC84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投机执行通用模型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1C347A-7061-ACA2-014F-E33B7DBAF309}"/>
              </a:ext>
            </a:extLst>
          </p:cNvPr>
          <p:cNvSpPr txBox="1"/>
          <p:nvPr/>
        </p:nvSpPr>
        <p:spPr>
          <a:xfrm>
            <a:off x="181037" y="2757986"/>
            <a:ext cx="5741693" cy="297510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Workflow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控制器（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Controller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预测器（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Predictor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门控与预算（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Gating &amp; Budgeting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状态缓冲（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Buffer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验证与恢复（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Validation &amp; Recovery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D1BC87-279B-A5FE-068D-CBEC3C25213B}"/>
              </a:ext>
            </a:extLst>
          </p:cNvPr>
          <p:cNvSpPr txBox="1"/>
          <p:nvPr/>
        </p:nvSpPr>
        <p:spPr>
          <a:xfrm>
            <a:off x="1336437" y="5800319"/>
            <a:ext cx="980321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在控制器的四个模块中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预测器（</a:t>
            </a:r>
            <a:r>
              <a:rPr lang="en-US" altLang="zh-CN" b="1" dirty="0">
                <a:latin typeface="Gill Sans" panose="020B0502020104020203" charset="0"/>
                <a:ea typeface="等线" panose="02010600030101010101" charset="-122"/>
              </a:rPr>
              <a:t>Predictor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）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最为重要，其预测成功率直接决定了投机优化效果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C12151-516F-3F0F-E65B-952E407F8EC2}"/>
              </a:ext>
            </a:extLst>
          </p:cNvPr>
          <p:cNvSpPr txBox="1"/>
          <p:nvPr/>
        </p:nvSpPr>
        <p:spPr>
          <a:xfrm>
            <a:off x="1341030" y="1073820"/>
            <a:ext cx="9754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执行闭环：预测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提前执行 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事后验证 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正确提交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 or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错误回滚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结果供后续预测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3BBA503-DC52-9E67-CD32-45D43FB69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366" y="1321148"/>
            <a:ext cx="9129632" cy="453729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CF7DFBD-B821-266F-EB8E-AEF8C998B422}"/>
              </a:ext>
            </a:extLst>
          </p:cNvPr>
          <p:cNvSpPr txBox="1"/>
          <p:nvPr/>
        </p:nvSpPr>
        <p:spPr>
          <a:xfrm>
            <a:off x="181037" y="2251052"/>
            <a:ext cx="2016640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核心组件：</a:t>
            </a:r>
            <a:endParaRPr lang="en-US" altLang="zh-CN" sz="20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1324CAB-7180-B632-DC5B-E93813978783}"/>
              </a:ext>
            </a:extLst>
          </p:cNvPr>
          <p:cNvSpPr/>
          <p:nvPr/>
        </p:nvSpPr>
        <p:spPr>
          <a:xfrm>
            <a:off x="5174674" y="1924749"/>
            <a:ext cx="2514600" cy="75603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C6B68F5-5EBB-6B68-DCB6-A9BD9DD5C46A}"/>
              </a:ext>
            </a:extLst>
          </p:cNvPr>
          <p:cNvSpPr/>
          <p:nvPr/>
        </p:nvSpPr>
        <p:spPr>
          <a:xfrm>
            <a:off x="374568" y="3596167"/>
            <a:ext cx="2514600" cy="75603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5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E959EE42-E7E2-D5B6-05F3-38CDD5358A4C}"/>
              </a:ext>
            </a:extLst>
          </p:cNvPr>
          <p:cNvGrpSpPr/>
          <p:nvPr/>
        </p:nvGrpSpPr>
        <p:grpSpPr>
          <a:xfrm>
            <a:off x="2439038" y="1669321"/>
            <a:ext cx="5951082" cy="1639002"/>
            <a:chOff x="2349207" y="3472116"/>
            <a:chExt cx="5951082" cy="1639002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DBD887E-D1C8-48A6-153D-1026EC558311}"/>
                </a:ext>
              </a:extLst>
            </p:cNvPr>
            <p:cNvSpPr/>
            <p:nvPr/>
          </p:nvSpPr>
          <p:spPr>
            <a:xfrm>
              <a:off x="4860258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7B72BBC-BBEE-F88D-141D-434AB7F676C5}"/>
                </a:ext>
              </a:extLst>
            </p:cNvPr>
            <p:cNvSpPr/>
            <p:nvPr/>
          </p:nvSpPr>
          <p:spPr>
            <a:xfrm>
              <a:off x="4860257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D82CAB38-44F5-A885-C74B-FDEC71455A60}"/>
                </a:ext>
              </a:extLst>
            </p:cNvPr>
            <p:cNvSpPr/>
            <p:nvPr/>
          </p:nvSpPr>
          <p:spPr>
            <a:xfrm>
              <a:off x="6132407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051C96A3-5956-FE0D-19E3-BF2FAA202003}"/>
                </a:ext>
              </a:extLst>
            </p:cNvPr>
            <p:cNvSpPr/>
            <p:nvPr/>
          </p:nvSpPr>
          <p:spPr>
            <a:xfrm>
              <a:off x="2349207" y="4018789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DD140A52-D45B-8FE1-35FB-68E5F586B72F}"/>
                </a:ext>
              </a:extLst>
            </p:cNvPr>
            <p:cNvCxnSpPr>
              <a:cxnSpLocks/>
              <a:stCxn id="58" idx="3"/>
              <a:endCxn id="52" idx="1"/>
            </p:cNvCxnSpPr>
            <p:nvPr/>
          </p:nvCxnSpPr>
          <p:spPr>
            <a:xfrm>
              <a:off x="4172452" y="4291617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929170E5-1D99-65AB-64FA-C3F5A51BC470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 flipV="1">
              <a:off x="5599928" y="4291617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CFC3070-3D4B-5222-2A17-795D276A0A04}"/>
                </a:ext>
              </a:extLst>
            </p:cNvPr>
            <p:cNvSpPr/>
            <p:nvPr/>
          </p:nvSpPr>
          <p:spPr>
            <a:xfrm>
              <a:off x="3432781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A3E65CA-7BD0-8366-612D-06B0AA36229F}"/>
                </a:ext>
              </a:extLst>
            </p:cNvPr>
            <p:cNvCxnSpPr>
              <a:cxnSpLocks/>
              <a:stCxn id="55" idx="3"/>
              <a:endCxn id="58" idx="1"/>
            </p:cNvCxnSpPr>
            <p:nvPr/>
          </p:nvCxnSpPr>
          <p:spPr>
            <a:xfrm flipV="1">
              <a:off x="3088878" y="4291617"/>
              <a:ext cx="343903" cy="3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3F3205A-8310-3366-A518-6CBE06916804}"/>
                </a:ext>
              </a:extLst>
            </p:cNvPr>
            <p:cNvSpPr/>
            <p:nvPr/>
          </p:nvSpPr>
          <p:spPr>
            <a:xfrm>
              <a:off x="7560619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5324802C-E78C-837D-7E0A-3FA563775D07}"/>
                </a:ext>
              </a:extLst>
            </p:cNvPr>
            <p:cNvSpPr/>
            <p:nvPr/>
          </p:nvSpPr>
          <p:spPr>
            <a:xfrm>
              <a:off x="7560618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62" name="连接符: 肘形 61">
              <a:extLst>
                <a:ext uri="{FF2B5EF4-FFF2-40B4-BE49-F238E27FC236}">
                  <a16:creationId xmlns:a16="http://schemas.microsoft.com/office/drawing/2014/main" id="{2D46B800-E9E5-4947-B047-253F0E7FDF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2812" y="3734280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E65DBDF8-1B8A-953E-DF17-BA20208EDDE8}"/>
                </a:ext>
              </a:extLst>
            </p:cNvPr>
            <p:cNvCxnSpPr>
              <a:cxnSpLocks/>
            </p:cNvCxnSpPr>
            <p:nvPr/>
          </p:nvCxnSpPr>
          <p:spPr>
            <a:xfrm>
              <a:off x="6872812" y="4280614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1071F4E7-161C-5761-9AEC-A30EA60D4DDB}"/>
                </a:ext>
              </a:extLst>
            </p:cNvPr>
            <p:cNvCxnSpPr>
              <a:cxnSpLocks/>
              <a:stCxn id="58" idx="3"/>
              <a:endCxn id="53" idx="1"/>
            </p:cNvCxnSpPr>
            <p:nvPr/>
          </p:nvCxnSpPr>
          <p:spPr>
            <a:xfrm flipV="1">
              <a:off x="4172452" y="3745283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EACB98B0-D54D-EA8C-71C6-FBC72970CF63}"/>
                </a:ext>
              </a:extLst>
            </p:cNvPr>
            <p:cNvCxnSpPr>
              <a:cxnSpLocks/>
              <a:stCxn id="53" idx="3"/>
              <a:endCxn id="54" idx="1"/>
            </p:cNvCxnSpPr>
            <p:nvPr/>
          </p:nvCxnSpPr>
          <p:spPr>
            <a:xfrm>
              <a:off x="5599928" y="3745283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6094685" cy="436606"/>
          </a:xfrm>
        </p:spPr>
        <p:txBody>
          <a:bodyPr/>
          <a:lstStyle/>
          <a:p>
            <a:r>
              <a:rPr lang="zh-CN" altLang="en-US" dirty="0"/>
              <a:t>投机执行预测器</a:t>
            </a:r>
            <a:r>
              <a:rPr lang="en-US" altLang="zh-CN" dirty="0"/>
              <a:t>-</a:t>
            </a:r>
            <a:r>
              <a:rPr lang="zh-CN" altLang="en-US" dirty="0"/>
              <a:t>现有工作方法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330EAB3-1C40-5A5F-7E38-0A90929869A7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9BBB9E2-E0B2-91F1-97D1-A1EF4AA15B42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D2C6CE1-8E13-A82E-B25D-61FF4C2EF15A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7EF83A1-624E-F966-938E-9AB934863101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D8B158-DDF0-1379-A757-EB1EE0AC8B8C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654101AB-6AC3-B4DF-0E99-941599AD7FFF}"/>
                </a:ext>
              </a:extLst>
            </p:cNvPr>
            <p:cNvCxnSpPr>
              <a:cxnSpLocks/>
              <a:stCxn id="19" idx="3"/>
              <a:endCxn id="5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8F1CB303-D80A-3077-7231-7BFC76DECA72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2EEF524-E335-AFD7-FA58-910744067042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58E51CC-7AED-3FA9-3F0D-D64242820480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3569D10-63F6-5001-0571-738D17B4C633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B5429F8-40AE-FA3E-FD0C-462019484EB9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1B628150-4B15-B841-F57F-1E0C2B69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3DD0DCF3-0AF6-6CC4-4017-0FEFA4713BE1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4808949-445F-B365-6ABD-8A61F1281CDF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0938F4F0-9B39-D391-C528-2F78D696C455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4692888-5485-3DC1-A7FF-803A7C7D98D4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495791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C9B881D-5DBB-1D51-1EA8-F45A293B8E93}"/>
                </a:ext>
              </a:extLst>
            </p:cNvPr>
            <p:cNvSpPr txBox="1"/>
            <p:nvPr/>
          </p:nvSpPr>
          <p:spPr>
            <a:xfrm>
              <a:off x="9804691" y="2329955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10974E30-6A39-8925-9771-E6CD79687963}"/>
                </a:ext>
              </a:extLst>
            </p:cNvPr>
            <p:cNvCxnSpPr>
              <a:cxnSpLocks/>
              <a:stCxn id="19" idx="3"/>
              <a:endCxn id="6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93FC3C94-1AC3-B792-BD25-568A74B0B8B6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E378CD85-1274-9F25-2252-0FC8C4CEE8B2}"/>
              </a:ext>
            </a:extLst>
          </p:cNvPr>
          <p:cNvSpPr txBox="1"/>
          <p:nvPr/>
        </p:nvSpPr>
        <p:spPr>
          <a:xfrm>
            <a:off x="4284099" y="2414174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?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A1F5A07-8A27-F4BA-2A8C-BFF86C6794CD}"/>
              </a:ext>
            </a:extLst>
          </p:cNvPr>
          <p:cNvCxnSpPr>
            <a:cxnSpLocks/>
          </p:cNvCxnSpPr>
          <p:nvPr/>
        </p:nvCxnSpPr>
        <p:spPr>
          <a:xfrm>
            <a:off x="4433455" y="2904260"/>
            <a:ext cx="0" cy="404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4AA9BA89-8457-0D46-ED8B-FADBC9688A47}"/>
              </a:ext>
            </a:extLst>
          </p:cNvPr>
          <p:cNvGraphicFramePr>
            <a:graphicFrameLocks noGrp="1"/>
          </p:cNvGraphicFramePr>
          <p:nvPr/>
        </p:nvGraphicFramePr>
        <p:xfrm>
          <a:off x="3838862" y="3724607"/>
          <a:ext cx="4514274" cy="124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137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start-&gt;br1-&gt;a1-&gt;br2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a2: 8, b2: 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95994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a1: 7, b1: 3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DEB552EE-E2C1-189E-6B3E-4434266FAB23}"/>
              </a:ext>
            </a:extLst>
          </p:cNvPr>
          <p:cNvSpPr/>
          <p:nvPr/>
        </p:nvSpPr>
        <p:spPr>
          <a:xfrm>
            <a:off x="3846367" y="3462443"/>
            <a:ext cx="4499264" cy="25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函数已提交历史记录表（路径级）</a:t>
            </a:r>
            <a:endParaRPr kumimoji="1" lang="zh-CN" altLang="en-US" sz="1400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811B75F-C8D3-2AC4-BC12-3F68731297C0}"/>
              </a:ext>
            </a:extLst>
          </p:cNvPr>
          <p:cNvCxnSpPr>
            <a:cxnSpLocks/>
          </p:cNvCxnSpPr>
          <p:nvPr/>
        </p:nvCxnSpPr>
        <p:spPr>
          <a:xfrm>
            <a:off x="8463395" y="4273624"/>
            <a:ext cx="382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F794F1AF-0EC1-6A80-0FCE-BF4F7245D630}"/>
              </a:ext>
            </a:extLst>
          </p:cNvPr>
          <p:cNvSpPr txBox="1"/>
          <p:nvPr/>
        </p:nvSpPr>
        <p:spPr>
          <a:xfrm>
            <a:off x="8654761" y="3764924"/>
            <a:ext cx="3074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若投机阈值</a:t>
            </a:r>
            <a:r>
              <a:rPr lang="zh-CN" altLang="en-US" sz="1800" dirty="0"/>
              <a:t> </a:t>
            </a:r>
            <a:r>
              <a:rPr lang="en-US" altLang="zh-CN" sz="1800" dirty="0"/>
              <a:t>τ = 0.6</a:t>
            </a:r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(a1</a:t>
            </a:r>
            <a:r>
              <a:rPr lang="en-US" altLang="zh-CN" sz="1800" dirty="0"/>
              <a:t>) = 0.7 &gt; 0.6</a:t>
            </a:r>
            <a:r>
              <a:rPr lang="zh-CN" altLang="en-US" sz="1800" dirty="0"/>
              <a:t>，</a:t>
            </a:r>
            <a:r>
              <a:rPr lang="zh-CN" altLang="en-US" sz="1600" dirty="0"/>
              <a:t>投机</a:t>
            </a:r>
            <a:endParaRPr lang="en-US" altLang="zh-CN" sz="1600" dirty="0"/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(b1</a:t>
            </a:r>
            <a:r>
              <a:rPr lang="en-US" altLang="zh-CN" sz="1800" dirty="0"/>
              <a:t>) = 0.3 &lt; 0.6</a:t>
            </a:r>
            <a:r>
              <a:rPr lang="zh-CN" altLang="en-US" sz="1800" dirty="0"/>
              <a:t>，</a:t>
            </a:r>
            <a:r>
              <a:rPr lang="zh-CN" altLang="en-US" sz="1600" dirty="0"/>
              <a:t>不投机</a:t>
            </a:r>
            <a:endParaRPr lang="en-US" altLang="zh-CN" sz="16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0A07BD-46E0-5DB1-2A61-CD4D7EFFDEB4}"/>
              </a:ext>
            </a:extLst>
          </p:cNvPr>
          <p:cNvGrpSpPr/>
          <p:nvPr/>
        </p:nvGrpSpPr>
        <p:grpSpPr>
          <a:xfrm>
            <a:off x="8733419" y="2661627"/>
            <a:ext cx="2331296" cy="338554"/>
            <a:chOff x="8747060" y="3034526"/>
            <a:chExt cx="2331296" cy="338554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51CD03D-4906-16F4-615E-88630B308CD3}"/>
                </a:ext>
              </a:extLst>
            </p:cNvPr>
            <p:cNvCxnSpPr>
              <a:cxnSpLocks/>
            </p:cNvCxnSpPr>
            <p:nvPr/>
          </p:nvCxnSpPr>
          <p:spPr>
            <a:xfrm>
              <a:off x="8747060" y="3184119"/>
              <a:ext cx="1247926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DB3BAF0-3F61-2C07-D800-D93F66DD20DB}"/>
                </a:ext>
              </a:extLst>
            </p:cNvPr>
            <p:cNvSpPr txBox="1"/>
            <p:nvPr/>
          </p:nvSpPr>
          <p:spPr>
            <a:xfrm>
              <a:off x="10010571" y="303452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要提前走</a:t>
              </a: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E85B3F-E4A2-30FF-5C04-A19B6168EE86}"/>
              </a:ext>
            </a:extLst>
          </p:cNvPr>
          <p:cNvSpPr txBox="1"/>
          <p:nvPr/>
        </p:nvSpPr>
        <p:spPr>
          <a:xfrm>
            <a:off x="4283365" y="1986568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b="1" dirty="0">
              <a:solidFill>
                <a:schemeClr val="accent1"/>
              </a:solidFill>
              <a:latin typeface="Gill Sans" panose="020B0502020104020203" charset="0"/>
              <a:ea typeface="等线" panose="02010600030101010101" charset="-122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1965BF6-3FF7-238F-EE7B-B04D3B28214A}"/>
              </a:ext>
            </a:extLst>
          </p:cNvPr>
          <p:cNvCxnSpPr>
            <a:cxnSpLocks/>
          </p:cNvCxnSpPr>
          <p:nvPr/>
        </p:nvCxnSpPr>
        <p:spPr>
          <a:xfrm flipV="1">
            <a:off x="4262282" y="1943914"/>
            <a:ext cx="687805" cy="546334"/>
          </a:xfrm>
          <a:prstGeom prst="bentConnector3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3CDA7-14C4-E2D0-6D2C-92FA4A49D8BE}"/>
              </a:ext>
            </a:extLst>
          </p:cNvPr>
          <p:cNvSpPr txBox="1"/>
          <p:nvPr/>
        </p:nvSpPr>
        <p:spPr>
          <a:xfrm>
            <a:off x="1514042" y="957035"/>
            <a:ext cx="97341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现有工作策略：以到达路径作为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唯一上下文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，以历史调用频率估计候选路径概率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A5F41BC-4BBD-FA4A-5178-8D3F38B8A9B8}"/>
              </a:ext>
            </a:extLst>
          </p:cNvPr>
          <p:cNvSpPr/>
          <p:nvPr/>
        </p:nvSpPr>
        <p:spPr>
          <a:xfrm>
            <a:off x="4120491" y="4292947"/>
            <a:ext cx="1750373" cy="40524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4CB680-2820-C507-2C6F-0A36E6DF24C5}"/>
              </a:ext>
            </a:extLst>
          </p:cNvPr>
          <p:cNvSpPr txBox="1"/>
          <p:nvPr/>
        </p:nvSpPr>
        <p:spPr>
          <a:xfrm>
            <a:off x="4712817" y="5222520"/>
            <a:ext cx="2898847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这样做有什么问题？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740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"/>
    </mc:Choice>
    <mc:Fallback xmlns="">
      <p:transition spd="slow" advTm="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80" grpId="0" animBg="1"/>
      <p:bldP spid="84" grpId="0"/>
      <p:bldP spid="21" grpId="0"/>
      <p:bldP spid="7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E959EE42-E7E2-D5B6-05F3-38CDD5358A4C}"/>
              </a:ext>
            </a:extLst>
          </p:cNvPr>
          <p:cNvGrpSpPr/>
          <p:nvPr/>
        </p:nvGrpSpPr>
        <p:grpSpPr>
          <a:xfrm>
            <a:off x="2439038" y="1669321"/>
            <a:ext cx="5951082" cy="1639002"/>
            <a:chOff x="2349207" y="3472116"/>
            <a:chExt cx="5951082" cy="1639002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DBD887E-D1C8-48A6-153D-1026EC558311}"/>
                </a:ext>
              </a:extLst>
            </p:cNvPr>
            <p:cNvSpPr/>
            <p:nvPr/>
          </p:nvSpPr>
          <p:spPr>
            <a:xfrm>
              <a:off x="4860258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7B72BBC-BBEE-F88D-141D-434AB7F676C5}"/>
                </a:ext>
              </a:extLst>
            </p:cNvPr>
            <p:cNvSpPr/>
            <p:nvPr/>
          </p:nvSpPr>
          <p:spPr>
            <a:xfrm>
              <a:off x="4860257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D82CAB38-44F5-A885-C74B-FDEC71455A60}"/>
                </a:ext>
              </a:extLst>
            </p:cNvPr>
            <p:cNvSpPr/>
            <p:nvPr/>
          </p:nvSpPr>
          <p:spPr>
            <a:xfrm>
              <a:off x="6132407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051C96A3-5956-FE0D-19E3-BF2FAA202003}"/>
                </a:ext>
              </a:extLst>
            </p:cNvPr>
            <p:cNvSpPr/>
            <p:nvPr/>
          </p:nvSpPr>
          <p:spPr>
            <a:xfrm>
              <a:off x="2349207" y="4018789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DD140A52-D45B-8FE1-35FB-68E5F586B72F}"/>
                </a:ext>
              </a:extLst>
            </p:cNvPr>
            <p:cNvCxnSpPr>
              <a:cxnSpLocks/>
              <a:stCxn id="58" idx="3"/>
              <a:endCxn id="52" idx="1"/>
            </p:cNvCxnSpPr>
            <p:nvPr/>
          </p:nvCxnSpPr>
          <p:spPr>
            <a:xfrm>
              <a:off x="4172452" y="4291617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929170E5-1D99-65AB-64FA-C3F5A51BC470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 flipV="1">
              <a:off x="5599928" y="4291617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CFC3070-3D4B-5222-2A17-795D276A0A04}"/>
                </a:ext>
              </a:extLst>
            </p:cNvPr>
            <p:cNvSpPr/>
            <p:nvPr/>
          </p:nvSpPr>
          <p:spPr>
            <a:xfrm>
              <a:off x="3432781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A3E65CA-7BD0-8366-612D-06B0AA36229F}"/>
                </a:ext>
              </a:extLst>
            </p:cNvPr>
            <p:cNvCxnSpPr>
              <a:cxnSpLocks/>
              <a:stCxn id="55" idx="3"/>
              <a:endCxn id="58" idx="1"/>
            </p:cNvCxnSpPr>
            <p:nvPr/>
          </p:nvCxnSpPr>
          <p:spPr>
            <a:xfrm flipV="1">
              <a:off x="3088878" y="4291617"/>
              <a:ext cx="343903" cy="3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3F3205A-8310-3366-A518-6CBE06916804}"/>
                </a:ext>
              </a:extLst>
            </p:cNvPr>
            <p:cNvSpPr/>
            <p:nvPr/>
          </p:nvSpPr>
          <p:spPr>
            <a:xfrm>
              <a:off x="7560619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5324802C-E78C-837D-7E0A-3FA563775D07}"/>
                </a:ext>
              </a:extLst>
            </p:cNvPr>
            <p:cNvSpPr/>
            <p:nvPr/>
          </p:nvSpPr>
          <p:spPr>
            <a:xfrm>
              <a:off x="7560618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62" name="连接符: 肘形 61">
              <a:extLst>
                <a:ext uri="{FF2B5EF4-FFF2-40B4-BE49-F238E27FC236}">
                  <a16:creationId xmlns:a16="http://schemas.microsoft.com/office/drawing/2014/main" id="{2D46B800-E9E5-4947-B047-253F0E7FDF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2812" y="3734280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E65DBDF8-1B8A-953E-DF17-BA20208EDDE8}"/>
                </a:ext>
              </a:extLst>
            </p:cNvPr>
            <p:cNvCxnSpPr>
              <a:cxnSpLocks/>
            </p:cNvCxnSpPr>
            <p:nvPr/>
          </p:nvCxnSpPr>
          <p:spPr>
            <a:xfrm>
              <a:off x="6872812" y="4280614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1071F4E7-161C-5761-9AEC-A30EA60D4DDB}"/>
                </a:ext>
              </a:extLst>
            </p:cNvPr>
            <p:cNvCxnSpPr>
              <a:cxnSpLocks/>
              <a:stCxn id="58" idx="3"/>
              <a:endCxn id="53" idx="1"/>
            </p:cNvCxnSpPr>
            <p:nvPr/>
          </p:nvCxnSpPr>
          <p:spPr>
            <a:xfrm flipV="1">
              <a:off x="4172452" y="3745283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EACB98B0-D54D-EA8C-71C6-FBC72970CF63}"/>
                </a:ext>
              </a:extLst>
            </p:cNvPr>
            <p:cNvCxnSpPr>
              <a:cxnSpLocks/>
              <a:stCxn id="53" idx="3"/>
              <a:endCxn id="54" idx="1"/>
            </p:cNvCxnSpPr>
            <p:nvPr/>
          </p:nvCxnSpPr>
          <p:spPr>
            <a:xfrm>
              <a:off x="5599928" y="3745283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6094685" cy="436606"/>
          </a:xfrm>
        </p:spPr>
        <p:txBody>
          <a:bodyPr/>
          <a:lstStyle/>
          <a:p>
            <a:r>
              <a:rPr lang="zh-CN" altLang="en-US" dirty="0"/>
              <a:t>投机执行预测器</a:t>
            </a:r>
            <a:r>
              <a:rPr lang="en-US" altLang="zh-CN" dirty="0"/>
              <a:t>-</a:t>
            </a:r>
            <a:r>
              <a:rPr lang="zh-CN" altLang="en-US" dirty="0"/>
              <a:t>现有工作不足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4EF8E3-D366-E43A-4575-3EED276622EC}"/>
              </a:ext>
            </a:extLst>
          </p:cNvPr>
          <p:cNvSpPr txBox="1"/>
          <p:nvPr/>
        </p:nvSpPr>
        <p:spPr>
          <a:xfrm>
            <a:off x="3446212" y="894219"/>
            <a:ext cx="4943908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：无法感知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输入对于分支的影响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330EAB3-1C40-5A5F-7E38-0A90929869A7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9BBB9E2-E0B2-91F1-97D1-A1EF4AA15B42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D2C6CE1-8E13-A82E-B25D-61FF4C2EF15A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7EF83A1-624E-F966-938E-9AB934863101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D8B158-DDF0-1379-A757-EB1EE0AC8B8C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654101AB-6AC3-B4DF-0E99-941599AD7FFF}"/>
                </a:ext>
              </a:extLst>
            </p:cNvPr>
            <p:cNvCxnSpPr>
              <a:cxnSpLocks/>
              <a:stCxn id="19" idx="3"/>
              <a:endCxn id="5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8F1CB303-D80A-3077-7231-7BFC76DECA72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2EEF524-E335-AFD7-FA58-910744067042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58E51CC-7AED-3FA9-3F0D-D64242820480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3569D10-63F6-5001-0571-738D17B4C633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B5429F8-40AE-FA3E-FD0C-462019484EB9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1B628150-4B15-B841-F57F-1E0C2B69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3DD0DCF3-0AF6-6CC4-4017-0FEFA4713BE1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4808949-445F-B365-6ABD-8A61F1281CDF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0938F4F0-9B39-D391-C528-2F78D696C455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4692888-5485-3DC1-A7FF-803A7C7D98D4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495791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C9B881D-5DBB-1D51-1EA8-F45A293B8E93}"/>
                </a:ext>
              </a:extLst>
            </p:cNvPr>
            <p:cNvSpPr txBox="1"/>
            <p:nvPr/>
          </p:nvSpPr>
          <p:spPr>
            <a:xfrm>
              <a:off x="9804691" y="2329955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10974E30-6A39-8925-9771-E6CD79687963}"/>
                </a:ext>
              </a:extLst>
            </p:cNvPr>
            <p:cNvCxnSpPr>
              <a:cxnSpLocks/>
              <a:stCxn id="19" idx="3"/>
              <a:endCxn id="6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93FC3C94-1AC3-B792-BD25-568A74B0B8B6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A1F5A07-8A27-F4BA-2A8C-BFF86C6794CD}"/>
              </a:ext>
            </a:extLst>
          </p:cNvPr>
          <p:cNvCxnSpPr>
            <a:cxnSpLocks/>
          </p:cNvCxnSpPr>
          <p:nvPr/>
        </p:nvCxnSpPr>
        <p:spPr>
          <a:xfrm>
            <a:off x="4433455" y="2904260"/>
            <a:ext cx="0" cy="404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4AA9BA89-8457-0D46-ED8B-FADBC9688A47}"/>
              </a:ext>
            </a:extLst>
          </p:cNvPr>
          <p:cNvGraphicFramePr>
            <a:graphicFrameLocks noGrp="1"/>
          </p:cNvGraphicFramePr>
          <p:nvPr/>
        </p:nvGraphicFramePr>
        <p:xfrm>
          <a:off x="3838862" y="3724607"/>
          <a:ext cx="4514274" cy="124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137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start-&gt;br1-&gt;a1-&gt;br2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a2: 8, b2: 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95994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a1: 7, b1: 3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DEB552EE-E2C1-189E-6B3E-4434266FAB23}"/>
              </a:ext>
            </a:extLst>
          </p:cNvPr>
          <p:cNvSpPr/>
          <p:nvPr/>
        </p:nvSpPr>
        <p:spPr>
          <a:xfrm>
            <a:off x="3846367" y="3462443"/>
            <a:ext cx="4499264" cy="25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函数已提交历史记录表（路径级）</a:t>
            </a:r>
            <a:endParaRPr kumimoji="1" lang="zh-CN" altLang="en-US" sz="1400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811B75F-C8D3-2AC4-BC12-3F68731297C0}"/>
              </a:ext>
            </a:extLst>
          </p:cNvPr>
          <p:cNvCxnSpPr>
            <a:cxnSpLocks/>
          </p:cNvCxnSpPr>
          <p:nvPr/>
        </p:nvCxnSpPr>
        <p:spPr>
          <a:xfrm>
            <a:off x="8463395" y="4273624"/>
            <a:ext cx="382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F794F1AF-0EC1-6A80-0FCE-BF4F7245D630}"/>
              </a:ext>
            </a:extLst>
          </p:cNvPr>
          <p:cNvSpPr txBox="1"/>
          <p:nvPr/>
        </p:nvSpPr>
        <p:spPr>
          <a:xfrm>
            <a:off x="8654761" y="3764924"/>
            <a:ext cx="3074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若投机阈值</a:t>
            </a:r>
            <a:r>
              <a:rPr lang="zh-CN" altLang="en-US" sz="1800" dirty="0"/>
              <a:t> </a:t>
            </a:r>
            <a:r>
              <a:rPr lang="en-US" altLang="zh-CN" sz="1800" dirty="0"/>
              <a:t>τ = 0.6</a:t>
            </a:r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(a1</a:t>
            </a:r>
            <a:r>
              <a:rPr lang="en-US" altLang="zh-CN" sz="1800" dirty="0"/>
              <a:t>) = 0.7 &gt; 0.6</a:t>
            </a:r>
            <a:r>
              <a:rPr lang="zh-CN" altLang="en-US" sz="1800" dirty="0"/>
              <a:t>，</a:t>
            </a:r>
            <a:r>
              <a:rPr lang="zh-CN" altLang="en-US" sz="1600" dirty="0"/>
              <a:t>投机</a:t>
            </a:r>
            <a:endParaRPr lang="en-US" altLang="zh-CN" sz="1600" dirty="0"/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(b1</a:t>
            </a:r>
            <a:r>
              <a:rPr lang="en-US" altLang="zh-CN" sz="1800" dirty="0"/>
              <a:t>) = 0.3 &lt; 0.6</a:t>
            </a:r>
            <a:r>
              <a:rPr lang="zh-CN" altLang="en-US" sz="1800" dirty="0"/>
              <a:t>，</a:t>
            </a:r>
            <a:r>
              <a:rPr lang="zh-CN" altLang="en-US" sz="1600" dirty="0"/>
              <a:t>不投机</a:t>
            </a:r>
            <a:endParaRPr lang="en-US" altLang="zh-CN" sz="16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0A07BD-46E0-5DB1-2A61-CD4D7EFFDEB4}"/>
              </a:ext>
            </a:extLst>
          </p:cNvPr>
          <p:cNvGrpSpPr/>
          <p:nvPr/>
        </p:nvGrpSpPr>
        <p:grpSpPr>
          <a:xfrm>
            <a:off x="8733419" y="2661627"/>
            <a:ext cx="2331296" cy="338554"/>
            <a:chOff x="8747060" y="3034526"/>
            <a:chExt cx="2331296" cy="338554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51CD03D-4906-16F4-615E-88630B308CD3}"/>
                </a:ext>
              </a:extLst>
            </p:cNvPr>
            <p:cNvCxnSpPr>
              <a:cxnSpLocks/>
            </p:cNvCxnSpPr>
            <p:nvPr/>
          </p:nvCxnSpPr>
          <p:spPr>
            <a:xfrm>
              <a:off x="8747060" y="3184119"/>
              <a:ext cx="1247926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DB3BAF0-3F61-2C07-D800-D93F66DD20DB}"/>
                </a:ext>
              </a:extLst>
            </p:cNvPr>
            <p:cNvSpPr txBox="1"/>
            <p:nvPr/>
          </p:nvSpPr>
          <p:spPr>
            <a:xfrm>
              <a:off x="10010571" y="303452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要提前走</a:t>
              </a: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E85B3F-E4A2-30FF-5C04-A19B6168EE86}"/>
              </a:ext>
            </a:extLst>
          </p:cNvPr>
          <p:cNvSpPr txBox="1"/>
          <p:nvPr/>
        </p:nvSpPr>
        <p:spPr>
          <a:xfrm>
            <a:off x="4283365" y="1986568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b="1" dirty="0">
              <a:solidFill>
                <a:schemeClr val="accent1"/>
              </a:solidFill>
              <a:latin typeface="Gill Sans" panose="020B0502020104020203" charset="0"/>
              <a:ea typeface="等线" panose="02010600030101010101" charset="-122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1965BF6-3FF7-238F-EE7B-B04D3B28214A}"/>
              </a:ext>
            </a:extLst>
          </p:cNvPr>
          <p:cNvCxnSpPr>
            <a:cxnSpLocks/>
          </p:cNvCxnSpPr>
          <p:nvPr/>
        </p:nvCxnSpPr>
        <p:spPr>
          <a:xfrm flipV="1">
            <a:off x="4262282" y="1943914"/>
            <a:ext cx="687805" cy="546334"/>
          </a:xfrm>
          <a:prstGeom prst="bentConnector3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5FF34FA-C195-F6AD-1471-2C4F03A6D2C8}"/>
              </a:ext>
            </a:extLst>
          </p:cNvPr>
          <p:cNvGrpSpPr/>
          <p:nvPr/>
        </p:nvGrpSpPr>
        <p:grpSpPr>
          <a:xfrm>
            <a:off x="122506" y="3469675"/>
            <a:ext cx="3171412" cy="863335"/>
            <a:chOff x="122506" y="3469675"/>
            <a:chExt cx="3171412" cy="86333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C9BD634-307E-B21D-6C8C-3B8ABEBBC853}"/>
                </a:ext>
              </a:extLst>
            </p:cNvPr>
            <p:cNvSpPr/>
            <p:nvPr/>
          </p:nvSpPr>
          <p:spPr>
            <a:xfrm>
              <a:off x="122506" y="3469675"/>
              <a:ext cx="3171412" cy="2549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</a:rPr>
                <a:t>br1 </a:t>
              </a:r>
              <a:r>
                <a:rPr kumimoji="1" lang="zh-CN" altLang="en-US" sz="1400" b="1" dirty="0">
                  <a:solidFill>
                    <a:schemeClr val="tx1"/>
                  </a:solidFill>
                </a:rPr>
                <a:t>伪代码</a:t>
              </a:r>
              <a:endParaRPr kumimoji="1" lang="zh-CN" altLang="en-US" sz="1400" b="1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E97E723-1343-5382-4E3A-AAEF40AB1702}"/>
                </a:ext>
              </a:extLst>
            </p:cNvPr>
            <p:cNvSpPr/>
            <p:nvPr/>
          </p:nvSpPr>
          <p:spPr>
            <a:xfrm>
              <a:off x="122506" y="3742842"/>
              <a:ext cx="3171412" cy="590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if (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输入 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== a)</a:t>
              </a:r>
              <a:r>
                <a:rPr kumimoji="1" lang="zh-CN" altLang="en-US" sz="1400" dirty="0"/>
                <a:t>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选择 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a1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分支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;</a:t>
              </a:r>
            </a:p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else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选择 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b1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分支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;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EA0F66A-B6AC-AF8B-D405-A8FFC2512622}"/>
              </a:ext>
            </a:extLst>
          </p:cNvPr>
          <p:cNvCxnSpPr>
            <a:cxnSpLocks/>
          </p:cNvCxnSpPr>
          <p:nvPr/>
        </p:nvCxnSpPr>
        <p:spPr>
          <a:xfrm flipV="1">
            <a:off x="1728397" y="2808024"/>
            <a:ext cx="1990952" cy="614269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4605143-83C5-F812-5F2F-29736D312B71}"/>
              </a:ext>
            </a:extLst>
          </p:cNvPr>
          <p:cNvCxnSpPr>
            <a:cxnSpLocks/>
          </p:cNvCxnSpPr>
          <p:nvPr/>
        </p:nvCxnSpPr>
        <p:spPr>
          <a:xfrm>
            <a:off x="1660856" y="4379769"/>
            <a:ext cx="0" cy="730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54BC375-2904-4F1C-F88B-2CDB149E32AE}"/>
              </a:ext>
            </a:extLst>
          </p:cNvPr>
          <p:cNvSpPr txBox="1"/>
          <p:nvPr/>
        </p:nvSpPr>
        <p:spPr>
          <a:xfrm>
            <a:off x="240738" y="5110097"/>
            <a:ext cx="6957222" cy="107435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输入不为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a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，必错！且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30%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的错误率（假设后续输入分布相同）</a:t>
            </a:r>
            <a:endParaRPr lang="en-US" altLang="zh-CN" dirty="0">
              <a:latin typeface="Gill Sans" panose="020B0502020104020203" charset="0"/>
              <a:ea typeface="等线" panose="02010600030101010101" charset="-122"/>
            </a:endParaRP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错误投机导致资源浪费以及因重新执行导致的端到端延迟增加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…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FBD55E1-629C-1C93-DCD6-7BAFA8D32BE4}"/>
              </a:ext>
            </a:extLst>
          </p:cNvPr>
          <p:cNvSpPr txBox="1"/>
          <p:nvPr/>
        </p:nvSpPr>
        <p:spPr>
          <a:xfrm>
            <a:off x="6900846" y="5085220"/>
            <a:ext cx="4940353" cy="1124108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输入影响甚至决定分支走向，常见于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请求驱动、规则分流明显、运行时决策强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的 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工作流，例如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风控审批、内容处理、事件告警与人机协同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流程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216950F-4F40-4150-DD63-EA03CAA8B6B5}"/>
              </a:ext>
            </a:extLst>
          </p:cNvPr>
          <p:cNvSpPr/>
          <p:nvPr/>
        </p:nvSpPr>
        <p:spPr>
          <a:xfrm>
            <a:off x="4120491" y="4292947"/>
            <a:ext cx="1750373" cy="40524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5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"/>
    </mc:Choice>
    <mc:Fallback xmlns="">
      <p:transition spd="slow" advTm="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图片 128">
            <a:extLst>
              <a:ext uri="{FF2B5EF4-FFF2-40B4-BE49-F238E27FC236}">
                <a16:creationId xmlns:a16="http://schemas.microsoft.com/office/drawing/2014/main" id="{E6F1F54A-7919-8030-C10D-B2E51F533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0" y="4380896"/>
            <a:ext cx="6769964" cy="158288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6094685" cy="436606"/>
          </a:xfrm>
        </p:spPr>
        <p:txBody>
          <a:bodyPr/>
          <a:lstStyle/>
          <a:p>
            <a:r>
              <a:rPr lang="zh-CN" altLang="en-US" dirty="0"/>
              <a:t>投机执行预测器</a:t>
            </a:r>
            <a:r>
              <a:rPr lang="en-US" altLang="zh-CN" dirty="0"/>
              <a:t>-</a:t>
            </a:r>
            <a:r>
              <a:rPr lang="zh-CN" altLang="en-US" dirty="0"/>
              <a:t>现有工作不足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4EF8E3-D366-E43A-4575-3EED276622EC}"/>
              </a:ext>
            </a:extLst>
          </p:cNvPr>
          <p:cNvSpPr txBox="1"/>
          <p:nvPr/>
        </p:nvSpPr>
        <p:spPr>
          <a:xfrm>
            <a:off x="3446211" y="894219"/>
            <a:ext cx="5484775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：无法适应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分支走向的缓慢变化或突变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FBD55E1-629C-1C93-DCD6-7BAFA8D32BE4}"/>
              </a:ext>
            </a:extLst>
          </p:cNvPr>
          <p:cNvSpPr txBox="1"/>
          <p:nvPr/>
        </p:nvSpPr>
        <p:spPr>
          <a:xfrm>
            <a:off x="7190418" y="3956861"/>
            <a:ext cx="4940353" cy="1124108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分支走向的缓慢变化或突变，最常见于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输入分布和业务决策规则非平稳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的 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应用，典型包括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个性化推荐、风控审批、电商订单编排、</a:t>
            </a:r>
            <a:r>
              <a:rPr lang="en-US" altLang="zh-CN" sz="1600" b="1" dirty="0">
                <a:latin typeface="Gill Sans" panose="020B0502020104020203" charset="0"/>
                <a:ea typeface="等线" panose="02010600030101010101" charset="-122"/>
              </a:rPr>
              <a:t>IoT 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事件处理</a:t>
            </a:r>
            <a:endParaRPr lang="en-US" altLang="zh-CN" sz="1600" b="1" dirty="0">
              <a:latin typeface="Gill Sans" panose="020B0502020104020203" charset="0"/>
              <a:ea typeface="等线" panose="02010600030101010101" charset="-122"/>
            </a:endParaRP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362A5E37-F6C6-A379-30E9-6A08E0B57F7C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F78F7AA6-693C-5CF6-C8AF-DCB0EA89E478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4869DA64-8354-3407-1338-5C5FE47144A3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D596DCA6-18AB-8BE9-DB72-5CF44AA788FD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2ACF76D8-42CA-5617-E33A-2DFB0D6E874F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111" name="连接符: 肘形 110">
              <a:extLst>
                <a:ext uri="{FF2B5EF4-FFF2-40B4-BE49-F238E27FC236}">
                  <a16:creationId xmlns:a16="http://schemas.microsoft.com/office/drawing/2014/main" id="{0C1AD1E0-8211-B8B8-9AB6-681F055EB128}"/>
                </a:ext>
              </a:extLst>
            </p:cNvPr>
            <p:cNvCxnSpPr>
              <a:cxnSpLocks/>
              <a:stCxn id="113" idx="3"/>
              <a:endCxn id="107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连接符: 肘形 111">
              <a:extLst>
                <a:ext uri="{FF2B5EF4-FFF2-40B4-BE49-F238E27FC236}">
                  <a16:creationId xmlns:a16="http://schemas.microsoft.com/office/drawing/2014/main" id="{E4E56A14-F5E9-2C09-C61E-F79B8EB30DDA}"/>
                </a:ext>
              </a:extLst>
            </p:cNvPr>
            <p:cNvCxnSpPr>
              <a:cxnSpLocks/>
              <a:stCxn id="107" idx="3"/>
              <a:endCxn id="109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33EA5BFA-D2F7-398C-E2E4-955A2A1AD506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F3C5FF09-52ED-8FCF-F05F-75CC052F4129}"/>
                </a:ext>
              </a:extLst>
            </p:cNvPr>
            <p:cNvCxnSpPr>
              <a:cxnSpLocks/>
              <a:stCxn id="110" idx="3"/>
              <a:endCxn id="113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236FDDA9-392F-05C5-699D-5B64E5BAE189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FC4E7311-DB05-38E8-0CC8-293CBFC1A99C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117" name="连接符: 肘形 116">
              <a:extLst>
                <a:ext uri="{FF2B5EF4-FFF2-40B4-BE49-F238E27FC236}">
                  <a16:creationId xmlns:a16="http://schemas.microsoft.com/office/drawing/2014/main" id="{51508958-5E19-3B41-CB03-51859D700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5E7D8B09-0A49-A461-C4A0-40D52FF841BE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9F25271-6D4B-80FB-5E33-2C8CF7043A56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513375"/>
              <a:ext cx="1275806" cy="0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35D6F3D-AA0D-65CF-FE67-81251ED4E7D8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7E2A5220-24D9-A7B8-584B-D9DEB967E616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FBAC6C6B-1518-ED37-574E-06C762465BAB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855406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8C96E46-09B8-D40A-AB42-2CB66ECA3048}"/>
                </a:ext>
              </a:extLst>
            </p:cNvPr>
            <p:cNvSpPr txBox="1"/>
            <p:nvPr/>
          </p:nvSpPr>
          <p:spPr>
            <a:xfrm>
              <a:off x="9804690" y="234459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未走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D75F5ED9-D7B4-2DDF-3858-35CEBB4AFE41}"/>
                </a:ext>
              </a:extLst>
            </p:cNvPr>
            <p:cNvSpPr txBox="1"/>
            <p:nvPr/>
          </p:nvSpPr>
          <p:spPr>
            <a:xfrm>
              <a:off x="9804691" y="2689570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125" name="连接符: 肘形 124">
              <a:extLst>
                <a:ext uri="{FF2B5EF4-FFF2-40B4-BE49-F238E27FC236}">
                  <a16:creationId xmlns:a16="http://schemas.microsoft.com/office/drawing/2014/main" id="{D70847D6-03E8-DC4D-4251-A2E982EE5366}"/>
                </a:ext>
              </a:extLst>
            </p:cNvPr>
            <p:cNvCxnSpPr>
              <a:cxnSpLocks/>
              <a:stCxn id="113" idx="3"/>
              <a:endCxn id="108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连接符: 肘形 125">
              <a:extLst>
                <a:ext uri="{FF2B5EF4-FFF2-40B4-BE49-F238E27FC236}">
                  <a16:creationId xmlns:a16="http://schemas.microsoft.com/office/drawing/2014/main" id="{ED49DE0F-51EC-82FE-44DB-B129218C43AA}"/>
                </a:ext>
              </a:extLst>
            </p:cNvPr>
            <p:cNvCxnSpPr>
              <a:cxnSpLocks/>
              <a:stCxn id="108" idx="3"/>
              <a:endCxn id="109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Content Placeholder 2">
            <a:extLst>
              <a:ext uri="{FF2B5EF4-FFF2-40B4-BE49-F238E27FC236}">
                <a16:creationId xmlns:a16="http://schemas.microsoft.com/office/drawing/2014/main" id="{34F94B8A-61F5-29B3-5B19-38B799DE2D99}"/>
              </a:ext>
            </a:extLst>
          </p:cNvPr>
          <p:cNvSpPr txBox="1"/>
          <p:nvPr/>
        </p:nvSpPr>
        <p:spPr>
          <a:xfrm>
            <a:off x="4284099" y="2414174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?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773FDB74-2ACC-B07B-3C5F-A8C51FCC8DA2}"/>
              </a:ext>
            </a:extLst>
          </p:cNvPr>
          <p:cNvSpPr txBox="1"/>
          <p:nvPr/>
        </p:nvSpPr>
        <p:spPr>
          <a:xfrm>
            <a:off x="1451457" y="3443846"/>
            <a:ext cx="4881980" cy="107435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做个实验，分支分布：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p(a1) = 0.8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p(b1) = 0.2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，第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120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次时翻转，投机阈值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τ = 0.6</a:t>
            </a:r>
          </a:p>
        </p:txBody>
      </p:sp>
    </p:spTree>
    <p:extLst>
      <p:ext uri="{BB962C8B-B14F-4D97-AF65-F5344CB8AC3E}">
        <p14:creationId xmlns:p14="http://schemas.microsoft.com/office/powerpoint/2010/main" val="215367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"/>
    </mc:Choice>
    <mc:Fallback xmlns="">
      <p:transition spd="slow" advTm="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 animBg="1"/>
      <p:bldP spid="1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7A58EB-9B30-39FE-4072-09B2A75B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324FA-A749-DEDA-5EE1-E3BDCEB515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3907398" cy="436606"/>
          </a:xfrm>
        </p:spPr>
        <p:txBody>
          <a:bodyPr/>
          <a:lstStyle/>
          <a:p>
            <a:r>
              <a:rPr lang="zh-CN" altLang="en-US" dirty="0"/>
              <a:t>问题定位与研究目标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34E9D7-1F58-AE12-E016-933C08F4B218}"/>
              </a:ext>
            </a:extLst>
          </p:cNvPr>
          <p:cNvSpPr txBox="1"/>
          <p:nvPr/>
        </p:nvSpPr>
        <p:spPr>
          <a:xfrm>
            <a:off x="320399" y="1206001"/>
            <a:ext cx="9478227" cy="547015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问题背景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在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工作流中，输入影响甚至决定分支走向、以及分支分布漂移的现象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较为常见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，而现有方法中的分支预测机制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难以有效应对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这两类问题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问题定位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  <a:sym typeface="+mn-ea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面向</a:t>
            </a:r>
            <a:r>
              <a:rPr lang="zh-CN" altLang="en-US" sz="2000" b="1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输入相关分支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与</a:t>
            </a:r>
            <a:r>
              <a:rPr lang="zh-CN" altLang="en-US" sz="2000" b="1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分布动态变化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场景的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工作流投机执行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优化</a:t>
            </a:r>
            <a:endParaRPr lang="en-US" altLang="zh-CN" sz="20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研究目标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统一描述：构建通用投机执行模型与支撑框架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预测优化：提升分支预测准确性与适应性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性能收益：在不改变语义的前提下获得稳定的端到端收益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57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"/>
    </mc:Choice>
    <mc:Fallback xmlns="">
      <p:transition spd="slow" advTm="1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第二部分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方法设计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Method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337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"/>
    </mc:Choice>
    <mc:Fallback xmlns="">
      <p:transition spd="slow" advTm="2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34712" cy="436606"/>
          </a:xfrm>
        </p:spPr>
        <p:txBody>
          <a:bodyPr/>
          <a:lstStyle/>
          <a:p>
            <a:r>
              <a:rPr lang="zh-CN" altLang="en-US" dirty="0"/>
              <a:t>关键优化策略</a:t>
            </a:r>
            <a:r>
              <a:rPr lang="en-US" altLang="zh-CN" dirty="0"/>
              <a:t>-</a:t>
            </a:r>
            <a:r>
              <a:rPr lang="zh-CN" altLang="en-US" dirty="0"/>
              <a:t>总览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D5EBC2-6179-D450-BB18-926311EFB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7" b="11643"/>
          <a:stretch/>
        </p:blipFill>
        <p:spPr>
          <a:xfrm>
            <a:off x="2096366" y="1569027"/>
            <a:ext cx="8196696" cy="4560224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3DEF89-AE01-FEA2-D294-A0E77509E736}"/>
              </a:ext>
            </a:extLst>
          </p:cNvPr>
          <p:cNvSpPr txBox="1"/>
          <p:nvPr/>
        </p:nvSpPr>
        <p:spPr>
          <a:xfrm>
            <a:off x="3337105" y="912804"/>
            <a:ext cx="601990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我们希望有一个方法，能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自适应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地应对这两个不足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603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2"/>
    </mc:Choice>
    <mc:Fallback xmlns="">
      <p:transition spd="slow" advTm="106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4988053" cy="436606"/>
          </a:xfrm>
        </p:spPr>
        <p:txBody>
          <a:bodyPr/>
          <a:lstStyle/>
          <a:p>
            <a:r>
              <a:rPr lang="zh-CN" altLang="en-US" dirty="0"/>
              <a:t>关键优化策略</a:t>
            </a:r>
            <a:r>
              <a:rPr lang="en-US" altLang="zh-CN" dirty="0"/>
              <a:t>-</a:t>
            </a:r>
            <a:r>
              <a:rPr lang="zh-CN" altLang="en-US" dirty="0"/>
              <a:t>输入感知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063E21-5DA3-F255-D381-B8DED8A65819}"/>
              </a:ext>
            </a:extLst>
          </p:cNvPr>
          <p:cNvSpPr txBox="1"/>
          <p:nvPr/>
        </p:nvSpPr>
        <p:spPr>
          <a:xfrm>
            <a:off x="5585698" y="916735"/>
            <a:ext cx="515850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优化核心思想：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加入桶级统计作为细化参考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29EBA35-4B0B-C019-EE8C-DA23B76EA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871" y="5569133"/>
            <a:ext cx="3126249" cy="6874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008E292-0CB2-7FCB-B96A-BC1F25C39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16" y="5629293"/>
            <a:ext cx="2767674" cy="598945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498B84-38EF-45FD-B81F-F8173024188D}"/>
              </a:ext>
            </a:extLst>
          </p:cNvPr>
          <p:cNvCxnSpPr>
            <a:cxnSpLocks/>
          </p:cNvCxnSpPr>
          <p:nvPr/>
        </p:nvCxnSpPr>
        <p:spPr>
          <a:xfrm>
            <a:off x="2618509" y="5139350"/>
            <a:ext cx="47978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5B0CCE-BBDA-364F-2314-D527AA0E5184}"/>
              </a:ext>
            </a:extLst>
          </p:cNvPr>
          <p:cNvSpPr txBox="1"/>
          <p:nvPr/>
        </p:nvSpPr>
        <p:spPr>
          <a:xfrm>
            <a:off x="1147778" y="887272"/>
            <a:ext cx="4943908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：无法感知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输入对于分支的影响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060DEA4-FDB3-9EEF-750B-707688C1F9DC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74140C2A-FC62-B9BC-2FBA-0220C92401DF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663FFD5-DEAB-1EC3-FED7-506259D82C0C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5AA93AFD-947D-3890-721C-6A708CAC3E91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90FA237-BBA8-5CEA-7D6E-701ED0220DC0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690A4EBB-3B42-691C-D6DF-6529F7272AC2}"/>
                </a:ext>
              </a:extLst>
            </p:cNvPr>
            <p:cNvCxnSpPr>
              <a:cxnSpLocks/>
              <a:stCxn id="46" idx="3"/>
              <a:endCxn id="40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4C762823-A76C-4FB6-B61E-1EE843D25C76}"/>
                </a:ext>
              </a:extLst>
            </p:cNvPr>
            <p:cNvCxnSpPr>
              <a:cxnSpLocks/>
              <a:stCxn id="40" idx="3"/>
              <a:endCxn id="42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78676269-EC15-7FEE-A4F6-0217D39B849C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CEE0BE7-C9BA-DC1A-61EA-EAE9719EC676}"/>
                </a:ext>
              </a:extLst>
            </p:cNvPr>
            <p:cNvCxnSpPr>
              <a:cxnSpLocks/>
              <a:stCxn id="43" idx="3"/>
              <a:endCxn id="46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C4EDC9E-257B-1562-210E-DBD599A62221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6C6FD16-4435-EC68-9B02-F67A0AE0353A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519E013A-86BA-C232-7F8E-B7460DAE6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62C0AAB1-EEFC-D78C-16DA-F91901567635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B2E3B40-E204-FD9A-0260-B3972ED5A264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513375"/>
              <a:ext cx="1275806" cy="0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668E796-50A4-BE0B-C63D-759F8F8A81E7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358DA69-8730-A694-541F-192BB266E2A3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3F5A5D3-DD78-021B-7C5C-90804E4FE6E5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855406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0563806-279D-169D-FB81-A845C1A0A1DC}"/>
                </a:ext>
              </a:extLst>
            </p:cNvPr>
            <p:cNvSpPr txBox="1"/>
            <p:nvPr/>
          </p:nvSpPr>
          <p:spPr>
            <a:xfrm>
              <a:off x="9804690" y="234459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未走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E5AFAAF-937C-1B99-21EE-5113218EF499}"/>
                </a:ext>
              </a:extLst>
            </p:cNvPr>
            <p:cNvSpPr txBox="1"/>
            <p:nvPr/>
          </p:nvSpPr>
          <p:spPr>
            <a:xfrm>
              <a:off x="9804691" y="2689570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D61BC41-920A-54BB-B673-9E595EDCF10A}"/>
                </a:ext>
              </a:extLst>
            </p:cNvPr>
            <p:cNvCxnSpPr>
              <a:cxnSpLocks/>
              <a:stCxn id="46" idx="3"/>
              <a:endCxn id="41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508B9924-4754-5864-B580-F4628A592CA1}"/>
                </a:ext>
              </a:extLst>
            </p:cNvPr>
            <p:cNvCxnSpPr>
              <a:cxnSpLocks/>
              <a:stCxn id="41" idx="3"/>
              <a:endCxn id="42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3737138-CF22-E90B-61F2-5107794D9C61}"/>
              </a:ext>
            </a:extLst>
          </p:cNvPr>
          <p:cNvSpPr txBox="1"/>
          <p:nvPr/>
        </p:nvSpPr>
        <p:spPr>
          <a:xfrm>
            <a:off x="4284099" y="2414174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?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E6FBA32A-58E2-C038-17E0-762021CE9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04" y="3745957"/>
            <a:ext cx="1640357" cy="146913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751FFEC2-1352-5AE4-9713-05E124834A2D}"/>
              </a:ext>
            </a:extLst>
          </p:cNvPr>
          <p:cNvSpPr/>
          <p:nvPr/>
        </p:nvSpPr>
        <p:spPr>
          <a:xfrm>
            <a:off x="915105" y="3745956"/>
            <a:ext cx="1633319" cy="14691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C9DA109-4C93-B72A-02C9-3A39E0B1B4A1}"/>
              </a:ext>
            </a:extLst>
          </p:cNvPr>
          <p:cNvCxnSpPr>
            <a:cxnSpLocks/>
          </p:cNvCxnSpPr>
          <p:nvPr/>
        </p:nvCxnSpPr>
        <p:spPr>
          <a:xfrm flipH="1">
            <a:off x="2570073" y="2855406"/>
            <a:ext cx="1714026" cy="776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6C0EEA3-4897-13EB-D0B0-32A2E1270373}"/>
              </a:ext>
            </a:extLst>
          </p:cNvPr>
          <p:cNvCxnSpPr>
            <a:cxnSpLocks/>
          </p:cNvCxnSpPr>
          <p:nvPr/>
        </p:nvCxnSpPr>
        <p:spPr>
          <a:xfrm>
            <a:off x="3459243" y="6003291"/>
            <a:ext cx="15659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8201B2B-1DE7-9002-A3AC-E7749A2D71D6}"/>
              </a:ext>
            </a:extLst>
          </p:cNvPr>
          <p:cNvSpPr txBox="1"/>
          <p:nvPr/>
        </p:nvSpPr>
        <p:spPr>
          <a:xfrm>
            <a:off x="1435766" y="3261060"/>
            <a:ext cx="79100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输入</a:t>
            </a:r>
            <a:endParaRPr lang="en-US" altLang="zh-CN" sz="1800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CA25CFE-9314-87AD-CD09-19E4DF6AC35E}"/>
              </a:ext>
            </a:extLst>
          </p:cNvPr>
          <p:cNvSpPr txBox="1"/>
          <p:nvPr/>
        </p:nvSpPr>
        <p:spPr>
          <a:xfrm>
            <a:off x="4622471" y="5037423"/>
            <a:ext cx="124154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分桶规则</a:t>
            </a:r>
            <a:endParaRPr lang="en-US" altLang="zh-CN" sz="1800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2AD74846-8FB3-78F4-966E-11BD8E762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014075"/>
              </p:ext>
            </p:extLst>
          </p:nvPr>
        </p:nvGraphicFramePr>
        <p:xfrm>
          <a:off x="3574100" y="3471765"/>
          <a:ext cx="3252934" cy="155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467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1626467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默认：顶层字段数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1-3: 1,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4-6: 2</a:t>
                      </a:r>
                      <a:r>
                        <a:rPr lang="en-US" altLang="zh-CN" dirty="0"/>
                        <a:t>, 7+: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95994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默认：最大深度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1-2: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3-4: 2, 5+: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自定义</a:t>
                      </a:r>
                      <a:r>
                        <a:rPr lang="en-US" altLang="zh-CN" dirty="0"/>
                        <a:t>: action </a:t>
                      </a:r>
                      <a:r>
                        <a:rPr lang="zh-CN" altLang="en-US" dirty="0"/>
                        <a:t>字段</a:t>
                      </a:r>
                      <a:r>
                        <a:rPr lang="en-US" altLang="zh-CN" dirty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枚举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38350"/>
                  </a:ext>
                </a:extLst>
              </a:tr>
            </a:tbl>
          </a:graphicData>
        </a:graphic>
      </p:graphicFrame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10B0A548-5011-EA2C-7432-04C549CD4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307651"/>
              </p:ext>
            </p:extLst>
          </p:nvPr>
        </p:nvGraphicFramePr>
        <p:xfrm>
          <a:off x="7452845" y="4119789"/>
          <a:ext cx="3359022" cy="933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596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1257426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start-&gt;br1,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(2, 1, 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“submit”)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a1: 7, b1: 3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7F94E72C-832D-DA0A-1074-BB37A2B542FA}"/>
              </a:ext>
            </a:extLst>
          </p:cNvPr>
          <p:cNvSpPr/>
          <p:nvPr/>
        </p:nvSpPr>
        <p:spPr>
          <a:xfrm>
            <a:off x="7460351" y="3857625"/>
            <a:ext cx="3347850" cy="25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函数已提交历史记录表（桶级）</a:t>
            </a:r>
            <a:endParaRPr kumimoji="1" lang="zh-CN" altLang="en-US" sz="14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231543E-7136-AE1F-FF95-47701B894530}"/>
              </a:ext>
            </a:extLst>
          </p:cNvPr>
          <p:cNvSpPr txBox="1"/>
          <p:nvPr/>
        </p:nvSpPr>
        <p:spPr>
          <a:xfrm>
            <a:off x="8628833" y="5255452"/>
            <a:ext cx="3359023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如何确保桶级一定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更优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？</a:t>
            </a:r>
            <a:endParaRPr lang="en-US" altLang="zh-CN" dirty="0">
              <a:latin typeface="Gill Sans" panose="020B0502020104020203" charset="0"/>
              <a:ea typeface="等线" panose="02010600030101010101" charset="-122"/>
            </a:endParaRPr>
          </a:p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样本数太少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怎么办？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599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2"/>
    </mc:Choice>
    <mc:Fallback xmlns="">
      <p:transition spd="slow" advTm="10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73" grpId="0"/>
      <p:bldP spid="74" grpId="0"/>
      <p:bldP spid="80" grpId="0" animBg="1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682277B-CCA7-FC7B-CBDA-ECDDB4B15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73" y="2474938"/>
            <a:ext cx="5368790" cy="33116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303CD7-16A7-630A-2438-A6E98D6C0F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077" y="2478288"/>
            <a:ext cx="5402589" cy="338916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4723085" cy="436606"/>
          </a:xfrm>
        </p:spPr>
        <p:txBody>
          <a:bodyPr/>
          <a:lstStyle/>
          <a:p>
            <a:r>
              <a:rPr lang="zh-CN" altLang="en-US" dirty="0"/>
              <a:t>关键优化策略</a:t>
            </a:r>
            <a:r>
              <a:rPr lang="en-US" altLang="zh-CN" dirty="0"/>
              <a:t>-</a:t>
            </a:r>
            <a:r>
              <a:rPr lang="zh-CN" altLang="en-US" dirty="0"/>
              <a:t>输入感知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249154-C09B-C31A-F28D-3A47DA41C841}"/>
              </a:ext>
            </a:extLst>
          </p:cNvPr>
          <p:cNvSpPr txBox="1"/>
          <p:nvPr/>
        </p:nvSpPr>
        <p:spPr>
          <a:xfrm>
            <a:off x="1983952" y="1210710"/>
            <a:ext cx="864502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为避免桶级统计的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冷启动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和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数据稀疏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问题，采用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回退混合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与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自适应启用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策略：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94D96C3-3797-2918-EC79-1B6DE4C5E547}"/>
              </a:ext>
            </a:extLst>
          </p:cNvPr>
          <p:cNvSpPr txBox="1"/>
          <p:nvPr/>
        </p:nvSpPr>
        <p:spPr>
          <a:xfrm>
            <a:off x="1485096" y="3776739"/>
            <a:ext cx="5741693" cy="297510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F01A3-0152-AC5C-93BC-7AE8CCEB2036}"/>
              </a:ext>
            </a:extLst>
          </p:cNvPr>
          <p:cNvSpPr txBox="1"/>
          <p:nvPr/>
        </p:nvSpPr>
        <p:spPr>
          <a:xfrm>
            <a:off x="0" y="1909577"/>
            <a:ext cx="727342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回退混合：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一开始只相信路径级，后面逐渐相信桶级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B8258-6C48-D3A6-4806-EA403DC581C4}"/>
              </a:ext>
            </a:extLst>
          </p:cNvPr>
          <p:cNvSpPr txBox="1"/>
          <p:nvPr/>
        </p:nvSpPr>
        <p:spPr>
          <a:xfrm>
            <a:off x="4601549" y="5839748"/>
            <a:ext cx="7590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自适应启用：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只有样本数足够且桶级比路径级更可靠一定程度时，才启用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608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2"/>
    </mc:Choice>
    <mc:Fallback xmlns="">
      <p:transition spd="slow" advTm="106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34712" cy="436606"/>
          </a:xfrm>
        </p:spPr>
        <p:txBody>
          <a:bodyPr/>
          <a:lstStyle/>
          <a:p>
            <a:r>
              <a:rPr lang="zh-CN" altLang="en-US" dirty="0"/>
              <a:t>关键优化</a:t>
            </a:r>
            <a:r>
              <a:rPr lang="en-US" altLang="zh-CN" dirty="0"/>
              <a:t>-</a:t>
            </a:r>
            <a:r>
              <a:rPr lang="zh-CN" altLang="en-US" dirty="0"/>
              <a:t>分布漂移适应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063E21-5DA3-F255-D381-B8DED8A65819}"/>
              </a:ext>
            </a:extLst>
          </p:cNvPr>
          <p:cNvSpPr txBox="1"/>
          <p:nvPr/>
        </p:nvSpPr>
        <p:spPr>
          <a:xfrm>
            <a:off x="711994" y="1412203"/>
            <a:ext cx="864502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优化核心思想：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使用指数衰减统计和滑动窗口统计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F01A3-0152-AC5C-93BC-7AE8CCEB2036}"/>
              </a:ext>
            </a:extLst>
          </p:cNvPr>
          <p:cNvSpPr txBox="1"/>
          <p:nvPr/>
        </p:nvSpPr>
        <p:spPr>
          <a:xfrm>
            <a:off x="711993" y="2075722"/>
            <a:ext cx="604209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指数衰减统计：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越远权重越小，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保留长期信息，更稳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B8258-6C48-D3A6-4806-EA403DC581C4}"/>
              </a:ext>
            </a:extLst>
          </p:cNvPr>
          <p:cNvSpPr txBox="1"/>
          <p:nvPr/>
        </p:nvSpPr>
        <p:spPr>
          <a:xfrm>
            <a:off x="6051357" y="4617287"/>
            <a:ext cx="573100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双阈值滞回自适应切换：</a:t>
            </a:r>
            <a:endParaRPr lang="en-US" altLang="zh-CN" b="1" dirty="0">
              <a:latin typeface="Gill Sans" panose="020B0502020104020203" charset="0"/>
              <a:ea typeface="等线" panose="02010600030101010101" charset="-122"/>
            </a:endParaRPr>
          </a:p>
          <a:p>
            <a:pPr>
              <a:spcBef>
                <a:spcPts val="1000"/>
              </a:spcBef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样本数足够且两者衡量差异很大时，优先相信滑动窗口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B9D334-CB5E-49E1-0D47-9FCA2F37E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697" y="860696"/>
            <a:ext cx="4396634" cy="316348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0D34FCB-3289-DAE6-7CC3-73082E7DB405}"/>
              </a:ext>
            </a:extLst>
          </p:cNvPr>
          <p:cNvSpPr txBox="1"/>
          <p:nvPr/>
        </p:nvSpPr>
        <p:spPr>
          <a:xfrm>
            <a:off x="711993" y="2461882"/>
            <a:ext cx="655644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滑动窗口统计：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太远的不要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，更关注最近样本，更敏感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711351-FA45-DA13-E731-80EA20E26142}"/>
              </a:ext>
            </a:extLst>
          </p:cNvPr>
          <p:cNvSpPr txBox="1"/>
          <p:nvPr/>
        </p:nvSpPr>
        <p:spPr>
          <a:xfrm>
            <a:off x="1208546" y="860696"/>
            <a:ext cx="5484775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：无法适应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分支走向的缓慢变化或突变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FB982F4-48F9-A460-63AB-5CDE1875D7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3"/>
          <a:stretch/>
        </p:blipFill>
        <p:spPr>
          <a:xfrm>
            <a:off x="1147779" y="3036037"/>
            <a:ext cx="4658257" cy="32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5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9"/>
    </mc:Choice>
    <mc:Fallback xmlns="">
      <p:transition spd="slow" advTm="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2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87AC8D-F499-AC7E-6839-4F9E6467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2FC247-C1FA-64DD-21B3-3B1FC26AA5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关键优化</a:t>
            </a:r>
            <a:r>
              <a:rPr lang="en-US" altLang="zh-CN" dirty="0"/>
              <a:t>-</a:t>
            </a:r>
            <a:r>
              <a:rPr lang="zh-CN" altLang="en-US" dirty="0"/>
              <a:t>联合策略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425318-A8A1-519B-83C2-B109BBEE8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3"/>
          <a:stretch/>
        </p:blipFill>
        <p:spPr>
          <a:xfrm>
            <a:off x="974789" y="1023503"/>
            <a:ext cx="10429234" cy="5142199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2D1FD44-4BF4-EDB3-59CF-20592342A907}"/>
              </a:ext>
            </a:extLst>
          </p:cNvPr>
          <p:cNvSpPr/>
          <p:nvPr/>
        </p:nvSpPr>
        <p:spPr>
          <a:xfrm>
            <a:off x="1537855" y="3387436"/>
            <a:ext cx="3709553" cy="75603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FC3566F-93DF-0128-9A8C-57045D4284C5}"/>
              </a:ext>
            </a:extLst>
          </p:cNvPr>
          <p:cNvCxnSpPr/>
          <p:nvPr/>
        </p:nvCxnSpPr>
        <p:spPr>
          <a:xfrm>
            <a:off x="2358736" y="5179868"/>
            <a:ext cx="2717223" cy="0"/>
          </a:xfrm>
          <a:prstGeom prst="lin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9443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第三部分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dirty="0"/>
              <a:t>系统实现与实验验证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Evaluation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913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7A58EB-9B30-39FE-4072-09B2A75B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324FA-A749-DEDA-5EE1-E3BDCEB515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3907398" cy="436606"/>
          </a:xfrm>
        </p:spPr>
        <p:txBody>
          <a:bodyPr/>
          <a:lstStyle/>
          <a:p>
            <a:r>
              <a:rPr lang="zh-CN" altLang="en-US" dirty="0"/>
              <a:t>系统实现</a:t>
            </a:r>
            <a:r>
              <a:rPr lang="en-US" altLang="zh-CN" dirty="0"/>
              <a:t>-</a:t>
            </a:r>
            <a:r>
              <a:rPr lang="zh-CN" altLang="en-US" dirty="0"/>
              <a:t>总体思路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59D4965-C0C9-4520-8CC1-5DC6B7515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13" y="1757193"/>
            <a:ext cx="7476259" cy="34576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785A5B5E-5FB7-2640-F58F-11B33DEE1264}"/>
              </a:ext>
            </a:extLst>
          </p:cNvPr>
          <p:cNvSpPr txBox="1"/>
          <p:nvPr/>
        </p:nvSpPr>
        <p:spPr>
          <a:xfrm>
            <a:off x="7232686" y="5030127"/>
            <a:ext cx="268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方案总示意图</a:t>
            </a:r>
            <a:endParaRPr lang="zh-CN" alt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E699F25-E528-4B4A-1411-DFBB7D4B0871}"/>
              </a:ext>
            </a:extLst>
          </p:cNvPr>
          <p:cNvSpPr txBox="1"/>
          <p:nvPr/>
        </p:nvSpPr>
        <p:spPr>
          <a:xfrm>
            <a:off x="191428" y="1959815"/>
            <a:ext cx="4094823" cy="396819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三类角色：用户、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平台、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系统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运行机制：预测（已优化）、门控、缓冲、验证恢复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方案目标：在保持语义一致（正确）前提下减少端到端延迟，并对用户透明，使用户无需了解内部机制即可获得收益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04F578-79DC-12F6-121C-7928FC93365B}"/>
              </a:ext>
            </a:extLst>
          </p:cNvPr>
          <p:cNvSpPr txBox="1"/>
          <p:nvPr/>
        </p:nvSpPr>
        <p:spPr>
          <a:xfrm>
            <a:off x="4184253" y="978310"/>
            <a:ext cx="296988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设计并实现了 </a:t>
            </a:r>
            <a:r>
              <a:rPr lang="en-US" altLang="zh-CN" sz="18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方案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71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"/>
    </mc:Choice>
    <mc:Fallback xmlns="">
      <p:transition spd="slow" advTm="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B3CA68-74B6-9D27-D753-420AAF6FB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t="9348" r="337" b="4136"/>
          <a:stretch/>
        </p:blipFill>
        <p:spPr>
          <a:xfrm>
            <a:off x="972578" y="1089560"/>
            <a:ext cx="10333748" cy="467887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5705026" cy="436606"/>
          </a:xfrm>
        </p:spPr>
        <p:txBody>
          <a:bodyPr/>
          <a:lstStyle/>
          <a:p>
            <a:r>
              <a:rPr lang="zh-CN" altLang="en-US" dirty="0"/>
              <a:t>系统实现</a:t>
            </a:r>
            <a:r>
              <a:rPr lang="en-US" altLang="zh-CN" dirty="0"/>
              <a:t>-</a:t>
            </a:r>
            <a:r>
              <a:rPr lang="zh-CN" altLang="en-US" dirty="0"/>
              <a:t>总体架构与工作流定义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C0A6C9-F165-8BA6-46D5-56792B4F8298}"/>
              </a:ext>
            </a:extLst>
          </p:cNvPr>
          <p:cNvSpPr txBox="1"/>
          <p:nvPr/>
        </p:nvSpPr>
        <p:spPr>
          <a:xfrm>
            <a:off x="4999072" y="5848461"/>
            <a:ext cx="228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原型系统总体架构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9863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9A99ED-43DC-F9BE-ADB1-8D9A74AD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6E187-82FC-8F63-F6AB-A7DCA696E3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5502403" cy="436606"/>
          </a:xfrm>
        </p:spPr>
        <p:txBody>
          <a:bodyPr/>
          <a:lstStyle/>
          <a:p>
            <a:r>
              <a:rPr lang="zh-CN" altLang="en-US" dirty="0"/>
              <a:t>系统实现</a:t>
            </a:r>
            <a:r>
              <a:rPr lang="en-US" altLang="zh-CN" dirty="0"/>
              <a:t>-</a:t>
            </a:r>
            <a:r>
              <a:rPr lang="zh-CN" altLang="en-US" dirty="0"/>
              <a:t>命令行工具和可视化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4363CD-6DDA-4F69-ACAF-8F8D552E8FE3}"/>
              </a:ext>
            </a:extLst>
          </p:cNvPr>
          <p:cNvSpPr txBox="1"/>
          <p:nvPr/>
        </p:nvSpPr>
        <p:spPr>
          <a:xfrm>
            <a:off x="2045917" y="5140830"/>
            <a:ext cx="2253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Gill Sans" panose="020B0502020104020203" charset="0"/>
                <a:ea typeface="等线" panose="02010600030101010101" charset="-122"/>
              </a:rPr>
              <a:t>specx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命令行工具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A2D5547-7635-3194-6A43-DCE28E8BE879}"/>
              </a:ext>
            </a:extLst>
          </p:cNvPr>
          <p:cNvGrpSpPr/>
          <p:nvPr/>
        </p:nvGrpSpPr>
        <p:grpSpPr>
          <a:xfrm>
            <a:off x="207507" y="3080980"/>
            <a:ext cx="5613134" cy="1979468"/>
            <a:chOff x="482866" y="2789959"/>
            <a:chExt cx="5263307" cy="182259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C9C8893-937F-23BA-F575-ED383A247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866" y="2810238"/>
              <a:ext cx="5263307" cy="178204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D63930-7CB5-60B7-A6FE-7755EE4F9293}"/>
                </a:ext>
              </a:extLst>
            </p:cNvPr>
            <p:cNvSpPr/>
            <p:nvPr/>
          </p:nvSpPr>
          <p:spPr>
            <a:xfrm>
              <a:off x="482866" y="2789959"/>
              <a:ext cx="5263307" cy="182259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4B54B-5DFD-8D74-F201-B8FFB73AD76A}"/>
              </a:ext>
            </a:extLst>
          </p:cNvPr>
          <p:cNvSpPr txBox="1"/>
          <p:nvPr/>
        </p:nvSpPr>
        <p:spPr>
          <a:xfrm>
            <a:off x="2123848" y="1474364"/>
            <a:ext cx="10528598" cy="91762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B8CFFB1-DB4A-5D3A-D0AD-59024973E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841" y="2983882"/>
            <a:ext cx="6181405" cy="20765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E337E14-81C4-57D6-8DBD-4A3ED2BAA783}"/>
              </a:ext>
            </a:extLst>
          </p:cNvPr>
          <p:cNvSpPr txBox="1"/>
          <p:nvPr/>
        </p:nvSpPr>
        <p:spPr>
          <a:xfrm>
            <a:off x="7954085" y="5110802"/>
            <a:ext cx="3164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单次工作流运行可视化</a:t>
            </a:r>
            <a:endParaRPr lang="zh-CN" alt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E513F07-F4D1-7D16-FBE6-6136BC1DF55A}"/>
              </a:ext>
            </a:extLst>
          </p:cNvPr>
          <p:cNvSpPr txBox="1"/>
          <p:nvPr/>
        </p:nvSpPr>
        <p:spPr>
          <a:xfrm>
            <a:off x="1093634" y="1119554"/>
            <a:ext cx="10528598" cy="1627243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实现语言为</a:t>
            </a:r>
            <a:r>
              <a:rPr lang="en-US" altLang="zh-CN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Python 3.12</a:t>
            </a: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；双执行后端</a:t>
            </a: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核心原型系统代码量约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lang="en-US" altLang="zh-CN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k </a:t>
            </a: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行；若将实验、自动化测试与可视化脚本一并统计，整体规模约为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9</a:t>
            </a:r>
            <a:r>
              <a:rPr lang="en-US" altLang="zh-CN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k </a:t>
            </a: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行</a:t>
            </a:r>
            <a:endParaRPr lang="en-US" altLang="zh-CN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Gill Sans" panose="020B0502020104020203"/>
                <a:ea typeface="等线" panose="02010600030101010101" pitchFamily="2" charset="-122"/>
                <a:cs typeface="等线" panose="02010600030101010101" pitchFamily="2" charset="-122"/>
              </a:rPr>
              <a:t>提供了命令行工具</a:t>
            </a:r>
            <a:r>
              <a:rPr lang="en-US" altLang="zh-CN" sz="1800" kern="1200" dirty="0" err="1">
                <a:solidFill>
                  <a:srgbClr val="000000"/>
                </a:solidFill>
                <a:effectLst/>
                <a:latin typeface="Gill Sans" panose="020B0502020104020203"/>
                <a:ea typeface="等线" panose="02010600030101010101" pitchFamily="2" charset="-122"/>
                <a:cs typeface="等线" panose="02010600030101010101" pitchFamily="2" charset="-122"/>
              </a:rPr>
              <a:t>specx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Gill Sans" panose="020B0502020104020203"/>
                <a:ea typeface="等线" panose="02010600030101010101" pitchFamily="2" charset="-122"/>
                <a:cs typeface="等线" panose="02010600030101010101" pitchFamily="2" charset="-122"/>
              </a:rPr>
              <a:t>，方便用户进行工作流部署、运行、运行可视化和模型查看</a:t>
            </a:r>
            <a:endParaRPr lang="zh-CN" altLang="en-US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6B78E5-3376-C121-6301-EF6C99A1A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4362" y="2091282"/>
            <a:ext cx="7081889" cy="24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22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2EC831-C06B-7F9F-0ACC-96A71580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499FAA-21CD-0ABD-3819-D8E62BBCB0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3964548" cy="436606"/>
          </a:xfrm>
        </p:spPr>
        <p:txBody>
          <a:bodyPr/>
          <a:lstStyle/>
          <a:p>
            <a:r>
              <a:rPr lang="zh-CN" altLang="en-US" dirty="0"/>
              <a:t>实验设计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C62306-092D-F978-098B-F963997759CE}"/>
              </a:ext>
            </a:extLst>
          </p:cNvPr>
          <p:cNvSpPr txBox="1"/>
          <p:nvPr/>
        </p:nvSpPr>
        <p:spPr>
          <a:xfrm>
            <a:off x="485417" y="1871895"/>
            <a:ext cx="9409684" cy="4622423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2" indent="-342900" fontAlgn="auto">
              <a:lnSpc>
                <a:spcPct val="20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26C3FAF-F9BC-A795-2D3C-9185C3774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" t="18517" r="4872" b="2410"/>
          <a:stretch/>
        </p:blipFill>
        <p:spPr>
          <a:xfrm>
            <a:off x="879763" y="1044285"/>
            <a:ext cx="10432473" cy="51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94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功能实验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CCB538A-0E64-1CB1-BA54-4DC2E564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534" y="1784523"/>
            <a:ext cx="4915869" cy="359729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4D03CD-73B9-C1E1-0F68-5ADB1F728A45}"/>
              </a:ext>
            </a:extLst>
          </p:cNvPr>
          <p:cNvSpPr txBox="1"/>
          <p:nvPr/>
        </p:nvSpPr>
        <p:spPr>
          <a:xfrm>
            <a:off x="7324100" y="5331727"/>
            <a:ext cx="268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功能验证测试工作流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99FDCD2-0009-B24F-3230-7AE1C5927AD9}"/>
              </a:ext>
            </a:extLst>
          </p:cNvPr>
          <p:cNvGrpSpPr/>
          <p:nvPr/>
        </p:nvGrpSpPr>
        <p:grpSpPr>
          <a:xfrm>
            <a:off x="255902" y="1576440"/>
            <a:ext cx="5678632" cy="2277471"/>
            <a:chOff x="566305" y="1586830"/>
            <a:chExt cx="5678632" cy="227747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FAEE021-5693-970A-1A7D-9D8B10847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9" t="38478" r="51120" b="30235"/>
            <a:stretch/>
          </p:blipFill>
          <p:spPr>
            <a:xfrm>
              <a:off x="566305" y="1718578"/>
              <a:ext cx="5678632" cy="2145723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943CADF-62B8-C8F0-9142-AAFF83820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6305" y="1586830"/>
              <a:ext cx="899467" cy="338140"/>
            </a:xfrm>
            <a:prstGeom prst="rect">
              <a:avLst/>
            </a:prstGeom>
          </p:spPr>
        </p:pic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6827E741-CBFC-1BB6-BAF9-62B8C23AB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" t="70727" r="50313" b="1017"/>
          <a:stretch/>
        </p:blipFill>
        <p:spPr>
          <a:xfrm>
            <a:off x="650972" y="4232590"/>
            <a:ext cx="4688686" cy="1534105"/>
          </a:xfrm>
          <a:prstGeom prst="rect">
            <a:avLst/>
          </a:prstGeom>
        </p:spPr>
      </p:pic>
      <p:sp>
        <p:nvSpPr>
          <p:cNvPr id="17" name="右大括号 16">
            <a:extLst>
              <a:ext uri="{FF2B5EF4-FFF2-40B4-BE49-F238E27FC236}">
                <a16:creationId xmlns:a16="http://schemas.microsoft.com/office/drawing/2014/main" id="{E7747ECF-60F6-35D3-4162-904A57180DBD}"/>
              </a:ext>
            </a:extLst>
          </p:cNvPr>
          <p:cNvSpPr/>
          <p:nvPr/>
        </p:nvSpPr>
        <p:spPr>
          <a:xfrm>
            <a:off x="10293578" y="2221064"/>
            <a:ext cx="269124" cy="56110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69D993-1013-53A6-5F27-580DF289167F}"/>
              </a:ext>
            </a:extLst>
          </p:cNvPr>
          <p:cNvSpPr txBox="1"/>
          <p:nvPr/>
        </p:nvSpPr>
        <p:spPr>
          <a:xfrm>
            <a:off x="10512375" y="2347729"/>
            <a:ext cx="924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基础执行</a:t>
            </a:r>
            <a:endParaRPr lang="zh-CN" altLang="en-US" sz="1400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5BED78E9-92A7-4932-EF78-97E8A88138F3}"/>
              </a:ext>
            </a:extLst>
          </p:cNvPr>
          <p:cNvSpPr/>
          <p:nvPr/>
        </p:nvSpPr>
        <p:spPr>
          <a:xfrm>
            <a:off x="10293578" y="2954316"/>
            <a:ext cx="269124" cy="56110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337F95-0044-B529-B9C0-A08624AE2D99}"/>
              </a:ext>
            </a:extLst>
          </p:cNvPr>
          <p:cNvSpPr txBox="1"/>
          <p:nvPr/>
        </p:nvSpPr>
        <p:spPr>
          <a:xfrm>
            <a:off x="10512374" y="3064823"/>
            <a:ext cx="924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分支门控</a:t>
            </a:r>
            <a:endParaRPr lang="zh-CN" altLang="en-US" sz="1400" dirty="0"/>
          </a:p>
        </p:txBody>
      </p:sp>
      <p:sp>
        <p:nvSpPr>
          <p:cNvPr id="21" name="右大括号 20">
            <a:extLst>
              <a:ext uri="{FF2B5EF4-FFF2-40B4-BE49-F238E27FC236}">
                <a16:creationId xmlns:a16="http://schemas.microsoft.com/office/drawing/2014/main" id="{97073130-BACB-8086-106C-DCAC7A3EEF33}"/>
              </a:ext>
            </a:extLst>
          </p:cNvPr>
          <p:cNvSpPr/>
          <p:nvPr/>
        </p:nvSpPr>
        <p:spPr>
          <a:xfrm>
            <a:off x="10293578" y="3678373"/>
            <a:ext cx="269124" cy="17553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C4D365-AC05-8452-26F5-4FA78BB18504}"/>
              </a:ext>
            </a:extLst>
          </p:cNvPr>
          <p:cNvSpPr txBox="1"/>
          <p:nvPr/>
        </p:nvSpPr>
        <p:spPr>
          <a:xfrm>
            <a:off x="10513666" y="3612253"/>
            <a:ext cx="924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特定注解</a:t>
            </a:r>
            <a:endParaRPr lang="zh-CN" altLang="en-US" sz="1400" dirty="0"/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B9FFCF78-3F16-86CC-4826-A3D59D8AD265}"/>
              </a:ext>
            </a:extLst>
          </p:cNvPr>
          <p:cNvSpPr/>
          <p:nvPr/>
        </p:nvSpPr>
        <p:spPr>
          <a:xfrm>
            <a:off x="10705351" y="4050028"/>
            <a:ext cx="269124" cy="36512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5BAECC-4557-1088-C230-28F16C64E720}"/>
              </a:ext>
            </a:extLst>
          </p:cNvPr>
          <p:cNvSpPr txBox="1"/>
          <p:nvPr/>
        </p:nvSpPr>
        <p:spPr>
          <a:xfrm>
            <a:off x="10927907" y="4072045"/>
            <a:ext cx="1354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依赖与副作用</a:t>
            </a:r>
            <a:endParaRPr lang="zh-CN" altLang="en-US" sz="1400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A0B21BE-CEC5-B93A-966F-CC6567D140EF}"/>
              </a:ext>
            </a:extLst>
          </p:cNvPr>
          <p:cNvSpPr/>
          <p:nvPr/>
        </p:nvSpPr>
        <p:spPr>
          <a:xfrm>
            <a:off x="10293578" y="4587163"/>
            <a:ext cx="269124" cy="54291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CB9127-C965-4671-D5C2-0ED81B75FDAC}"/>
              </a:ext>
            </a:extLst>
          </p:cNvPr>
          <p:cNvSpPr txBox="1"/>
          <p:nvPr/>
        </p:nvSpPr>
        <p:spPr>
          <a:xfrm>
            <a:off x="10512374" y="4682425"/>
            <a:ext cx="1354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回滚与状态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07F983-DF2E-16FB-D986-E7DC9F82CF4B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系统功能是否完备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06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836EFCAA-5B6A-8472-EA06-8CBA3BA705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8"/>
          <a:stretch/>
        </p:blipFill>
        <p:spPr>
          <a:xfrm>
            <a:off x="6096000" y="2106818"/>
            <a:ext cx="5823884" cy="278872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719593-9D70-5539-01B1-38197978438F}"/>
              </a:ext>
            </a:extLst>
          </p:cNvPr>
          <p:cNvSpPr txBox="1"/>
          <p:nvPr/>
        </p:nvSpPr>
        <p:spPr>
          <a:xfrm>
            <a:off x="295250" y="1478014"/>
            <a:ext cx="8791600" cy="480514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实验设置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构建了代表性的工作流进行实验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通过调节参数改变输入负载和漂移点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A93B43-1874-439B-BE1B-5C6074A27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27" y="2534155"/>
            <a:ext cx="3912073" cy="141008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算法实验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82946-7B1C-45CF-E997-4E4EF6951574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核心机制是否有效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D93A38-CAAD-D531-0D74-94A0B1CCB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28" y="4660056"/>
            <a:ext cx="8120122" cy="14049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8C31FD-E39C-0A17-5BA2-1F36ACAE1A0F}"/>
              </a:ext>
            </a:extLst>
          </p:cNvPr>
          <p:cNvSpPr txBox="1"/>
          <p:nvPr/>
        </p:nvSpPr>
        <p:spPr>
          <a:xfrm>
            <a:off x="6505550" y="1541671"/>
            <a:ext cx="2133403" cy="63268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核心结果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3A35BC2-CFC7-7287-1B1C-847906EA9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8633" y="4058910"/>
            <a:ext cx="1798216" cy="23141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F83133D-3B3E-AA9C-A6CB-AEE1004A16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856" y="3501182"/>
            <a:ext cx="1879994" cy="18799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BCB4552-5430-A825-4437-7505101DF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745" y="2871485"/>
            <a:ext cx="1798216" cy="23141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9F1A39C-B3D8-42DD-03E7-7F387BC74E3C}"/>
              </a:ext>
            </a:extLst>
          </p:cNvPr>
          <p:cNvSpPr txBox="1"/>
          <p:nvPr/>
        </p:nvSpPr>
        <p:spPr>
          <a:xfrm>
            <a:off x="7543996" y="2720367"/>
            <a:ext cx="2739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N=240,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=0.65,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endParaRPr lang="en-US" altLang="zh-CN" sz="1400" dirty="0">
              <a:latin typeface="Gill Sans" panose="020B0502020104020203" charset="0"/>
              <a:ea typeface="等线" panose="02010600030101010101" charset="-122"/>
            </a:endParaRPr>
          </a:p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=1,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无漂移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5E46CD-D366-57D0-45E6-584ED939F1E5}"/>
              </a:ext>
            </a:extLst>
          </p:cNvPr>
          <p:cNvSpPr txBox="1"/>
          <p:nvPr/>
        </p:nvSpPr>
        <p:spPr>
          <a:xfrm>
            <a:off x="7543996" y="3317060"/>
            <a:ext cx="21334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N=240,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=0.90,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endParaRPr lang="en-US" altLang="zh-CN" sz="1400" dirty="0">
              <a:latin typeface="Gill Sans" panose="020B0502020104020203" charset="0"/>
              <a:ea typeface="等线" panose="02010600030101010101" charset="-122"/>
            </a:endParaRPr>
          </a:p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=1,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t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d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=120</a:t>
            </a:r>
            <a:endParaRPr lang="zh-CN" altLang="en-US" sz="1400" baseline="-25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26F62E-18AA-FAD7-38E4-D23F860C6294}"/>
              </a:ext>
            </a:extLst>
          </p:cNvPr>
          <p:cNvSpPr txBox="1"/>
          <p:nvPr/>
        </p:nvSpPr>
        <p:spPr>
          <a:xfrm>
            <a:off x="7492095" y="3909532"/>
            <a:ext cx="1309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N=480,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=0.65,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endParaRPr lang="en-US" altLang="zh-CN" sz="1400" dirty="0">
              <a:latin typeface="Gill Sans" panose="020B0502020104020203" charset="0"/>
              <a:ea typeface="等线" panose="02010600030101010101" charset="-122"/>
            </a:endParaRPr>
          </a:p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=0.92,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t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d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=240</a:t>
            </a:r>
            <a:endParaRPr lang="zh-CN" altLang="en-US" sz="14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298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3BF773-B9F8-AF31-D2C1-906E78A2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242B41-419A-1185-AF40-2FB9FFE390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算法实验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6BBA64-B1C2-29CA-639D-CC695758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" y="1011887"/>
            <a:ext cx="3912073" cy="14100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4C4280-0BB4-DEBB-B4E6-2DC0699A0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673" y="933955"/>
            <a:ext cx="8120122" cy="14049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CE0B02-1BD8-0A45-6C87-9B96950898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18" y="2643274"/>
            <a:ext cx="5773881" cy="31756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C04FA8C-14E5-6A22-A039-2ADBBA7DDF43}"/>
              </a:ext>
            </a:extLst>
          </p:cNvPr>
          <p:cNvSpPr txBox="1"/>
          <p:nvPr/>
        </p:nvSpPr>
        <p:spPr>
          <a:xfrm>
            <a:off x="954664" y="5753948"/>
            <a:ext cx="4947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输入分布越均衡，输入感知策略优化效果越好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F7F12C-DB5A-B5F1-1E12-E0E4BF84227C}"/>
              </a:ext>
            </a:extLst>
          </p:cNvPr>
          <p:cNvSpPr txBox="1"/>
          <p:nvPr/>
        </p:nvSpPr>
        <p:spPr>
          <a:xfrm>
            <a:off x="6673282" y="5739379"/>
            <a:ext cx="5187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分布突变强度越强，分布漂移适应优化效果越好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371DA90-2CDF-1D09-37CE-44B06B486E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95" y="2469162"/>
            <a:ext cx="5721887" cy="328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19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2EB60D-BBA1-B806-EFD8-A7EFB9E4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8CD5C-0E29-F0B6-052B-FAC0454FA5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消融实验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3971B2-D83B-8012-20F0-8C97F22F240E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关键设计是否必要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94B98AD-EA8D-BF79-EDB9-127AAFB9E7E9}"/>
              </a:ext>
            </a:extLst>
          </p:cNvPr>
          <p:cNvSpPr txBox="1"/>
          <p:nvPr/>
        </p:nvSpPr>
        <p:spPr>
          <a:xfrm>
            <a:off x="1007501" y="5496790"/>
            <a:ext cx="10562584" cy="671927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部分场景具有较小劣势，但跨场景具有最稳健的表现，体现了系统设计的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整体通用性</a:t>
            </a:r>
            <a:endParaRPr lang="en-US" altLang="zh-CN" sz="2000" b="1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7CA11B-4F67-6D5A-0813-338314AEF325}"/>
              </a:ext>
            </a:extLst>
          </p:cNvPr>
          <p:cNvSpPr txBox="1"/>
          <p:nvPr/>
        </p:nvSpPr>
        <p:spPr>
          <a:xfrm>
            <a:off x="295249" y="1478013"/>
            <a:ext cx="4380659" cy="4018777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实验设置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沿用算法实验的设置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稀疏噪声：每次请求加入高基数随机噪声（均匀采样于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[0, 65535]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），降低每个输入桶的样本密度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强漂移：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p2=0.90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     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弱漂移：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p2=0.70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B694AD-E063-A670-D840-340C62787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9"/>
          <a:stretch/>
        </p:blipFill>
        <p:spPr>
          <a:xfrm>
            <a:off x="4818584" y="1478014"/>
            <a:ext cx="7078166" cy="35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655544" cy="436606"/>
          </a:xfrm>
        </p:spPr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性能实验设置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82946-7B1C-45CF-E997-4E4EF6951574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实际性能是否优越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E5649A-BD5D-95DE-AEBA-EB5D9F182685}"/>
              </a:ext>
            </a:extLst>
          </p:cNvPr>
          <p:cNvSpPr txBox="1"/>
          <p:nvPr/>
        </p:nvSpPr>
        <p:spPr>
          <a:xfrm>
            <a:off x="95179" y="1333509"/>
            <a:ext cx="6189268" cy="480514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F42AF2-172C-A088-E0BA-C4A277937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77" y="1666670"/>
            <a:ext cx="6826195" cy="447198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505267-FB4E-A512-AB06-8C4535444EC4}"/>
              </a:ext>
            </a:extLst>
          </p:cNvPr>
          <p:cNvSpPr txBox="1"/>
          <p:nvPr/>
        </p:nvSpPr>
        <p:spPr>
          <a:xfrm>
            <a:off x="2947366" y="1429625"/>
            <a:ext cx="152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三类工作流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D3A02C-7142-77B2-38F9-1CAB4B92C2DE}"/>
              </a:ext>
            </a:extLst>
          </p:cNvPr>
          <p:cNvSpPr txBox="1"/>
          <p:nvPr/>
        </p:nvSpPr>
        <p:spPr>
          <a:xfrm>
            <a:off x="8886336" y="1000159"/>
            <a:ext cx="152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三类并发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3032F7C-07C6-B4B7-8566-A7D6730AA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232" y="1365093"/>
            <a:ext cx="3247267" cy="83303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AE88F6B-BF85-EC42-046C-76A785D92BE0}"/>
              </a:ext>
            </a:extLst>
          </p:cNvPr>
          <p:cNvSpPr txBox="1"/>
          <p:nvPr/>
        </p:nvSpPr>
        <p:spPr>
          <a:xfrm>
            <a:off x="8886336" y="2599073"/>
            <a:ext cx="1156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两类场景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693C0D-BBE3-D3D3-8339-67E9802A3B57}"/>
              </a:ext>
            </a:extLst>
          </p:cNvPr>
          <p:cNvSpPr txBox="1"/>
          <p:nvPr/>
        </p:nvSpPr>
        <p:spPr>
          <a:xfrm>
            <a:off x="7308706" y="2914675"/>
            <a:ext cx="3986212" cy="88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s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table: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分布不变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drift: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分布中点突变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2406B5-BF4D-FE78-F21F-DC0903E3B31B}"/>
              </a:ext>
            </a:extLst>
          </p:cNvPr>
          <p:cNvSpPr txBox="1"/>
          <p:nvPr/>
        </p:nvSpPr>
        <p:spPr>
          <a:xfrm>
            <a:off x="1036374" y="2608984"/>
            <a:ext cx="2131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强输入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分支相关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015A54-F8A5-F1F1-2C2B-8DA3AD5F7588}"/>
              </a:ext>
            </a:extLst>
          </p:cNvPr>
          <p:cNvSpPr txBox="1"/>
          <p:nvPr/>
        </p:nvSpPr>
        <p:spPr>
          <a:xfrm>
            <a:off x="1036374" y="5863505"/>
            <a:ext cx="2131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强输入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分支相关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8B8AE6-7EDF-6AAB-E0B8-D993DCEC94C4}"/>
              </a:ext>
            </a:extLst>
          </p:cNvPr>
          <p:cNvSpPr txBox="1"/>
          <p:nvPr/>
        </p:nvSpPr>
        <p:spPr>
          <a:xfrm>
            <a:off x="816252" y="4202229"/>
            <a:ext cx="2131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中等输入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分支相关</a:t>
            </a:r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5DFA5AD-D973-3817-1C3D-79F0FCEF7458}"/>
              </a:ext>
            </a:extLst>
          </p:cNvPr>
          <p:cNvCxnSpPr/>
          <p:nvPr/>
        </p:nvCxnSpPr>
        <p:spPr>
          <a:xfrm>
            <a:off x="7216486" y="2461501"/>
            <a:ext cx="4504459" cy="0"/>
          </a:xfrm>
          <a:prstGeom prst="line">
            <a:avLst/>
          </a:prstGeom>
          <a:ln w="19050"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C7FDBFD-55ED-3164-A470-E5499F1C16B5}"/>
              </a:ext>
            </a:extLst>
          </p:cNvPr>
          <p:cNvCxnSpPr/>
          <p:nvPr/>
        </p:nvCxnSpPr>
        <p:spPr>
          <a:xfrm>
            <a:off x="7216486" y="3997823"/>
            <a:ext cx="4504459" cy="0"/>
          </a:xfrm>
          <a:prstGeom prst="line">
            <a:avLst/>
          </a:prstGeom>
          <a:ln w="19050"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E30971E1-26B5-6624-0829-C1FCB94424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" t="20578" r="4141" b="65186"/>
          <a:stretch/>
        </p:blipFill>
        <p:spPr>
          <a:xfrm>
            <a:off x="7216486" y="4409592"/>
            <a:ext cx="4374666" cy="50175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6C7B747F-61C7-F682-DF2F-6CE22DC230A1}"/>
              </a:ext>
            </a:extLst>
          </p:cNvPr>
          <p:cNvSpPr txBox="1"/>
          <p:nvPr/>
        </p:nvSpPr>
        <p:spPr>
          <a:xfrm>
            <a:off x="8636953" y="4061040"/>
            <a:ext cx="1655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输入分布设计</a:t>
            </a:r>
            <a:endParaRPr lang="zh-CN" altLang="en-US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839D926-EC90-D67C-36D8-E392B7F2E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99" y="4918046"/>
            <a:ext cx="4160551" cy="123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52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55494" cy="436606"/>
          </a:xfrm>
        </p:spPr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性能实验结果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82946-7B1C-45CF-E997-4E4EF6951574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实际性能是否优越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E7A78F-EC83-23CC-B0F1-A3759CBE7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00" y="3112483"/>
            <a:ext cx="8567800" cy="250033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7E8C96A-E0FA-23DC-019B-000240F9FB91}"/>
              </a:ext>
            </a:extLst>
          </p:cNvPr>
          <p:cNvSpPr txBox="1"/>
          <p:nvPr/>
        </p:nvSpPr>
        <p:spPr>
          <a:xfrm>
            <a:off x="848529" y="1429467"/>
            <a:ext cx="10955544" cy="152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结论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平均加速比提高了 </a:t>
            </a: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22.73%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P95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尾延迟下降了 </a:t>
            </a: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10.3%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，误预测率平均降低了 </a:t>
            </a: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5.78 </a:t>
            </a:r>
            <a:r>
              <a:rPr lang="zh-CN" altLang="en-US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个百分点</a:t>
            </a:r>
            <a:endParaRPr lang="en-US" altLang="zh-CN" sz="2000" dirty="0">
              <a:solidFill>
                <a:srgbClr val="C00000"/>
              </a:solidFill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并发越高、漂移程度越高、输入相关性越强，优化效果越明显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A6C98-5831-0DCC-4B79-636D2E083560}"/>
              </a:ext>
            </a:extLst>
          </p:cNvPr>
          <p:cNvSpPr txBox="1"/>
          <p:nvPr/>
        </p:nvSpPr>
        <p:spPr>
          <a:xfrm>
            <a:off x="3689112" y="5588568"/>
            <a:ext cx="527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不投机、基础投机和 </a:t>
            </a:r>
            <a:r>
              <a:rPr lang="en-US" altLang="zh-CN" sz="18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端到端平均时延对比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92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第四部分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Conclusion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71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34712" cy="436606"/>
          </a:xfrm>
        </p:spPr>
        <p:txBody>
          <a:bodyPr/>
          <a:lstStyle/>
          <a:p>
            <a:r>
              <a:rPr lang="zh-CN" altLang="en-US"/>
              <a:t>结论与展望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76C648E-59D5-B09E-7363-CA0D05D73F0D}"/>
              </a:ext>
            </a:extLst>
          </p:cNvPr>
          <p:cNvGrpSpPr/>
          <p:nvPr/>
        </p:nvGrpSpPr>
        <p:grpSpPr>
          <a:xfrm>
            <a:off x="854220" y="1261656"/>
            <a:ext cx="10937287" cy="4885884"/>
            <a:chOff x="854220" y="1261656"/>
            <a:chExt cx="10937287" cy="4885884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8B208292-44DC-2B74-824E-2B689CA716F0}"/>
                </a:ext>
              </a:extLst>
            </p:cNvPr>
            <p:cNvSpPr txBox="1"/>
            <p:nvPr/>
          </p:nvSpPr>
          <p:spPr>
            <a:xfrm>
              <a:off x="854220" y="1388258"/>
              <a:ext cx="5241780" cy="3941458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1" indent="-342900" fontAlgn="auto">
                <a:lnSpc>
                  <a:spcPct val="150000"/>
                </a:lnSpc>
                <a:spcBef>
                  <a:spcPts val="0"/>
                </a:spcBef>
                <a:buClr>
                  <a:schemeClr val="accent4">
                    <a:lumMod val="50000"/>
                  </a:schemeClr>
                </a:buClr>
                <a:buSzPct val="70000"/>
                <a:buFont typeface="Wingdings" panose="05000000000000000000" pitchFamily="2" charset="2"/>
                <a:buChar char="q"/>
              </a:pPr>
              <a:endParaRPr lang="en-US" altLang="zh-CN" sz="2000" dirty="0">
                <a:latin typeface="Gill Sans" panose="020B0502020104020203" charset="0"/>
                <a:ea typeface="等线" panose="02010600030101010101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98B702E-7D68-E463-66C8-06B974221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08" t="12967" r="3964" b="13418"/>
            <a:stretch/>
          </p:blipFill>
          <p:spPr>
            <a:xfrm>
              <a:off x="962247" y="1261656"/>
              <a:ext cx="10829260" cy="4885884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0E5BDC4-3EEC-8746-803B-F7C8BA725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0054" y="2511735"/>
              <a:ext cx="3856844" cy="40747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A731778-9E91-7C35-F7EF-ADEA2B2FB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8646" y="3661724"/>
              <a:ext cx="3718252" cy="47149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A8E8E6E-BEFC-9F19-AAAF-0E8975B6A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4536" y="4853826"/>
              <a:ext cx="3806472" cy="471491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A7F8349-DB07-A760-6C0C-3A0A868E8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1492" y="2350505"/>
              <a:ext cx="3728629" cy="47149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DF70DD4-FF8F-5762-F950-42EE9F5EF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2209" y="3454608"/>
              <a:ext cx="3505572" cy="471491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0E1364C-654C-05D0-F350-138000A15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43706" y="4480239"/>
              <a:ext cx="3728629" cy="47149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E578EDE-F224-9F12-DE2A-164FFD1CD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7372" y="5348596"/>
              <a:ext cx="3545158" cy="471491"/>
            </a:xfrm>
            <a:prstGeom prst="rect">
              <a:avLst/>
            </a:prstGeom>
          </p:spPr>
        </p:pic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847ACDB3-39E7-16C0-F601-44AAF7AF74BB}"/>
              </a:ext>
            </a:extLst>
          </p:cNvPr>
          <p:cNvSpPr txBox="1"/>
          <p:nvPr/>
        </p:nvSpPr>
        <p:spPr>
          <a:xfrm>
            <a:off x="1341032" y="2430122"/>
            <a:ext cx="6095114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提出了输入感知 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+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漂移适应的分支预测方法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E41F3C2-DF36-4DDB-4CB7-F5D79B8303E1}"/>
              </a:ext>
            </a:extLst>
          </p:cNvPr>
          <p:cNvSpPr txBox="1"/>
          <p:nvPr/>
        </p:nvSpPr>
        <p:spPr>
          <a:xfrm>
            <a:off x="1516469" y="3615457"/>
            <a:ext cx="6095114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提出了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6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方案并实现了原型系统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CA62B2A-3AFD-95A0-3239-6288743C21AE}"/>
              </a:ext>
            </a:extLst>
          </p:cNvPr>
          <p:cNvSpPr txBox="1"/>
          <p:nvPr/>
        </p:nvSpPr>
        <p:spPr>
          <a:xfrm>
            <a:off x="1341032" y="4821464"/>
            <a:ext cx="6095114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显著改善特定场景端到端时延与投机稳定性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C7C74E1-29B0-CAE3-0BF4-469AE4A43B08}"/>
              </a:ext>
            </a:extLst>
          </p:cNvPr>
          <p:cNvSpPr txBox="1"/>
          <p:nvPr/>
        </p:nvSpPr>
        <p:spPr>
          <a:xfrm>
            <a:off x="8256625" y="2413473"/>
            <a:ext cx="3253120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超参数自适应配置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AB7A17-46B7-8372-B113-AF5D125EDE84}"/>
              </a:ext>
            </a:extLst>
          </p:cNvPr>
          <p:cNvSpPr txBox="1"/>
          <p:nvPr/>
        </p:nvSpPr>
        <p:spPr>
          <a:xfrm>
            <a:off x="8123760" y="3450555"/>
            <a:ext cx="3548575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扩展对复杂工作流和多平台支持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F78E9AA-99E7-A60C-03B9-626A29EBCF86}"/>
              </a:ext>
            </a:extLst>
          </p:cNvPr>
          <p:cNvSpPr txBox="1"/>
          <p:nvPr/>
        </p:nvSpPr>
        <p:spPr>
          <a:xfrm>
            <a:off x="8465687" y="4249022"/>
            <a:ext cx="2804825" cy="79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引入更多工作流和负载，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  <a:p>
            <a:pPr marL="1143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进行大规模实验验证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40507D-0535-5E97-EE54-54529AA712ED}"/>
              </a:ext>
            </a:extLst>
          </p:cNvPr>
          <p:cNvSpPr txBox="1"/>
          <p:nvPr/>
        </p:nvSpPr>
        <p:spPr>
          <a:xfrm>
            <a:off x="7655069" y="5337621"/>
            <a:ext cx="4536931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开展面向性能与成本协同优化研究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1158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CA28D4-4242-A681-2F56-192D857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F434D0-27A4-D341-2691-2717610C2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主要参考文献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88A733-1CC0-3DFE-E500-9094D4DA79C5}"/>
              </a:ext>
            </a:extLst>
          </p:cNvPr>
          <p:cNvSpPr txBox="1"/>
          <p:nvPr/>
        </p:nvSpPr>
        <p:spPr>
          <a:xfrm>
            <a:off x="419885" y="1333509"/>
            <a:ext cx="4385910" cy="532186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561DD9-2075-4B3A-BDF9-330B6819B173}"/>
              </a:ext>
            </a:extLst>
          </p:cNvPr>
          <p:cNvSpPr txBox="1"/>
          <p:nvPr/>
        </p:nvSpPr>
        <p:spPr>
          <a:xfrm>
            <a:off x="626931" y="1018309"/>
            <a:ext cx="11270660" cy="52578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[1]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Stojkovic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J., Xu, T., Franke, H., et al. </a:t>
            </a:r>
            <a:r>
              <a:rPr lang="en-US" altLang="zh-CN" sz="2000" i="1" dirty="0" err="1">
                <a:latin typeface="Gill Sans" panose="020B0502020104020203" charset="0"/>
                <a:ea typeface="等线" panose="02010600030101010101" charset="-122"/>
              </a:rPr>
              <a:t>SpecFaaS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: Accelerating serverless applications with speculative function execution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In: 2023 IEEE International Symposium on High-Performance Computer Architecture (HPCA), 2023.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[2] Apache OpenWhisk.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Apache OpenWhisk: Open source serverless cloud platform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  <a:hlinkClick r:id="rId2"/>
              </a:rPr>
              <a:t>http://openwhisk.apache.org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[3] Li, Z., Guo, L., Cheng, J., et al.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The serverless computing survey: A technical primer for design architecture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ACM Computing Surveys (CSUR), 2022.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[4] Saha, D.,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Talluri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S., Jansen, M., et al.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Survey of Serverless Workflows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AtLarge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 Research, 2024.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[5]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Ristov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S.,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Pedratscher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S.,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Fahringer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T.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AFCL: An abstract function choreography language for serverless workflow specification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Future Generation Computer Systems, 2021.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[6] López, P. G.,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Arjona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A.,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Sampé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J., et al. </a:t>
            </a:r>
            <a:r>
              <a:rPr lang="en-US" altLang="zh-CN" sz="2000" i="1" dirty="0" err="1">
                <a:latin typeface="Gill Sans" panose="020B0502020104020203" charset="0"/>
                <a:ea typeface="等线" panose="02010600030101010101" charset="-122"/>
              </a:rPr>
              <a:t>Triggerflow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: trigger-based orchestration of serverless workflows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In: Proceedings of the 14th ACM International Conference on Distributed and Event-Based Systems, 2020.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[7] Dean, J., Barroso, L. A.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The tail at scale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Communications of the ACM, 2013, 56(2): 74–80.</a:t>
            </a:r>
          </a:p>
        </p:txBody>
      </p:sp>
    </p:spTree>
    <p:extLst>
      <p:ext uri="{BB962C8B-B14F-4D97-AF65-F5344CB8AC3E}">
        <p14:creationId xmlns:p14="http://schemas.microsoft.com/office/powerpoint/2010/main" val="426313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CA28D4-4242-A681-2F56-192D857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F434D0-27A4-D341-2691-2717610C2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简历与科研成果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88A733-1CC0-3DFE-E500-9094D4DA79C5}"/>
              </a:ext>
            </a:extLst>
          </p:cNvPr>
          <p:cNvSpPr txBox="1"/>
          <p:nvPr/>
        </p:nvSpPr>
        <p:spPr>
          <a:xfrm>
            <a:off x="419885" y="1333509"/>
            <a:ext cx="4385910" cy="532186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BAAE3F-53C5-60AB-1EF4-91C81CD4722A}"/>
              </a:ext>
            </a:extLst>
          </p:cNvPr>
          <p:cNvSpPr txBox="1"/>
          <p:nvPr/>
        </p:nvSpPr>
        <p:spPr>
          <a:xfrm>
            <a:off x="626931" y="1018309"/>
            <a:ext cx="10506928" cy="52578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基本信息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吴晟昊，男，汉族，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2001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月出生，福建宁德人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教育经历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2023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—2026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         南京大学计算机学院                                     硕士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2019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—2023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         电子科技大学信息与软件工程学院          本科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</a:rPr>
              <a:t>攻读硕士学位期间完成的学术成果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发明专利：一种基于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的跨平台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CICD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系统与实现方法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发明专利：面向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工作流投机执行的输入感知自适应分支预测门控实现方法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</a:rPr>
              <a:t>攻读硕士学位期间参与的科研课题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国家重点研发计划：服务器无感知计算系统软件技术（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2022YFB4500700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），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2023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09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- 2026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01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月，负责项目总体前端与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API-Server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开发，完成子项目部署工具和编程模型核心模块的设计与开发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1995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717B3F-9E7D-47F0-E837-08EAB8CC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5235A475-CCDD-43FD-617F-F1FAEDD6CED1}"/>
              </a:ext>
            </a:extLst>
          </p:cNvPr>
          <p:cNvSpPr txBox="1">
            <a:spLocks/>
          </p:cNvSpPr>
          <p:nvPr/>
        </p:nvSpPr>
        <p:spPr>
          <a:xfrm>
            <a:off x="5364330" y="2856628"/>
            <a:ext cx="3042758" cy="652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3200" kern="1200">
                <a:solidFill>
                  <a:srgbClr val="6A0160"/>
                </a:solidFill>
                <a:latin typeface="Impact" panose="020B0806030902050204" pitchFamily="34" charset="0"/>
                <a:ea typeface="等线" panose="02010600030101010101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 b="1" kern="0" dirty="0">
                <a:latin typeface="+mn-lt"/>
                <a:cs typeface="+mn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48196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RlOTE3MDEyMTIzMmRmMzkxYmJiYTZmODEyZjRkN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3103</Words>
  <Application>Microsoft Office PowerPoint</Application>
  <PresentationFormat>宽屏</PresentationFormat>
  <Paragraphs>387</Paragraphs>
  <Slides>33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Gill Sans</vt:lpstr>
      <vt:lpstr>等线</vt:lpstr>
      <vt:lpstr>微软雅黑</vt:lpstr>
      <vt:lpstr>Arial</vt:lpstr>
      <vt:lpstr>Calibri</vt:lpstr>
      <vt:lpstr>Calibri Light</vt:lpstr>
      <vt:lpstr>Impact</vt:lpstr>
      <vt:lpstr>Wingdings</vt:lpstr>
      <vt:lpstr>Wingdings 2</vt:lpstr>
      <vt:lpstr>HDOfficeLightV0</vt:lpstr>
      <vt:lpstr>主题1</vt:lpstr>
      <vt:lpstr>面向 Serverless 工作流 的投机执行优化研究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Faasit: 服务器无感知计算运营模式与标准化的技术研究与系统设计</dc:title>
  <dc:creator/>
  <cp:lastModifiedBy>cd w</cp:lastModifiedBy>
  <cp:revision>58</cp:revision>
  <dcterms:created xsi:type="dcterms:W3CDTF">2023-10-16T10:12:51Z</dcterms:created>
  <dcterms:modified xsi:type="dcterms:W3CDTF">2026-04-23T16:49:43Z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2D9ED81DE72A483CA5FF2865A1925582_43</vt:lpwstr>
  </property>
  <property fmtid="{D5CDD505-2E9C-101B-9397-08002B2CF9AE}" pid="3" name="KSOProductBuildVer">
    <vt:lpwstr>2052-0.0.0.0</vt:lpwstr>
  </property>
  <property fmtid="{D5CDD505-2E9C-101B-9397-08002B2CF9AE}" pid="4" name="e04242b7-d752-4081-b5b7-9aad2bb55b7e">
    <vt:lpwstr>{"isAdvancePlay":0,"isLoopPlay":0,"time":3000,"userId":""}</vt:lpwstr>
  </property>
</Properties>
</file>