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用户提供论文《面向 Serverless 工作流的投机执行优化研究》，PDF 第 1、5、55 页；架构图来自图 4-2。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背景与动机来自论文第 1 章第 1.1-1.2 节、PDF 第 17-21 页。
- 关键路径示意图来自论文图 3-7，PDF 第 44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现有工作不足与研究问题来自论文第 1.2.4 节与第 1.3 节，PDF 第 20-22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SpecSW 总体方案与三项贡献来自论文第 3.1 节、摘要与第 1.3 节，PDF 第 5、19-20、21-22 页。
- 关键路径示意图来自论文图 3-7，PDF 第 44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投机执行模型来自论文第 3.2 节，PDF 第 37-44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输入感知机制来自论文第 3.4.1 节与图 3-11，PDF 第 37-43 页。
- 数值结果来自论文表 5-2，PDF 第 69-70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分布漂移适应与联合使用来自论文第 3.4.2、3.4.3 节与图 3-17、3-18，PDF 第 44-51 页。
- 数值结果来自论文表 5-4，PDF 第 72-73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原型系统来自论文第 4 章，特别是第 4.2 节图 4-2 与第 4.3 节，PDF 第 55-63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实验设计来自论文第 5.4.1 节、表 5-7，PDF 第 76-78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图像来自论文图 5-1、图 5-3，PDF 第 69-73 页。
- 数值来自论文表 5-2、表 5-4，PDF 第 69-73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图像来自论文图 5-5、5-6、5-7、5-8，PDF 第 78-80 页。
- 平均加速比、时延收益来自论文第 5.4.2-5.4.4 节与表 5-8，PDF 第 78-81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总结来自论文摘要、结论第 6.1 节；未来工作来自第 6.2 节，PDF 第 5 页、第 87-88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0" y="841248"/>
            <a:ext cx="4526280" cy="3703320"/>
          </a:xfrm>
          <a:prstGeom prst="roundRect">
            <a:avLst>
              <a:gd name="adj" fmla="val 1975"/>
            </a:avLst>
          </a:prstGeom>
          <a:solidFill>
            <a:srgbClr val="F6F9FC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/mnt/data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1255441"/>
            <a:ext cx="4206240" cy="2865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841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硕士学位论文答辩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298448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Serverless 工作流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的投机执行优化研究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58368" y="26700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SpecSW: Speculative Execution Optimization for Serverless Workflows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3108960"/>
            <a:ext cx="53035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3401568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答辩人：</a:t>
            </a:r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吴晟昊</a:t>
            </a:r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专业：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计算机科学与技术</a:t>
            </a:r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研究方向：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软件方法学与自动化</a:t>
            </a:r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指导教师：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马骏 副教授</a:t>
            </a:r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单位：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南京大学 计算机科学与技术系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76656" y="5669280"/>
            <a:ext cx="1554480" cy="310896"/>
          </a:xfrm>
          <a:prstGeom prst="roundRect">
            <a:avLst>
              <a:gd name="adj" fmla="val 26471"/>
            </a:avLst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5696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答辩时间 15 分钟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377440" y="5669280"/>
            <a:ext cx="2377440" cy="310896"/>
          </a:xfrm>
          <a:prstGeom prst="roundRect">
            <a:avLst>
              <a:gd name="adj" fmla="val 264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5696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核心结论：平均时延 -22.73%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9738360" y="5897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年 4 月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研究背景与问题动机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为什么需要对 Serverless 工作流做“投机执行”优化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Serverless 工作流已经成为多函数云应用的重要组织方式，但其端到端性能常被“等待”主导。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58368" y="1892808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5321808" cy="785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工作流执行通常遵循“上游完成后再触发下游”的保守语义，导致分支判定与同步等待落在关键路径上。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58368" y="2806319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023"/>
            <a:ext cx="5321808" cy="104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跨函数触发、状态交互、冷启动和排队等待会沿端到端链路叠加放大，最终表现为平均时延和尾延迟上升。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58368" y="3975417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93121"/>
            <a:ext cx="5321808" cy="785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当分支具有明显概率偏向时，若能提前触发高概率后继路径，就有机会把等待时间转化为并行计算。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492240" y="1353312"/>
            <a:ext cx="512064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0256" y="1426464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关键路径视角：常规执行 vs. 投机执行</a:t>
            </a:r>
            <a:endParaRPr lang="en-US" sz="1250" dirty="0"/>
          </a:p>
        </p:txBody>
      </p:sp>
      <p:pic>
        <p:nvPicPr>
          <p:cNvPr id="15" name="Image 0" descr="/mnt/data/spec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114473"/>
            <a:ext cx="4974336" cy="324170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13232" y="5376672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4672" y="55046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关键瓶颈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22960" y="588873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控制依赖带来的等待空窗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2697480" y="5376672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788920" y="55046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优化机会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2807208" y="588873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利用高概率路径做提前执行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4681728" y="5376672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CEBE7"/>
          </a:solidFill>
          <a:ln w="12700">
            <a:solidFill>
              <a:srgbClr val="D95D39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73168" y="55046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核心挑战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791456" y="588873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预测要准，错误代价要可控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现有研究不足与本文研究问题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从已有工作出发界定本文要解决的核心矛盾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356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工作流组织与编排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822960" y="174650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解决“如何表达、如何组织、如何运行”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但仍遵循严格依赖触发语义。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7096" y="14356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一般性能优化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4233672" y="174650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关注冷启动、通信、资源管理等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只能优化已确定路径上的平台开销。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7479792" y="132588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14356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基础投机执行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7644384" y="174650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证明投机执行可行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但主要依赖历史路径统计，适应性不足。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713232" y="292608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因此，真正未被充分解决的问题不是“单步更快”，而是“面对控制不确定性，如何减少保守等待”。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86384" y="3456432"/>
            <a:ext cx="53035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7552" y="3675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 1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87552" y="396849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如何对 Serverless 工作流中的投机执行过程进行统一描述，并提供对应的编程与运行时支撑机制？</a:t>
            </a:r>
            <a:endParaRPr lang="en-US" sz="1680" dirty="0"/>
          </a:p>
        </p:txBody>
      </p:sp>
      <p:sp>
        <p:nvSpPr>
          <p:cNvPr id="19" name="Shape 17"/>
          <p:cNvSpPr/>
          <p:nvPr/>
        </p:nvSpPr>
        <p:spPr>
          <a:xfrm>
            <a:off x="6291072" y="3456432"/>
            <a:ext cx="51206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3675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 2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10528" y="3968496"/>
            <a:ext cx="4553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当分支既受输入影响、又会随请求模式阶段性漂移时，如何设计更准确且具备适应性的分支预测方法？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总体方案：SpecSW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在不改变应用对外语义的前提下，用更可靠的投机执行缩短关键路径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SpecSW 的核心思想：在分支结果尚未揭示时，先预测、再提前触发，并用隔离/恢复机制保证语义正确。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6656" y="18288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148840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066544"/>
            <a:ext cx="436168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统一投机执行模型：规范定义工作流表示、预测、门控预算、状态缓冲与验证恢复。</a:t>
            </a:r>
            <a:endParaRPr lang="en-US" sz="1680" dirty="0"/>
          </a:p>
        </p:txBody>
      </p:sp>
      <p:sp>
        <p:nvSpPr>
          <p:cNvPr id="10" name="Shape 8"/>
          <p:cNvSpPr/>
          <p:nvPr/>
        </p:nvSpPr>
        <p:spPr>
          <a:xfrm>
            <a:off x="896112" y="3032760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950464"/>
            <a:ext cx="436168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声明式编程框架：让用户用统一方式描述工作流拓扑、依赖关系与必要的投机策略注解。</a:t>
            </a:r>
            <a:endParaRPr lang="en-US" sz="1680" dirty="0"/>
          </a:p>
        </p:txBody>
      </p:sp>
      <p:sp>
        <p:nvSpPr>
          <p:cNvPr id="12" name="Shape 10"/>
          <p:cNvSpPr/>
          <p:nvPr/>
        </p:nvSpPr>
        <p:spPr>
          <a:xfrm>
            <a:off x="896112" y="3916680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834384"/>
            <a:ext cx="4361688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预测增强机制：面向输入相关与分布漂移场景，分别引入输入感知与漂移适应，并支持联合使用。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196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22.73%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22037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 BaseSpec 的平均时延进一步下降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028432" y="16916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19872" y="18196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10.3%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38160" y="220370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P95 尾延迟下降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747504" y="16916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38944" y="18196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5.78 pct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57232" y="22037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错误投机率平均下降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961888" y="2962656"/>
            <a:ext cx="5349240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9904" y="3035808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收益来源：把“判定-触发”等待转化为重叠执行</a:t>
            </a:r>
            <a:endParaRPr lang="en-US" sz="1250" dirty="0"/>
          </a:p>
        </p:txBody>
      </p:sp>
      <p:pic>
        <p:nvPicPr>
          <p:cNvPr id="25" name="Image 0" descr="/mnt/data/spec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907" y="3273552"/>
            <a:ext cx="3227201" cy="21031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统一投机执行模型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用一个闭环来描述 Serverless 工作流中的投机执行行为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3350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B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本文将投机执行抽象为六元组  M = (W, C, P, G, B, R)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13232" y="1892808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810512"/>
            <a:ext cx="4361688" cy="51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W：工作流；显式区分控制依赖与数据依赖。</a:t>
            </a:r>
            <a:endParaRPr lang="en-US" sz="1670" dirty="0"/>
          </a:p>
        </p:txBody>
      </p:sp>
      <p:sp>
        <p:nvSpPr>
          <p:cNvPr id="9" name="Shape 7"/>
          <p:cNvSpPr/>
          <p:nvPr/>
        </p:nvSpPr>
        <p:spPr>
          <a:xfrm>
            <a:off x="713232" y="2529903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47608"/>
            <a:ext cx="4361688" cy="51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C：控制器；负责维护状态并组织实例触发。</a:t>
            </a:r>
            <a:endParaRPr lang="en-US" sz="1670" dirty="0"/>
          </a:p>
        </p:txBody>
      </p:sp>
      <p:sp>
        <p:nvSpPr>
          <p:cNvPr id="11" name="Shape 9"/>
          <p:cNvSpPr/>
          <p:nvPr/>
        </p:nvSpPr>
        <p:spPr>
          <a:xfrm>
            <a:off x="713232" y="3166999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084703"/>
            <a:ext cx="4361688" cy="76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 / G：预测器 + 门控预算；决定是否投机以及投机规模。</a:t>
            </a:r>
            <a:endParaRPr lang="en-US" sz="1670" dirty="0"/>
          </a:p>
        </p:txBody>
      </p:sp>
      <p:sp>
        <p:nvSpPr>
          <p:cNvPr id="13" name="Shape 11"/>
          <p:cNvSpPr/>
          <p:nvPr/>
        </p:nvSpPr>
        <p:spPr>
          <a:xfrm>
            <a:off x="713232" y="4047998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65702"/>
            <a:ext cx="4361688" cy="762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/ R：状态缓冲 + 验证恢复；保证投机副作用不外泄。</a:t>
            </a:r>
            <a:endParaRPr lang="en-US" sz="1670" dirty="0"/>
          </a:p>
        </p:txBody>
      </p:sp>
      <p:sp>
        <p:nvSpPr>
          <p:cNvPr id="15" name="Shape 13"/>
          <p:cNvSpPr/>
          <p:nvPr/>
        </p:nvSpPr>
        <p:spPr>
          <a:xfrm>
            <a:off x="5577840" y="17373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50992" y="1901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726680" y="17373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173B67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99832" y="1901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控制器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875520" y="173736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48672" y="19019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预测器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577840" y="36576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50992" y="38221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门控与预算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726680" y="36576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EF7EE"/>
          </a:solidFill>
          <a:ln w="12700">
            <a:solidFill>
              <a:srgbClr val="5B8C5A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99832" y="38221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状态缓冲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875520" y="365760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FCEBE7"/>
          </a:solidFill>
          <a:ln w="12700">
            <a:solidFill>
              <a:srgbClr val="D95D39"/>
            </a:solidFill>
            <a:prstDash val="solid"/>
          </a:ln>
          <a:effectLst>
            <a:outerShdw sx="100000" sy="100000" kx="0" ky="0" algn="bl" rotWithShape="0" blurRad="10160" dist="2540" dir="27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48672" y="38221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验证与恢复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150608" y="2212848"/>
            <a:ext cx="512064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99448" y="2212848"/>
            <a:ext cx="512064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50608" y="4133088"/>
            <a:ext cx="512064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99448" y="4133088"/>
            <a:ext cx="512064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355080" y="2670048"/>
            <a:ext cx="0" cy="804672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503920" y="2670048"/>
            <a:ext cx="0" cy="804672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652760" y="2670048"/>
            <a:ext cx="0" cy="804672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486400" y="504748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运行时闭环：预测触发 → 门控预算 → 缓冲隔离 → 验证提交 / 误投机撤销</a:t>
            </a:r>
            <a:endParaRPr lang="en-US" sz="1640" dirty="0"/>
          </a:p>
        </p:txBody>
      </p:sp>
      <p:sp>
        <p:nvSpPr>
          <p:cNvPr id="35" name="Text 33"/>
          <p:cNvSpPr/>
          <p:nvPr/>
        </p:nvSpPr>
        <p:spPr>
          <a:xfrm>
            <a:off x="786384" y="5797296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这一定义的意义在于：把复杂的投机执行过程统一成可实现、可扩展、可比较的抽象基础。</a:t>
            </a:r>
            <a:endParaRPr lang="en-US" sz="158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关键方法一：输入感知分支预测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解决“同一路径统计下，不同输入对应不同真实控制意图”的问题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29844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仅依赖历史路径统计，在输入驱动分支场景中会持续犯同一类错误。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1819656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4864608" cy="776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为当前分支点构造路径上下文 + 输入特征，建立“输入桶级统计”。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713232" y="2733548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651252"/>
            <a:ext cx="4864608" cy="776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当输入信息具有足够判别力且样本量达到阈值时，启用路径统计与输入桶统计的回退混合。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713232" y="3647440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565144"/>
            <a:ext cx="4864608" cy="776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这样既能区分不同输入模式，又能避免在稀疏样本条件下过拟合。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804672" y="5230368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535838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31.93% → 3.67%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7424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输入驱动场景总误预测率显著下降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182112" y="5230368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3552" y="53583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0.317 → 0.033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574243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平均撤销量显著下降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989320" y="1335024"/>
            <a:ext cx="5349240" cy="4041648"/>
          </a:xfrm>
          <a:prstGeom prst="roundRect">
            <a:avLst>
              <a:gd name="adj" fmla="val 90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17336" y="1408176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输入感知分支预测流程图</a:t>
            </a:r>
            <a:endParaRPr lang="en-US" sz="1250" dirty="0"/>
          </a:p>
        </p:txBody>
      </p:sp>
      <p:pic>
        <p:nvPicPr>
          <p:cNvPr id="21" name="Image 0" descr="/mnt/data/flow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969" y="1645920"/>
            <a:ext cx="3355942" cy="3657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关键方法二：分布漂移适应与联合预测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同时处理“输入相关性”和“阶段性分布切换”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298448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当业务请求模式发生阶段性变化时，旧统计会迅速失效；因此预测器必须对“近期观测”更敏感。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31520" y="1892808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10512"/>
            <a:ext cx="5047488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指数衰减：削弱陈旧样本影响，适合平滑适应。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731520" y="253136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49068"/>
            <a:ext cx="504748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滑动窗口：仅保留近期观测，适合快速响应明显切换。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731520" y="341528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32988"/>
            <a:ext cx="504748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漂移强度检测 + 双阈值滞回：在“平滑适应”和“快速响应”之间自适应切换。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731520" y="429920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16908"/>
            <a:ext cx="504748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最终采用分层联合方式，把输入感知与漂移适应整合到同一预测流程。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822960" y="535838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486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20.83% → 74.38%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2688" y="587044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输入-漂移耦合场景：总投机率提升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2926080" y="535838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CEBE7"/>
          </a:solidFill>
          <a:ln w="12700">
            <a:solidFill>
              <a:srgbClr val="D95D39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17520" y="5486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46.00% → 1.40%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035808" y="587044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投机条件下误预测率大幅下降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26480" y="1335024"/>
            <a:ext cx="5193792" cy="4334256"/>
          </a:xfrm>
          <a:prstGeom prst="roundRect">
            <a:avLst>
              <a:gd name="adj" fmla="val 84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4496" y="14081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输入感知 + 分布漂移适应的分层预测流程</a:t>
            </a:r>
            <a:endParaRPr lang="en-US" sz="1250" dirty="0"/>
          </a:p>
        </p:txBody>
      </p:sp>
      <p:pic>
        <p:nvPicPr>
          <p:cNvPr id="23" name="Image 0" descr="/mnt/data/flow_j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205" y="1645920"/>
            <a:ext cx="3528341" cy="39502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 原型系统设计与实现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OpenWhisk 实现 SpecSW 原型系统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25880"/>
            <a:ext cx="56235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399032"/>
            <a:ext cx="5367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三层架构：用户接口层 / 投机控制层 / 平台执行层</a:t>
            </a:r>
            <a:endParaRPr lang="en-US" sz="1250" dirty="0"/>
          </a:p>
        </p:txBody>
      </p:sp>
      <p:pic>
        <p:nvPicPr>
          <p:cNvPr id="8" name="Image 0" descr="/mnt/data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2014"/>
            <a:ext cx="5477256" cy="373175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325880"/>
            <a:ext cx="4956048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93408" y="1399032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控制器运行逻辑示意</a:t>
            </a:r>
            <a:endParaRPr lang="en-US" sz="1250" dirty="0"/>
          </a:p>
        </p:txBody>
      </p:sp>
      <p:pic>
        <p:nvPicPr>
          <p:cNvPr id="11" name="Image 1" descr="/mnt/data/control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343" y="1636776"/>
            <a:ext cx="2794145" cy="33649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65392" y="5248656"/>
            <a:ext cx="4956048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48272" y="54315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实现要点：工作流状态管理、分支预测与状态记录、投机执行控制器、本地/ OpenWhisk 双执行后端</a:t>
            </a:r>
            <a:endParaRPr lang="en-US" sz="1370" dirty="0"/>
          </a:p>
        </p:txBody>
      </p:sp>
      <p:sp>
        <p:nvSpPr>
          <p:cNvPr id="14" name="Text 10"/>
          <p:cNvSpPr/>
          <p:nvPr/>
        </p:nvSpPr>
        <p:spPr>
          <a:xfrm>
            <a:off x="749808" y="61081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实现价值：把“模型与方法”真正落到平台侧运行逻辑中，验证可实现性与工程闭环。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 实验设计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从算法仿真到端到端工作流，系统评估方法有效性与工程收益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71600"/>
            <a:ext cx="2788920" cy="1234440"/>
          </a:xfrm>
          <a:prstGeom prst="roundRect">
            <a:avLst>
              <a:gd name="adj" fmla="val 3704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1790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request_risk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84708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请求接入后的风险评估与路径分流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输入特征对后继分支影响强。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096512" y="1371600"/>
            <a:ext cx="2788920" cy="1234440"/>
          </a:xfrm>
          <a:prstGeom prst="roundRect">
            <a:avLst>
              <a:gd name="adj" fmla="val 3704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151790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log_alert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42816" y="184708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日志解析、异常检测与告警分级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更容易受阶段性负载变化影响。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479792" y="1371600"/>
            <a:ext cx="2788920" cy="1234440"/>
          </a:xfrm>
          <a:prstGeom prst="roundRect">
            <a:avLst>
              <a:gd name="adj" fmla="val 3704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151790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media_content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6096" y="184708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媒体内容识别与处理链路选择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不同内容特征触发不同后续路径。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86384" y="2907792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2783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场景设置：stable / drift    ·    并发档位：low / medium / high    ·    对比方法：NoSpec / BaseSpec / SpecSW</a:t>
            </a:r>
            <a:endParaRPr lang="en-US" sz="1680" dirty="0"/>
          </a:p>
        </p:txBody>
      </p:sp>
      <p:sp>
        <p:nvSpPr>
          <p:cNvPr id="17" name="Shape 15"/>
          <p:cNvSpPr/>
          <p:nvPr/>
        </p:nvSpPr>
        <p:spPr>
          <a:xfrm>
            <a:off x="960120" y="4224528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3525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100 / 200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69848" y="47365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request_risk 并发设置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3822192" y="4224528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13632" y="43525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50 / 100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31920" y="47365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log_alert 并发设置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84264" y="4224528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75704" y="43525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16 / 32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93992" y="473659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media_content 并发设置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9363456" y="4224528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82912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主要指标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9473184" y="4681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平均时延 / P95-P99 / 误投机率 / 额外触发开销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877824" y="579729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主实验形成 3 × 2 × 3 × 3 的实验矩阵，每个工作流重复执行 500 次。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9. 核心算法效果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输入感知和漂移适应机制是否真的提升了“投机质量”？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298448"/>
            <a:ext cx="56235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371600"/>
            <a:ext cx="5367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输入驱动分支场景</a:t>
            </a:r>
            <a:endParaRPr lang="en-US" sz="1250" dirty="0"/>
          </a:p>
        </p:txBody>
      </p:sp>
      <p:pic>
        <p:nvPicPr>
          <p:cNvPr id="8" name="Image 0" descr="/mnt/data/sim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810" y="1609344"/>
            <a:ext cx="3431252" cy="41422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82512" y="1298448"/>
            <a:ext cx="5138928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0528" y="1371600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输入-漂移耦合场景</a:t>
            </a:r>
            <a:endParaRPr lang="en-US" sz="1250" dirty="0"/>
          </a:p>
        </p:txBody>
      </p:sp>
      <p:pic>
        <p:nvPicPr>
          <p:cNvPr id="11" name="Image 1" descr="/mnt/data/sim_jo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070" y="1609344"/>
            <a:ext cx="3361811" cy="41422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77824" y="598932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2416" y="6126480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输入感知策略把总误预测率从 31.93% 降到 3.67%，明显减少撤销与浪费时间。</a:t>
            </a:r>
            <a:endParaRPr lang="en-US" sz="1380" dirty="0"/>
          </a:p>
        </p:txBody>
      </p:sp>
      <p:sp>
        <p:nvSpPr>
          <p:cNvPr id="14" name="Shape 10"/>
          <p:cNvSpPr/>
          <p:nvPr/>
        </p:nvSpPr>
        <p:spPr>
          <a:xfrm>
            <a:off x="6510528" y="5989320"/>
            <a:ext cx="4754880" cy="457200"/>
          </a:xfrm>
          <a:prstGeom prst="roundRect">
            <a:avLst>
              <a:gd name="adj" fmla="val 8000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56832" y="6126480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联合优化把总投机率从 20.83% 提升到 74.38%，同时把条件误预测率降到 1.40%。</a:t>
            </a:r>
            <a:endParaRPr lang="en-US" sz="1360" dirty="0"/>
          </a:p>
        </p:txBody>
      </p:sp>
      <p:sp>
        <p:nvSpPr>
          <p:cNvPr id="16" name="Text 12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 端到端性能结果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在真实工作流原型中，SpecSW 是否带来稳定收益？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80160"/>
            <a:ext cx="5742432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3533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平均端到端时延与平均加速比</a:t>
            </a:r>
            <a:endParaRPr lang="en-US" sz="1250" dirty="0"/>
          </a:p>
        </p:txBody>
      </p:sp>
      <p:pic>
        <p:nvPicPr>
          <p:cNvPr id="8" name="Image 0" descr="/mnt/data/perf_m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760" y="1591056"/>
            <a:ext cx="4225648" cy="37307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10528" y="1280160"/>
            <a:ext cx="5010912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38544" y="13533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P95 / P99 尾延迟表现</a:t>
            </a:r>
            <a:endParaRPr lang="en-US" sz="1250" dirty="0"/>
          </a:p>
        </p:txBody>
      </p:sp>
      <p:pic>
        <p:nvPicPr>
          <p:cNvPr id="11" name="Image 1" descr="/mnt/data/perf_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234" y="1591056"/>
            <a:ext cx="2887500" cy="373075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41248" y="5577840"/>
            <a:ext cx="2121408" cy="1005840"/>
          </a:xfrm>
          <a:prstGeom prst="roundRect">
            <a:avLst>
              <a:gd name="adj" fmla="val 7273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32688" y="570585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-22.73%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50976" y="60899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 BaseSpec 的平均端到端时延降低</a:t>
            </a:r>
            <a:endParaRPr lang="en-US" sz="1220" dirty="0"/>
          </a:p>
        </p:txBody>
      </p:sp>
      <p:sp>
        <p:nvSpPr>
          <p:cNvPr id="15" name="Shape 11"/>
          <p:cNvSpPr/>
          <p:nvPr/>
        </p:nvSpPr>
        <p:spPr>
          <a:xfrm>
            <a:off x="3154680" y="557784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246120" y="570585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-10.3%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264408" y="60899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P95 尾延迟下降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4992624" y="5577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84064" y="57058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19.76% → 13.98%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102352" y="608990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错误投机率平均下降 5.78 pct</a:t>
            </a:r>
            <a:endParaRPr lang="en-US" sz="1220" dirty="0"/>
          </a:p>
        </p:txBody>
      </p:sp>
      <p:sp>
        <p:nvSpPr>
          <p:cNvPr id="21" name="Shape 17"/>
          <p:cNvSpPr/>
          <p:nvPr/>
        </p:nvSpPr>
        <p:spPr>
          <a:xfrm>
            <a:off x="7571232" y="557784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CEBE7"/>
          </a:solidFill>
          <a:ln w="12700">
            <a:solidFill>
              <a:srgbClr val="D95D39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662672" y="57058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2.42× → 2.97×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7680960" y="608990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平均加速比（相对 NoSpec）</a:t>
            </a:r>
            <a:endParaRPr lang="en-US" sz="1220" dirty="0"/>
          </a:p>
        </p:txBody>
      </p:sp>
      <p:sp>
        <p:nvSpPr>
          <p:cNvPr id="24" name="Shape 20"/>
          <p:cNvSpPr/>
          <p:nvPr/>
        </p:nvSpPr>
        <p:spPr>
          <a:xfrm>
            <a:off x="9738360" y="5577840"/>
            <a:ext cx="1627632" cy="1005840"/>
          </a:xfrm>
          <a:prstGeom prst="roundRect">
            <a:avLst>
              <a:gd name="adj" fmla="val 7273"/>
            </a:avLst>
          </a:prstGeom>
          <a:solidFill>
            <a:srgbClr val="EEF7EE"/>
          </a:solidFill>
          <a:ln w="12700">
            <a:solidFill>
              <a:srgbClr val="5B8C5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829800" y="570585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C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0.633 → 0.563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9848088" y="60899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每请求平均额外触发数进一步下降</a:t>
            </a:r>
            <a:endParaRPr lang="en-US" sz="1220" dirty="0"/>
          </a:p>
        </p:txBody>
      </p:sp>
      <p:sp>
        <p:nvSpPr>
          <p:cNvPr id="27" name="Text 23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73B67"/>
          </a:solidFill>
          <a:ln w="12700">
            <a:solidFill>
              <a:srgbClr val="173B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11. 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论文的核心结论与下一步工作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12064" y="107899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工作总结</a:t>
            </a:r>
            <a:endParaRPr lang="en-US" sz="1720" dirty="0"/>
          </a:p>
        </p:txBody>
      </p:sp>
      <p:sp>
        <p:nvSpPr>
          <p:cNvPr id="7" name="Shape 5"/>
          <p:cNvSpPr/>
          <p:nvPr/>
        </p:nvSpPr>
        <p:spPr>
          <a:xfrm>
            <a:off x="786384" y="1700784"/>
            <a:ext cx="480060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01952"/>
            <a:ext cx="4773168" cy="773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提出了面向 Serverless 工作流的统一投机执行模型与配套编程框架。</a:t>
            </a:r>
            <a:endParaRPr lang="en-US" sz="1710" dirty="0"/>
          </a:p>
        </p:txBody>
      </p:sp>
      <p:sp>
        <p:nvSpPr>
          <p:cNvPr id="10" name="Shape 8"/>
          <p:cNvSpPr/>
          <p:nvPr/>
        </p:nvSpPr>
        <p:spPr>
          <a:xfrm>
            <a:off x="841248" y="2904363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22067"/>
            <a:ext cx="4773168" cy="773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围绕复杂工作流中的预测难题，设计了输入感知机制、分布漂移适应机制及联合使用方式。</a:t>
            </a:r>
            <a:endParaRPr lang="en-US" sz="1710" dirty="0"/>
          </a:p>
        </p:txBody>
      </p:sp>
      <p:sp>
        <p:nvSpPr>
          <p:cNvPr id="12" name="Shape 10"/>
          <p:cNvSpPr/>
          <p:nvPr/>
        </p:nvSpPr>
        <p:spPr>
          <a:xfrm>
            <a:off x="841248" y="3824478"/>
            <a:ext cx="91440" cy="91440"/>
          </a:xfrm>
          <a:prstGeom prst="ellipse">
            <a:avLst/>
          </a:prstGeom>
          <a:solidFill>
            <a:srgbClr val="1F5D8C"/>
          </a:solidFill>
          <a:ln w="12700">
            <a:solidFill>
              <a:srgbClr val="1F5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42182"/>
            <a:ext cx="4773168" cy="773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OpenWhisk 实现 SpecSW 原型系统，并通过仿真与端到端实验验证了有效性。</a:t>
            </a:r>
            <a:endParaRPr lang="en-US" sz="1710" dirty="0"/>
          </a:p>
        </p:txBody>
      </p:sp>
      <p:sp>
        <p:nvSpPr>
          <p:cNvPr id="14" name="Shape 12"/>
          <p:cNvSpPr/>
          <p:nvPr/>
        </p:nvSpPr>
        <p:spPr>
          <a:xfrm>
            <a:off x="896112" y="48006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E8F6F3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49286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-22.73%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5312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平均端到端时延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395728" y="4800600"/>
            <a:ext cx="1298448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1F5D8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92861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D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-10.3%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05456" y="53126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P95 尾延迟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3822192" y="4800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DF2E7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13632" y="49286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-5.78 pct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31920" y="5312664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错误投机率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400800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未来工作</a:t>
            </a:r>
            <a:endParaRPr lang="en-US" sz="1720" dirty="0"/>
          </a:p>
        </p:txBody>
      </p:sp>
      <p:sp>
        <p:nvSpPr>
          <p:cNvPr id="24" name="Shape 22"/>
          <p:cNvSpPr/>
          <p:nvPr/>
        </p:nvSpPr>
        <p:spPr>
          <a:xfrm>
            <a:off x="6400800" y="1700784"/>
            <a:ext cx="480060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1984248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1901952"/>
            <a:ext cx="4517136" cy="75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研究门控阈值、投机深度、窗口大小、预算约束等关键参数的配置方法。</a:t>
            </a:r>
            <a:endParaRPr lang="en-US" sz="1660" dirty="0"/>
          </a:p>
        </p:txBody>
      </p:sp>
      <p:sp>
        <p:nvSpPr>
          <p:cNvPr id="27" name="Shape 25"/>
          <p:cNvSpPr/>
          <p:nvPr/>
        </p:nvSpPr>
        <p:spPr>
          <a:xfrm>
            <a:off x="6455664" y="2880614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2798318"/>
            <a:ext cx="4517136" cy="75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扩展对函数调用关系动态形成的隐式工作流的支持。</a:t>
            </a:r>
            <a:endParaRPr lang="en-US" sz="1660" dirty="0"/>
          </a:p>
        </p:txBody>
      </p:sp>
      <p:sp>
        <p:nvSpPr>
          <p:cNvPr id="29" name="Shape 27"/>
          <p:cNvSpPr/>
          <p:nvPr/>
        </p:nvSpPr>
        <p:spPr>
          <a:xfrm>
            <a:off x="6455664" y="3776980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3694684"/>
            <a:ext cx="4517136" cy="75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扩展到更多真实平台和更大规模部署场景，验证通用性与工程价值。</a:t>
            </a:r>
            <a:endParaRPr lang="en-US" sz="1660" dirty="0"/>
          </a:p>
        </p:txBody>
      </p:sp>
      <p:sp>
        <p:nvSpPr>
          <p:cNvPr id="31" name="Shape 29"/>
          <p:cNvSpPr/>
          <p:nvPr/>
        </p:nvSpPr>
        <p:spPr>
          <a:xfrm>
            <a:off x="6455664" y="4673346"/>
            <a:ext cx="91440" cy="914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4591050"/>
            <a:ext cx="4517136" cy="51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进一步开展性能-成本协同优化研究。</a:t>
            </a:r>
            <a:endParaRPr lang="en-US" sz="1660" dirty="0"/>
          </a:p>
        </p:txBody>
      </p:sp>
      <p:sp>
        <p:nvSpPr>
          <p:cNvPr id="33" name="Text 31"/>
          <p:cNvSpPr/>
          <p:nvPr/>
        </p:nvSpPr>
        <p:spPr>
          <a:xfrm>
            <a:off x="6455664" y="5358384"/>
            <a:ext cx="4626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一句话总结：SpecSW 的价值不只是“更快”，而是“在更复杂场景下更稳”。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822960" y="61447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B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谢谢各位老师，请批评指正！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 Serverless 工作流的投机执行优化研究</dc:title>
  <dc:subject>硕士论文答辩PPT</dc:subject>
  <dc:creator>OpenAI</dc:creator>
  <cp:lastModifiedBy>OpenAI</cp:lastModifiedBy>
  <cp:revision>1</cp:revision>
  <dcterms:created xsi:type="dcterms:W3CDTF">2026-04-08T07:00:38Z</dcterms:created>
  <dcterms:modified xsi:type="dcterms:W3CDTF">2026-04-08T07:00:38Z</dcterms:modified>
</cp:coreProperties>
</file>