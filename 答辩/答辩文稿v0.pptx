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2.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27"/>
  </p:notesMasterIdLst>
  <p:sldIdLst>
    <p:sldId id="256" r:id="rId3"/>
    <p:sldId id="257" r:id="rId4"/>
    <p:sldId id="336" r:id="rId5"/>
    <p:sldId id="444" r:id="rId6"/>
    <p:sldId id="451" r:id="rId7"/>
    <p:sldId id="450" r:id="rId8"/>
    <p:sldId id="452" r:id="rId9"/>
    <p:sldId id="446" r:id="rId10"/>
    <p:sldId id="453" r:id="rId11"/>
    <p:sldId id="455" r:id="rId12"/>
    <p:sldId id="456" r:id="rId13"/>
    <p:sldId id="458" r:id="rId14"/>
    <p:sldId id="459" r:id="rId15"/>
    <p:sldId id="460" r:id="rId16"/>
    <p:sldId id="447" r:id="rId17"/>
    <p:sldId id="457" r:id="rId18"/>
    <p:sldId id="466" r:id="rId19"/>
    <p:sldId id="462" r:id="rId20"/>
    <p:sldId id="465" r:id="rId21"/>
    <p:sldId id="464" r:id="rId22"/>
    <p:sldId id="463" r:id="rId23"/>
    <p:sldId id="448" r:id="rId24"/>
    <p:sldId id="461" r:id="rId25"/>
    <p:sldId id="449" r:id="rId26"/>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00" autoAdjust="0"/>
    <p:restoredTop sz="82051" autoAdjust="0"/>
  </p:normalViewPr>
  <p:slideViewPr>
    <p:cSldViewPr snapToGrid="0">
      <p:cViewPr varScale="1">
        <p:scale>
          <a:sx n="92" d="100"/>
          <a:sy n="92" d="100"/>
        </p:scale>
        <p:origin x="106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5CC64B-21A6-4689-A978-F795439921FB}" type="datetimeFigureOut">
              <a:rPr lang="zh-CN" altLang="en-US" smtClean="0"/>
              <a:t>2026/4/20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611FB3-3B76-4B3E-A610-B7E51F4413B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err="1"/>
              <a:t>各位老师好</a:t>
            </a:r>
            <a:r>
              <a:rPr lang="en-US" altLang="zh-CN" dirty="0"/>
              <a:t>，</a:t>
            </a:r>
            <a:r>
              <a:rPr lang="zh-CN" altLang="en-US" dirty="0"/>
              <a:t>我是吴晟昊，今天要给大家带来我的毕业论文答辩。</a:t>
            </a:r>
            <a:r>
              <a:rPr lang="en-US" altLang="zh-CN" dirty="0" err="1"/>
              <a:t>我的题目是《面向</a:t>
            </a:r>
            <a:r>
              <a:rPr lang="en-US" altLang="zh-CN" dirty="0"/>
              <a:t> Serverless </a:t>
            </a:r>
            <a:r>
              <a:rPr lang="en-US" altLang="zh-CN" dirty="0" err="1"/>
              <a:t>工作流的投机执行优化研究</a:t>
            </a:r>
            <a:r>
              <a:rPr lang="en-US" altLang="zh-CN" dirty="0"/>
              <a:t>》。</a:t>
            </a:r>
            <a:endParaRPr lang="zh-CN" altLang="en-US" dirty="0"/>
          </a:p>
        </p:txBody>
      </p:sp>
      <p:sp>
        <p:nvSpPr>
          <p:cNvPr id="4" name="灯片编号占位符 3"/>
          <p:cNvSpPr>
            <a:spLocks noGrp="1"/>
          </p:cNvSpPr>
          <p:nvPr>
            <p:ph type="sldNum" sz="quarter" idx="10"/>
          </p:nvPr>
        </p:nvSpPr>
        <p:spPr/>
        <p:txBody>
          <a:bodyPr/>
          <a:lstStyle/>
          <a:p>
            <a:fld id="{3D611FB3-3B76-4B3E-A610-B7E51F4413B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err="1"/>
              <a:t>本次汇报主要包括四部分。首先说明为什么要研究</a:t>
            </a:r>
            <a:r>
              <a:rPr lang="en-US" altLang="zh-CN" dirty="0"/>
              <a:t> Serverless </a:t>
            </a:r>
            <a:r>
              <a:rPr lang="en-US" altLang="zh-CN" dirty="0" err="1"/>
              <a:t>工作流的端到端优化；其次介绍本文提出的方法与关键机制；然后展示系统实现和实验结果；最后给出结论与后续工作</a:t>
            </a:r>
            <a:r>
              <a:rPr lang="en-US" altLang="zh-CN" dirty="0"/>
              <a:t>。</a:t>
            </a:r>
            <a:endParaRPr lang="zh-CN" altLang="en-US" dirty="0"/>
          </a:p>
        </p:txBody>
      </p:sp>
      <p:sp>
        <p:nvSpPr>
          <p:cNvPr id="4" name="灯片编号占位符 3"/>
          <p:cNvSpPr>
            <a:spLocks noGrp="1"/>
          </p:cNvSpPr>
          <p:nvPr>
            <p:ph type="sldNum" sz="quarter" idx="10"/>
          </p:nvPr>
        </p:nvSpPr>
        <p:spPr/>
        <p:txBody>
          <a:bodyPr/>
          <a:lstStyle/>
          <a:p>
            <a:fld id="{3D611FB3-3B76-4B3E-A610-B7E51F4413BB}"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err="1"/>
              <a:t>下面首先进入第一部分，研究背景和研究目标</a:t>
            </a:r>
            <a:r>
              <a:rPr lang="en-US" altLang="zh-CN" dirty="0"/>
              <a:t>。</a:t>
            </a:r>
          </a:p>
          <a:p>
            <a:endParaRPr lang="zh-CN" altLang="en-US" dirty="0"/>
          </a:p>
        </p:txBody>
      </p:sp>
      <p:sp>
        <p:nvSpPr>
          <p:cNvPr id="4" name="灯片编号占位符 3"/>
          <p:cNvSpPr>
            <a:spLocks noGrp="1"/>
          </p:cNvSpPr>
          <p:nvPr>
            <p:ph type="sldNum" sz="quarter" idx="10"/>
          </p:nvPr>
        </p:nvSpPr>
        <p:spPr/>
        <p:txBody>
          <a:bodyPr/>
          <a:lstStyle/>
          <a:p>
            <a:fld id="{3D611FB3-3B76-4B3E-A610-B7E51F4413BB}"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err="1"/>
              <a:t>近年来，Serverless</a:t>
            </a:r>
            <a:r>
              <a:rPr lang="en-US" altLang="zh-CN" dirty="0"/>
              <a:t> 作为一种新兴的云计算开发范式发展非常快。它的核心优势在于，开发者不用管理底层基础设施，平台能够自动扩缩容，并且按需计费，因此非常适合事件驱动型应用。
</a:t>
            </a:r>
            <a:r>
              <a:rPr lang="zh-CN" altLang="en-US" dirty="0"/>
              <a:t>同时，越来越多的应用将采用</a:t>
            </a:r>
            <a:r>
              <a:rPr lang="en-US" altLang="zh-CN" dirty="0"/>
              <a:t>Serverless</a:t>
            </a:r>
            <a:r>
              <a:rPr lang="zh-CN" altLang="en-US" dirty="0"/>
              <a:t>架构</a:t>
            </a:r>
            <a:r>
              <a:rPr lang="en-US" altLang="zh-CN" dirty="0"/>
              <a:t>，Serverless </a:t>
            </a:r>
            <a:r>
              <a:rPr lang="en-US" altLang="zh-CN" dirty="0" err="1"/>
              <a:t>已经不再</a:t>
            </a:r>
            <a:r>
              <a:rPr lang="zh-CN" altLang="en-US" dirty="0"/>
              <a:t>只是简单的单个</a:t>
            </a:r>
            <a:r>
              <a:rPr lang="en-US" altLang="zh-CN" dirty="0" err="1"/>
              <a:t>函数调用，而是越来越多地承载在线服务和数据处理任务</a:t>
            </a:r>
            <a:r>
              <a:rPr lang="en-US" altLang="zh-CN" dirty="0"/>
              <a:t>。</a:t>
            </a:r>
          </a:p>
        </p:txBody>
      </p:sp>
      <p:sp>
        <p:nvSpPr>
          <p:cNvPr id="4" name="灯片编号占位符 3"/>
          <p:cNvSpPr>
            <a:spLocks noGrp="1"/>
          </p:cNvSpPr>
          <p:nvPr>
            <p:ph type="sldNum" sz="quarter" idx="10"/>
          </p:nvPr>
        </p:nvSpPr>
        <p:spPr/>
        <p:txBody>
          <a:bodyPr/>
          <a:lstStyle/>
          <a:p>
            <a:fld id="{3D611FB3-3B76-4B3E-A610-B7E51F4413BB}"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a:t>随着业务复杂度提升，很多任务已经无法由单个函数独立完成，而是需要多个函数通过控制流和数据流组织成工作流。例如前一个节点做路由判断，后一个节点做风控、日志分析或者内容处理。
在这种情况下，系统性能不再只取决于某一个函数运行得快不快，而更多取决于跨函数依赖、分支判定以及关键路径上的等待时间。因此，优化目标就从单函数性能，转向了工作流的端到端性能。如何降低这类工作流的整体时延，就是本文关注的核心问题。</a:t>
            </a:r>
            <a:endParaRPr lang="zh-CN" altLang="en-US" dirty="0"/>
          </a:p>
        </p:txBody>
      </p:sp>
      <p:sp>
        <p:nvSpPr>
          <p:cNvPr id="4" name="灯片编号占位符 3"/>
          <p:cNvSpPr>
            <a:spLocks noGrp="1"/>
          </p:cNvSpPr>
          <p:nvPr>
            <p:ph type="sldNum" sz="quarter" idx="10"/>
          </p:nvPr>
        </p:nvSpPr>
        <p:spPr/>
        <p:txBody>
          <a:bodyPr/>
          <a:lstStyle/>
          <a:p>
            <a:fld id="{3D611FB3-3B76-4B3E-A610-B7E51F4413BB}" type="slidenum">
              <a:rPr lang="zh-CN" altLang="en-US" smtClean="0"/>
              <a:t>5</a:t>
            </a:fld>
            <a:endParaRPr lang="zh-CN" altLang="en-US"/>
          </a:p>
        </p:txBody>
      </p:sp>
    </p:spTree>
    <p:extLst>
      <p:ext uri="{BB962C8B-B14F-4D97-AF65-F5344CB8AC3E}">
        <p14:creationId xmlns:p14="http://schemas.microsoft.com/office/powerpoint/2010/main" val="27230323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针对这一问题，现有研究主要集中在三个方向。第一类是工作流编排本身，比如流程描述、状态维护和运行时调度；第二类是通用性能优化，比如冷启动优化、资源供给和通信与 I/O </a:t>
            </a:r>
            <a:r>
              <a:rPr lang="en-US" altLang="zh-CN" dirty="0" err="1"/>
              <a:t>开销控制；第三类开始关注投机执行，也就是在分支结果尚未完全确定前，提前触发可能的后继函数</a:t>
            </a:r>
            <a:r>
              <a:rPr lang="en-US" altLang="zh-CN" dirty="0"/>
              <a:t>。
但是总体来看，现有方法仍然以保守触发语义为主，很难真正突破控制不确定性带来的等待瓶颈。另一方面，投机执行虽然提供了一个很有潜力的思路，但相关研究还比较少，特别是在输入相关分支和动态负载场景下，现有方法稳定性不足。</a:t>
            </a:r>
            <a:endParaRPr lang="zh-CN" altLang="en-US" dirty="0"/>
          </a:p>
        </p:txBody>
      </p:sp>
      <p:sp>
        <p:nvSpPr>
          <p:cNvPr id="4" name="灯片编号占位符 3"/>
          <p:cNvSpPr>
            <a:spLocks noGrp="1"/>
          </p:cNvSpPr>
          <p:nvPr>
            <p:ph type="sldNum" sz="quarter" idx="5"/>
          </p:nvPr>
        </p:nvSpPr>
        <p:spPr/>
        <p:txBody>
          <a:bodyPr/>
          <a:lstStyle/>
          <a:p>
            <a:fld id="{3D611FB3-3B76-4B3E-A610-B7E51F4413BB}" type="slidenum">
              <a:rPr lang="zh-CN" altLang="en-US" smtClean="0"/>
              <a:t>6</a:t>
            </a:fld>
            <a:endParaRPr lang="zh-CN" altLang="en-US"/>
          </a:p>
        </p:txBody>
      </p:sp>
    </p:spTree>
    <p:extLst>
      <p:ext uri="{BB962C8B-B14F-4D97-AF65-F5344CB8AC3E}">
        <p14:creationId xmlns:p14="http://schemas.microsoft.com/office/powerpoint/2010/main" val="41997865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基于前面的分析，本文将问题定位为：面向输入相关与动态变化场景的</a:t>
            </a:r>
            <a:r>
              <a:rPr lang="en-US" altLang="zh-CN" dirty="0"/>
              <a:t> Serverless </a:t>
            </a:r>
            <a:r>
              <a:rPr lang="en-US" altLang="zh-CN" dirty="0" err="1"/>
              <a:t>工作流投机执行优化</a:t>
            </a:r>
            <a:r>
              <a:rPr lang="en-US" altLang="zh-CN" dirty="0"/>
              <a:t>。
围绕这个问题，我的研究目标有三个。第一，是给出统一描述，构建一个可工程实现的投机执行模型和支撑框架；第二，是在预测层面提升分支判断的准确性和适应性；第三，是在不改变原有语义的前提下，尽可能获得稳定的端到端收益。也就是说，既要快，也要保证正确。</a:t>
            </a:r>
            <a:endParaRPr lang="zh-CN" altLang="en-US" dirty="0"/>
          </a:p>
        </p:txBody>
      </p:sp>
      <p:sp>
        <p:nvSpPr>
          <p:cNvPr id="4" name="灯片编号占位符 3"/>
          <p:cNvSpPr>
            <a:spLocks noGrp="1"/>
          </p:cNvSpPr>
          <p:nvPr>
            <p:ph type="sldNum" sz="quarter" idx="5"/>
          </p:nvPr>
        </p:nvSpPr>
        <p:spPr/>
        <p:txBody>
          <a:bodyPr/>
          <a:lstStyle/>
          <a:p>
            <a:fld id="{3D611FB3-3B76-4B3E-A610-B7E51F4413BB}" type="slidenum">
              <a:rPr lang="zh-CN" altLang="en-US" smtClean="0"/>
              <a:t>7</a:t>
            </a:fld>
            <a:endParaRPr lang="zh-CN" altLang="en-US"/>
          </a:p>
        </p:txBody>
      </p:sp>
    </p:spTree>
    <p:extLst>
      <p:ext uri="{BB962C8B-B14F-4D97-AF65-F5344CB8AC3E}">
        <p14:creationId xmlns:p14="http://schemas.microsoft.com/office/powerpoint/2010/main" val="38356385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接下来进入第二部分，方法设计</a:t>
            </a:r>
            <a:r>
              <a:rPr lang="en-US" altLang="zh-CN" dirty="0"/>
              <a:t>。</a:t>
            </a:r>
            <a:endParaRPr lang="zh-CN" altLang="en-US" dirty="0"/>
          </a:p>
        </p:txBody>
      </p:sp>
      <p:sp>
        <p:nvSpPr>
          <p:cNvPr id="4" name="灯片编号占位符 3"/>
          <p:cNvSpPr>
            <a:spLocks noGrp="1"/>
          </p:cNvSpPr>
          <p:nvPr>
            <p:ph type="sldNum" sz="quarter" idx="10"/>
          </p:nvPr>
        </p:nvSpPr>
        <p:spPr/>
        <p:txBody>
          <a:bodyPr/>
          <a:lstStyle/>
          <a:p>
            <a:fld id="{3D611FB3-3B76-4B3E-A610-B7E51F4413BB}" type="slidenum">
              <a:rPr lang="zh-CN" altLang="en-US" smtClean="0"/>
              <a:t>8</a:t>
            </a:fld>
            <a:endParaRPr lang="zh-CN" altLang="en-US"/>
          </a:p>
        </p:txBody>
      </p:sp>
    </p:spTree>
    <p:extLst>
      <p:ext uri="{BB962C8B-B14F-4D97-AF65-F5344CB8AC3E}">
        <p14:creationId xmlns:p14="http://schemas.microsoft.com/office/powerpoint/2010/main" val="36985956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本文提出的整体方案叫做</a:t>
            </a:r>
            <a:r>
              <a:rPr lang="en-US" altLang="zh-CN" dirty="0"/>
              <a:t> </a:t>
            </a:r>
            <a:r>
              <a:rPr lang="en-US" altLang="zh-CN" dirty="0" err="1"/>
              <a:t>SpecSW，用于优化</a:t>
            </a:r>
            <a:r>
              <a:rPr lang="en-US" altLang="zh-CN" dirty="0"/>
              <a:t> Serverless </a:t>
            </a:r>
            <a:r>
              <a:rPr lang="en-US" altLang="zh-CN" dirty="0" err="1"/>
              <a:t>工作流中的投机执行。这里可以看到整个方案包含三类角色：用户、Serverless</a:t>
            </a:r>
            <a:r>
              <a:rPr lang="en-US" altLang="zh-CN" dirty="0"/>
              <a:t> </a:t>
            </a:r>
            <a:r>
              <a:rPr lang="en-US" altLang="zh-CN" dirty="0" err="1"/>
              <a:t>平台，以及位于中间的</a:t>
            </a:r>
            <a:r>
              <a:rPr lang="en-US" altLang="zh-CN" dirty="0"/>
              <a:t> </a:t>
            </a:r>
            <a:r>
              <a:rPr lang="en-US" altLang="zh-CN" dirty="0" err="1"/>
              <a:t>SpecSW</a:t>
            </a:r>
            <a:r>
              <a:rPr lang="en-US" altLang="zh-CN" dirty="0"/>
              <a:t> </a:t>
            </a:r>
            <a:r>
              <a:rPr lang="en-US" altLang="zh-CN" dirty="0" err="1"/>
              <a:t>系统</a:t>
            </a:r>
            <a:r>
              <a:rPr lang="en-US" altLang="zh-CN" dirty="0"/>
              <a:t>。
它的基本运行机制可以概括为四步：先预测，再门控，然后对投机状态进行缓冲隔离，最后做验证与恢复。具体来说，就是在真实分支结果还没有揭示时，系统先预测最有可能的后继路径，并提前执行高概率候选；等真实结果出来后，如果预测正确就提交，如果预测错误就撤销。这样做的目标，是在保持语义一致的前提下，把原本必须串行等待的时间，转化为可并行推进的计算时间。</a:t>
            </a:r>
            <a:endParaRPr lang="zh-CN" altLang="en-US" dirty="0"/>
          </a:p>
        </p:txBody>
      </p:sp>
      <p:sp>
        <p:nvSpPr>
          <p:cNvPr id="4" name="灯片编号占位符 3"/>
          <p:cNvSpPr>
            <a:spLocks noGrp="1"/>
          </p:cNvSpPr>
          <p:nvPr>
            <p:ph type="sldNum" sz="quarter" idx="5"/>
          </p:nvPr>
        </p:nvSpPr>
        <p:spPr/>
        <p:txBody>
          <a:bodyPr/>
          <a:lstStyle/>
          <a:p>
            <a:fld id="{3D611FB3-3B76-4B3E-A610-B7E51F4413BB}" type="slidenum">
              <a:rPr lang="zh-CN" altLang="en-US" smtClean="0"/>
              <a:t>9</a:t>
            </a:fld>
            <a:endParaRPr lang="zh-CN" altLang="en-US"/>
          </a:p>
        </p:txBody>
      </p:sp>
    </p:spTree>
    <p:extLst>
      <p:ext uri="{BB962C8B-B14F-4D97-AF65-F5344CB8AC3E}">
        <p14:creationId xmlns:p14="http://schemas.microsoft.com/office/powerpoint/2010/main" val="42303014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为了统一描述这个过程，本文进一步抽象出一个投机执行模型。模型包含六个核心组成部分：工作流本身、控制器、预测器、门控与预算、状态缓冲，以及验证与恢复。
其中，控制器负责运行时决策；预测器负责估计各个候选分支的概率；门控与预算决定是否值得投机以及投机到什么程度；状态缓冲用于隔离投机期间产生的中间状态和副作用；验证与恢复则在真实结果揭示后完成提交或回滚。
这个模型的重要意义在于，它把投机执行从某个具体系统中的零散技巧，上升为一个可以统一描述、可工程实现的方法框架，也为后续优化点的展开提供了清晰接口。</a:t>
            </a:r>
            <a:endParaRPr lang="zh-CN" altLang="en-US" dirty="0"/>
          </a:p>
        </p:txBody>
      </p:sp>
      <p:sp>
        <p:nvSpPr>
          <p:cNvPr id="4" name="灯片编号占位符 3"/>
          <p:cNvSpPr>
            <a:spLocks noGrp="1"/>
          </p:cNvSpPr>
          <p:nvPr>
            <p:ph type="sldNum" sz="quarter" idx="5"/>
          </p:nvPr>
        </p:nvSpPr>
        <p:spPr/>
        <p:txBody>
          <a:bodyPr/>
          <a:lstStyle/>
          <a:p>
            <a:fld id="{3D611FB3-3B76-4B3E-A610-B7E51F4413BB}" type="slidenum">
              <a:rPr lang="zh-CN" altLang="en-US" smtClean="0"/>
              <a:t>10</a:t>
            </a:fld>
            <a:endParaRPr lang="zh-CN" altLang="en-US"/>
          </a:p>
        </p:txBody>
      </p:sp>
    </p:spTree>
    <p:extLst>
      <p:ext uri="{BB962C8B-B14F-4D97-AF65-F5344CB8AC3E}">
        <p14:creationId xmlns:p14="http://schemas.microsoft.com/office/powerpoint/2010/main" val="19645585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在这个模型里，最关键的模块之一就是预测器。现有工作通常比较粗略：它往往根据历史调用频率估计候选路径概率，再结合已经到达的路径作为上下文，最后对超过阈值的路径提前发起投机执行。
这类方法的问题在于，它默认历史统计足够稳定，但真实工作流并不总是这样。很多分支的走向其实与当前输入强相关；另外，线上环境的请求分布也会随时间变化。如果还是只看长时间的平均统计，就容易造成误预测，进而带来额外浪费。因此，本文的关键优化就是围绕这两个不足展开。</a:t>
            </a:r>
            <a:endParaRPr lang="zh-CN" altLang="en-US" dirty="0"/>
          </a:p>
        </p:txBody>
      </p:sp>
      <p:sp>
        <p:nvSpPr>
          <p:cNvPr id="4" name="灯片编号占位符 3"/>
          <p:cNvSpPr>
            <a:spLocks noGrp="1"/>
          </p:cNvSpPr>
          <p:nvPr>
            <p:ph type="sldNum" sz="quarter" idx="5"/>
          </p:nvPr>
        </p:nvSpPr>
        <p:spPr/>
        <p:txBody>
          <a:bodyPr/>
          <a:lstStyle/>
          <a:p>
            <a:fld id="{3D611FB3-3B76-4B3E-A610-B7E51F4413BB}" type="slidenum">
              <a:rPr lang="zh-CN" altLang="en-US" smtClean="0"/>
              <a:t>11</a:t>
            </a:fld>
            <a:endParaRPr lang="zh-CN" altLang="en-US"/>
          </a:p>
        </p:txBody>
      </p:sp>
    </p:spTree>
    <p:extLst>
      <p:ext uri="{BB962C8B-B14F-4D97-AF65-F5344CB8AC3E}">
        <p14:creationId xmlns:p14="http://schemas.microsoft.com/office/powerpoint/2010/main" val="21928474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第一个优化点是输入感知。所谓输入相关分支，就是分支走向会明显受到当前函数输入影响。针对这种情况，本文的核心思路是：除了路径级的整体统计之外，再引入桶级统计，也就是先把输入映射到不同桶，再分别统计各个桶内的分支概率。
这样做的好处是，预测不再只依赖全局平均，而是能够更细粒度地利用输入特征。当然，桶级统计会面临冷启动和数据稀疏问题，所以本文又设计了两个配套机制。第一是回退混合：在初期样本不足时更多相信路径级统计，随着数据增多再逐步提升桶级统计的权重。第二是自适应启用：只有当桶级统计相比路径级统计体现出足够可靠性时，系统才启用它。通过这两个设计，可以在提升精度的同时避免过拟合和噪声放大。</a:t>
            </a:r>
            <a:endParaRPr lang="zh-CN" altLang="en-US" dirty="0"/>
          </a:p>
        </p:txBody>
      </p:sp>
      <p:sp>
        <p:nvSpPr>
          <p:cNvPr id="4" name="灯片编号占位符 3"/>
          <p:cNvSpPr>
            <a:spLocks noGrp="1"/>
          </p:cNvSpPr>
          <p:nvPr>
            <p:ph type="sldNum" sz="quarter" idx="5"/>
          </p:nvPr>
        </p:nvSpPr>
        <p:spPr/>
        <p:txBody>
          <a:bodyPr/>
          <a:lstStyle/>
          <a:p>
            <a:fld id="{3D611FB3-3B76-4B3E-A610-B7E51F4413BB}" type="slidenum">
              <a:rPr lang="zh-CN" altLang="en-US" smtClean="0"/>
              <a:t>12</a:t>
            </a:fld>
            <a:endParaRPr lang="zh-CN" altLang="en-US"/>
          </a:p>
        </p:txBody>
      </p:sp>
    </p:spTree>
    <p:extLst>
      <p:ext uri="{BB962C8B-B14F-4D97-AF65-F5344CB8AC3E}">
        <p14:creationId xmlns:p14="http://schemas.microsoft.com/office/powerpoint/2010/main" val="33961349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第二个优化点是分布漂移适应。这里的分布漂移，是指分支行为可能会随着时间发生缓慢变化，甚至在某些场景下出现突变。针对这个问题，本文没有只采用单一统计方式，而是结合了指数衰减统计和滑动窗口统计。
指数衰减统计的思想是让越新的样本权重越高、越旧的样本影响越小，因此更适合处理渐进变化；滑动窗口统计则直接只看最近一段时间的数据，更有利于快速响应突变。
在此基础上，本文又设计了双阈值滞回式切换机制：当两类统计的判断差异足够大时，优先相信更能反映近期行为的滑动窗口；而在差异不明显时，则保持原有选择，避免频繁来回切换。这样可以在响应速度和稳定性之间取得更好的平衡。</a:t>
            </a:r>
            <a:endParaRPr lang="zh-CN" altLang="en-US" dirty="0"/>
          </a:p>
        </p:txBody>
      </p:sp>
      <p:sp>
        <p:nvSpPr>
          <p:cNvPr id="4" name="灯片编号占位符 3"/>
          <p:cNvSpPr>
            <a:spLocks noGrp="1"/>
          </p:cNvSpPr>
          <p:nvPr>
            <p:ph type="sldNum" sz="quarter" idx="5"/>
          </p:nvPr>
        </p:nvSpPr>
        <p:spPr/>
        <p:txBody>
          <a:bodyPr/>
          <a:lstStyle/>
          <a:p>
            <a:fld id="{3D611FB3-3B76-4B3E-A610-B7E51F4413BB}" type="slidenum">
              <a:rPr lang="zh-CN" altLang="en-US" smtClean="0"/>
              <a:t>13</a:t>
            </a:fld>
            <a:endParaRPr lang="zh-CN" altLang="en-US"/>
          </a:p>
        </p:txBody>
      </p:sp>
    </p:spTree>
    <p:extLst>
      <p:ext uri="{BB962C8B-B14F-4D97-AF65-F5344CB8AC3E}">
        <p14:creationId xmlns:p14="http://schemas.microsoft.com/office/powerpoint/2010/main" val="3359616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最后，在联合使用这两类优化时，本文采取了相对保守的策略。原因是输入感知和漂移适应同时启用时，统计样本会进一步被切分，如果处理不当，反而可能因为样本过少导致不稳定。
因此，本文在联合策略下只启用指数衰减这一种漂移适应方式，以控制复杂度并降低噪声影响。这个设计体现的思想是：联合优化不是简单叠加，而是要优先保证鲁棒性。</a:t>
            </a:r>
            <a:endParaRPr lang="zh-CN" altLang="en-US" dirty="0"/>
          </a:p>
        </p:txBody>
      </p:sp>
      <p:sp>
        <p:nvSpPr>
          <p:cNvPr id="4" name="灯片编号占位符 3"/>
          <p:cNvSpPr>
            <a:spLocks noGrp="1"/>
          </p:cNvSpPr>
          <p:nvPr>
            <p:ph type="sldNum" sz="quarter" idx="5"/>
          </p:nvPr>
        </p:nvSpPr>
        <p:spPr/>
        <p:txBody>
          <a:bodyPr/>
          <a:lstStyle/>
          <a:p>
            <a:fld id="{3D611FB3-3B76-4B3E-A610-B7E51F4413BB}" type="slidenum">
              <a:rPr lang="zh-CN" altLang="en-US" smtClean="0"/>
              <a:t>14</a:t>
            </a:fld>
            <a:endParaRPr lang="zh-CN" altLang="en-US"/>
          </a:p>
        </p:txBody>
      </p:sp>
    </p:spTree>
    <p:extLst>
      <p:ext uri="{BB962C8B-B14F-4D97-AF65-F5344CB8AC3E}">
        <p14:creationId xmlns:p14="http://schemas.microsoft.com/office/powerpoint/2010/main" val="31525022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下面进入第三部分，系统实现与实验验证</a:t>
            </a:r>
            <a:r>
              <a:rPr lang="en-US" altLang="zh-CN" dirty="0"/>
              <a:t>。</a:t>
            </a:r>
            <a:endParaRPr lang="zh-CN" altLang="en-US" dirty="0"/>
          </a:p>
        </p:txBody>
      </p:sp>
      <p:sp>
        <p:nvSpPr>
          <p:cNvPr id="4" name="灯片编号占位符 3"/>
          <p:cNvSpPr>
            <a:spLocks noGrp="1"/>
          </p:cNvSpPr>
          <p:nvPr>
            <p:ph type="sldNum" sz="quarter" idx="10"/>
          </p:nvPr>
        </p:nvSpPr>
        <p:spPr/>
        <p:txBody>
          <a:bodyPr/>
          <a:lstStyle/>
          <a:p>
            <a:fld id="{3D611FB3-3B76-4B3E-A610-B7E51F4413BB}" type="slidenum">
              <a:rPr lang="zh-CN" altLang="en-US" smtClean="0"/>
              <a:t>15</a:t>
            </a:fld>
            <a:endParaRPr lang="zh-CN" altLang="en-US"/>
          </a:p>
        </p:txBody>
      </p:sp>
    </p:spTree>
    <p:extLst>
      <p:ext uri="{BB962C8B-B14F-4D97-AF65-F5344CB8AC3E}">
        <p14:creationId xmlns:p14="http://schemas.microsoft.com/office/powerpoint/2010/main" val="1219186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基于前面的设计，本文实现了一个原型系统。从总体架构上看，系统包括工作流定义、运行配置、控制与执行模块，以及状态管理和验证恢复模块。
</a:t>
            </a:r>
            <a:r>
              <a:rPr lang="en-US" altLang="zh-CN" dirty="0" err="1"/>
              <a:t>在用户接口方面，本文提供了工作流定义与运行配置方式，并实现了</a:t>
            </a:r>
            <a:r>
              <a:rPr lang="en-US" altLang="zh-CN" dirty="0"/>
              <a:t> </a:t>
            </a:r>
            <a:r>
              <a:rPr lang="en-US" altLang="zh-CN" dirty="0" err="1"/>
              <a:t>specx</a:t>
            </a:r>
            <a:r>
              <a:rPr lang="en-US" altLang="zh-CN" dirty="0"/>
              <a:t> </a:t>
            </a:r>
            <a:r>
              <a:rPr lang="en-US" altLang="zh-CN" dirty="0" err="1"/>
              <a:t>命令行工具，方便用户提交、运行和管理工作流实验。系统同时支持不同执行后端，包括本地执行环境和</a:t>
            </a:r>
            <a:r>
              <a:rPr lang="en-US" altLang="zh-CN" dirty="0"/>
              <a:t> OpenWhisk </a:t>
            </a:r>
            <a:r>
              <a:rPr lang="en-US" altLang="zh-CN" dirty="0" err="1"/>
              <a:t>执行后端，从而为后面的功能验证和性能实验提供统一支撑</a:t>
            </a:r>
            <a:r>
              <a:rPr lang="en-US" altLang="zh-CN" dirty="0"/>
              <a:t>。</a:t>
            </a:r>
          </a:p>
          <a:p>
            <a:endParaRPr lang="zh-CN" altLang="en-US" dirty="0"/>
          </a:p>
        </p:txBody>
      </p:sp>
      <p:sp>
        <p:nvSpPr>
          <p:cNvPr id="4" name="灯片编号占位符 3"/>
          <p:cNvSpPr>
            <a:spLocks noGrp="1"/>
          </p:cNvSpPr>
          <p:nvPr>
            <p:ph type="sldNum" sz="quarter" idx="5"/>
          </p:nvPr>
        </p:nvSpPr>
        <p:spPr/>
        <p:txBody>
          <a:bodyPr/>
          <a:lstStyle/>
          <a:p>
            <a:fld id="{3D611FB3-3B76-4B3E-A610-B7E51F4413BB}" type="slidenum">
              <a:rPr lang="zh-CN" altLang="en-US" smtClean="0"/>
              <a:t>16</a:t>
            </a:fld>
            <a:endParaRPr lang="zh-CN" altLang="en-US"/>
          </a:p>
        </p:txBody>
      </p:sp>
    </p:spTree>
    <p:extLst>
      <p:ext uri="{BB962C8B-B14F-4D97-AF65-F5344CB8AC3E}">
        <p14:creationId xmlns:p14="http://schemas.microsoft.com/office/powerpoint/2010/main" val="13606921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为了系统性验证本文方案，实验设计围绕四个研究问题展开。RQ1 是仿真实验，用于回答预测优化机制本身是否有效；RQ2 是功能实验，验证系统能不能在保证语义一致的前提下正确加速；RQ3 是性能实验，考察真实应用中的端到端收益；RQ4 </a:t>
            </a:r>
            <a:r>
              <a:rPr lang="en-US" altLang="zh-CN" dirty="0" err="1"/>
              <a:t>是消融实验，用来解释各个关键设计到底有没有必要。这样的设计逻辑，是从机制、功能到性能，再到原因分析，逐层展开</a:t>
            </a:r>
            <a:r>
              <a:rPr lang="en-US" altLang="zh-CN" dirty="0"/>
              <a:t>。</a:t>
            </a:r>
            <a:endParaRPr lang="zh-CN" altLang="en-US" dirty="0"/>
          </a:p>
        </p:txBody>
      </p:sp>
      <p:sp>
        <p:nvSpPr>
          <p:cNvPr id="4" name="灯片编号占位符 3"/>
          <p:cNvSpPr>
            <a:spLocks noGrp="1"/>
          </p:cNvSpPr>
          <p:nvPr>
            <p:ph type="sldNum" sz="quarter" idx="5"/>
          </p:nvPr>
        </p:nvSpPr>
        <p:spPr/>
        <p:txBody>
          <a:bodyPr/>
          <a:lstStyle/>
          <a:p>
            <a:fld id="{3D611FB3-3B76-4B3E-A610-B7E51F4413BB}" type="slidenum">
              <a:rPr lang="zh-CN" altLang="en-US" smtClean="0"/>
              <a:t>17</a:t>
            </a:fld>
            <a:endParaRPr lang="zh-CN" altLang="en-US"/>
          </a:p>
        </p:txBody>
      </p:sp>
    </p:spTree>
    <p:extLst>
      <p:ext uri="{BB962C8B-B14F-4D97-AF65-F5344CB8AC3E}">
        <p14:creationId xmlns:p14="http://schemas.microsoft.com/office/powerpoint/2010/main" val="26175277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先看仿真实验。这个实验主要回答核心机制是否有效。为此，本文构建了具有代表性的工作流，并分别模拟输入相关分支和动态负载变化等场景。
实验结果表明，输入感知和分布漂移适应这两类机制，都能够显著降低误预测率和无效投机带来的浪费时间，整体趋势符合预期。进一步地，在复合场景下，联合机制也表现出较好的综合效果。
从现象上看，如果输入分布越均衡，说明桶级统计更有机会发挥作用，那么输入感知带来的收益就越明显；而如果分布突变越强，说明近期信息越重要，那么分布漂移适应机制的优势也会更加突出。</a:t>
            </a:r>
          </a:p>
          <a:p>
            <a:endParaRPr lang="zh-CN" altLang="en-US" dirty="0"/>
          </a:p>
        </p:txBody>
      </p:sp>
      <p:sp>
        <p:nvSpPr>
          <p:cNvPr id="4" name="灯片编号占位符 3"/>
          <p:cNvSpPr>
            <a:spLocks noGrp="1"/>
          </p:cNvSpPr>
          <p:nvPr>
            <p:ph type="sldNum" sz="quarter" idx="5"/>
          </p:nvPr>
        </p:nvSpPr>
        <p:spPr/>
        <p:txBody>
          <a:bodyPr/>
          <a:lstStyle/>
          <a:p>
            <a:fld id="{3D611FB3-3B76-4B3E-A610-B7E51F4413BB}" type="slidenum">
              <a:rPr lang="zh-CN" altLang="en-US" smtClean="0"/>
              <a:t>18</a:t>
            </a:fld>
            <a:endParaRPr lang="zh-CN" altLang="en-US"/>
          </a:p>
        </p:txBody>
      </p:sp>
    </p:spTree>
    <p:extLst>
      <p:ext uri="{BB962C8B-B14F-4D97-AF65-F5344CB8AC3E}">
        <p14:creationId xmlns:p14="http://schemas.microsoft.com/office/powerpoint/2010/main" val="33088524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功能实验关注的是系统是否“能正确地加速”。这里本文设计了一组功能验证工作流，并采用自动化差分验证的方法，分别比较投机执行和非投机执行两种模式下的最终返回结果、数据库状态以及对外可见消息记录。
</a:t>
            </a:r>
            <a:r>
              <a:rPr lang="en-US" altLang="zh-CN" dirty="0" err="1"/>
              <a:t>实验结果显示，在本地执行后端和</a:t>
            </a:r>
            <a:r>
              <a:rPr lang="en-US" altLang="zh-CN" dirty="0"/>
              <a:t> OpenWhisk 后端上，所有测试工作流都通过了语义一致性验证，同时也验证了投机机制本身是有效的。也就是说，系统不仅能够提前做事，而且不会把错误路径的副作用暴露出去。</a:t>
            </a:r>
            <a:endParaRPr lang="zh-CN" altLang="en-US" dirty="0"/>
          </a:p>
        </p:txBody>
      </p:sp>
      <p:sp>
        <p:nvSpPr>
          <p:cNvPr id="4" name="灯片编号占位符 3"/>
          <p:cNvSpPr>
            <a:spLocks noGrp="1"/>
          </p:cNvSpPr>
          <p:nvPr>
            <p:ph type="sldNum" sz="quarter" idx="5"/>
          </p:nvPr>
        </p:nvSpPr>
        <p:spPr/>
        <p:txBody>
          <a:bodyPr/>
          <a:lstStyle/>
          <a:p>
            <a:fld id="{3D611FB3-3B76-4B3E-A610-B7E51F4413BB}" type="slidenum">
              <a:rPr lang="zh-CN" altLang="en-US" smtClean="0"/>
              <a:t>19</a:t>
            </a:fld>
            <a:endParaRPr lang="zh-CN" altLang="en-US"/>
          </a:p>
        </p:txBody>
      </p:sp>
    </p:spTree>
    <p:extLst>
      <p:ext uri="{BB962C8B-B14F-4D97-AF65-F5344CB8AC3E}">
        <p14:creationId xmlns:p14="http://schemas.microsoft.com/office/powerpoint/2010/main" val="39767515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性能实验主要回答一个问题：在真实应用中，本文的方法到底能带来多大收益。这里本文选择了三类工作流作为代表，分别是请求路由与风控流、事件日志分析与告警流，以及内容感知媒体处理流。同时设置了 stable 和 drift </a:t>
            </a:r>
            <a:r>
              <a:rPr lang="en-US" altLang="zh-CN" dirty="0" err="1"/>
              <a:t>两种分布场景，以及高、中、低三种并发水平</a:t>
            </a:r>
            <a:r>
              <a:rPr lang="en-US" altLang="zh-CN" dirty="0"/>
              <a:t>。
</a:t>
            </a:r>
            <a:r>
              <a:rPr lang="en-US" altLang="zh-CN" dirty="0" err="1"/>
              <a:t>结果表明，本文方法带来了比较稳定的整体提升：平均加速比提高了</a:t>
            </a:r>
            <a:r>
              <a:rPr lang="en-US" altLang="zh-CN" dirty="0"/>
              <a:t> 22.73%，P95 </a:t>
            </a:r>
            <a:r>
              <a:rPr lang="en-US" altLang="zh-CN" dirty="0" err="1"/>
              <a:t>尾延迟下降了</a:t>
            </a:r>
            <a:r>
              <a:rPr lang="en-US" altLang="zh-CN" dirty="0"/>
              <a:t> 10.3%，</a:t>
            </a:r>
            <a:r>
              <a:rPr lang="en-US" altLang="zh-CN" dirty="0" err="1"/>
              <a:t>误预测率平均降低了</a:t>
            </a:r>
            <a:r>
              <a:rPr lang="en-US" altLang="zh-CN" dirty="0"/>
              <a:t> 5.78 </a:t>
            </a:r>
            <a:r>
              <a:rPr lang="en-US" altLang="zh-CN" dirty="0" err="1"/>
              <a:t>个百分点</a:t>
            </a:r>
            <a:r>
              <a:rPr lang="en-US" altLang="zh-CN" dirty="0"/>
              <a:t>。
另外，实验还显示，当并发更高、漂移更强、输入相关性更明显时，优化效果会更突出。这也说明本文提出的机制确实是针对这些关键痛点发挥作用，而不是只在某一个特定案例中有效。</a:t>
            </a:r>
            <a:endParaRPr lang="zh-CN" altLang="en-US" dirty="0"/>
          </a:p>
        </p:txBody>
      </p:sp>
      <p:sp>
        <p:nvSpPr>
          <p:cNvPr id="4" name="灯片编号占位符 3"/>
          <p:cNvSpPr>
            <a:spLocks noGrp="1"/>
          </p:cNvSpPr>
          <p:nvPr>
            <p:ph type="sldNum" sz="quarter" idx="5"/>
          </p:nvPr>
        </p:nvSpPr>
        <p:spPr/>
        <p:txBody>
          <a:bodyPr/>
          <a:lstStyle/>
          <a:p>
            <a:fld id="{3D611FB3-3B76-4B3E-A610-B7E51F4413BB}" type="slidenum">
              <a:rPr lang="zh-CN" altLang="en-US" smtClean="0"/>
              <a:t>20</a:t>
            </a:fld>
            <a:endParaRPr lang="zh-CN" altLang="en-US"/>
          </a:p>
        </p:txBody>
      </p:sp>
    </p:spTree>
    <p:extLst>
      <p:ext uri="{BB962C8B-B14F-4D97-AF65-F5344CB8AC3E}">
        <p14:creationId xmlns:p14="http://schemas.microsoft.com/office/powerpoint/2010/main" val="28100615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最后是消融实验，用来回答关键设计是否必要。结果首先表明，在输入感知策略中，自适应混合在稀疏噪声场景下能够明显降低误预测率，说明单纯使用桶级统计并不稳妥，必须结合样本可靠性做权重调节。
</a:t>
            </a:r>
            <a:r>
              <a:rPr lang="en-US" altLang="zh-CN" dirty="0" err="1"/>
              <a:t>其次，在分布漂移适应方面，无论是强漂移还是弱漂移场景，综合策略都优于单独使用指数衰减或滑动窗口统计，说明两者确实具有互补性</a:t>
            </a:r>
            <a:r>
              <a:rPr lang="en-US" altLang="zh-CN" dirty="0"/>
              <a:t>。
最后，对于联合优化策略，实验显示它在多种场景下的鲁棒性最好，跨场景表现最稳健。这也从侧面说明，本文的系统设计不是针对单一情形做的局部调优，而具有一定通用性。</a:t>
            </a:r>
            <a:endParaRPr lang="zh-CN" altLang="en-US" dirty="0"/>
          </a:p>
        </p:txBody>
      </p:sp>
      <p:sp>
        <p:nvSpPr>
          <p:cNvPr id="4" name="灯片编号占位符 3"/>
          <p:cNvSpPr>
            <a:spLocks noGrp="1"/>
          </p:cNvSpPr>
          <p:nvPr>
            <p:ph type="sldNum" sz="quarter" idx="5"/>
          </p:nvPr>
        </p:nvSpPr>
        <p:spPr/>
        <p:txBody>
          <a:bodyPr/>
          <a:lstStyle/>
          <a:p>
            <a:fld id="{3D611FB3-3B76-4B3E-A610-B7E51F4413BB}" type="slidenum">
              <a:rPr lang="zh-CN" altLang="en-US" smtClean="0"/>
              <a:t>21</a:t>
            </a:fld>
            <a:endParaRPr lang="zh-CN" altLang="en-US"/>
          </a:p>
        </p:txBody>
      </p:sp>
    </p:spTree>
    <p:extLst>
      <p:ext uri="{BB962C8B-B14F-4D97-AF65-F5344CB8AC3E}">
        <p14:creationId xmlns:p14="http://schemas.microsoft.com/office/powerpoint/2010/main" val="18519153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最后进入第四部分，结论与展望</a:t>
            </a:r>
            <a:r>
              <a:rPr lang="en-US" altLang="zh-CN" dirty="0"/>
              <a:t>。</a:t>
            </a:r>
            <a:endParaRPr lang="zh-CN" altLang="en-US" dirty="0"/>
          </a:p>
        </p:txBody>
      </p:sp>
      <p:sp>
        <p:nvSpPr>
          <p:cNvPr id="4" name="灯片编号占位符 3"/>
          <p:cNvSpPr>
            <a:spLocks noGrp="1"/>
          </p:cNvSpPr>
          <p:nvPr>
            <p:ph type="sldNum" sz="quarter" idx="10"/>
          </p:nvPr>
        </p:nvSpPr>
        <p:spPr/>
        <p:txBody>
          <a:bodyPr/>
          <a:lstStyle/>
          <a:p>
            <a:fld id="{3D611FB3-3B76-4B3E-A610-B7E51F4413BB}" type="slidenum">
              <a:rPr lang="zh-CN" altLang="en-US" smtClean="0"/>
              <a:t>22</a:t>
            </a:fld>
            <a:endParaRPr lang="zh-CN" altLang="en-US"/>
          </a:p>
        </p:txBody>
      </p:sp>
    </p:spTree>
    <p:extLst>
      <p:ext uri="{BB962C8B-B14F-4D97-AF65-F5344CB8AC3E}">
        <p14:creationId xmlns:p14="http://schemas.microsoft.com/office/powerpoint/2010/main" val="8006914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本文围绕</a:t>
            </a:r>
            <a:r>
              <a:rPr lang="en-US" altLang="zh-CN" dirty="0"/>
              <a:t> Serverless 工作流端到端优化问题，构建了一个统一的投机执行框架，并在此基础上提出了输入感知和漂移适应相结合的分支预测方法。通过系统实现和多层次实验验证，可以看到，这些设计在不改变语义的前提下，能够有效改善特定场景下的端到端时延和投机稳定性。
未来的工作主要有四个方向。第一，继续研究参数的自适应配置，让系统减少人工调参成本；第二，扩展到更复杂的工作流结构和更多执行平台；第三，引入更多工作流类型和负载模式，开展更大规模的实验验证；第四，进一步从单纯追求性能，扩展到性能与成本协同优化。</a:t>
            </a:r>
            <a:endParaRPr lang="zh-CN" altLang="en-US" dirty="0"/>
          </a:p>
        </p:txBody>
      </p:sp>
      <p:sp>
        <p:nvSpPr>
          <p:cNvPr id="4" name="灯片编号占位符 3"/>
          <p:cNvSpPr>
            <a:spLocks noGrp="1"/>
          </p:cNvSpPr>
          <p:nvPr>
            <p:ph type="sldNum" sz="quarter" idx="5"/>
          </p:nvPr>
        </p:nvSpPr>
        <p:spPr/>
        <p:txBody>
          <a:bodyPr/>
          <a:lstStyle/>
          <a:p>
            <a:fld id="{3D611FB3-3B76-4B3E-A610-B7E51F4413BB}" type="slidenum">
              <a:rPr lang="zh-CN" altLang="en-US" smtClean="0"/>
              <a:t>23</a:t>
            </a:fld>
            <a:endParaRPr lang="zh-CN" altLang="en-US"/>
          </a:p>
        </p:txBody>
      </p:sp>
    </p:spTree>
    <p:extLst>
      <p:ext uri="{BB962C8B-B14F-4D97-AF65-F5344CB8AC3E}">
        <p14:creationId xmlns:p14="http://schemas.microsoft.com/office/powerpoint/2010/main" val="15216697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我的汇报到这里结束。感谢各位老师的聆听，恳请批评指正</a:t>
            </a:r>
            <a:r>
              <a:rPr lang="en-US" altLang="zh-CN" dirty="0"/>
              <a:t>。</a:t>
            </a:r>
            <a:endParaRPr lang="zh-CN" altLang="en-US" dirty="0"/>
          </a:p>
        </p:txBody>
      </p:sp>
      <p:sp>
        <p:nvSpPr>
          <p:cNvPr id="4" name="灯片编号占位符 3"/>
          <p:cNvSpPr>
            <a:spLocks noGrp="1"/>
          </p:cNvSpPr>
          <p:nvPr>
            <p:ph type="sldNum" sz="quarter" idx="5"/>
          </p:nvPr>
        </p:nvSpPr>
        <p:spPr/>
        <p:txBody>
          <a:bodyPr/>
          <a:lstStyle/>
          <a:p>
            <a:fld id="{3D611FB3-3B76-4B3E-A610-B7E51F4413BB}" type="slidenum">
              <a:rPr lang="zh-CN" altLang="en-US" smtClean="0"/>
              <a:t>24</a:t>
            </a:fld>
            <a:endParaRPr lang="zh-CN" altLang="en-US"/>
          </a:p>
        </p:txBody>
      </p:sp>
    </p:spTree>
    <p:extLst>
      <p:ext uri="{BB962C8B-B14F-4D97-AF65-F5344CB8AC3E}">
        <p14:creationId xmlns:p14="http://schemas.microsoft.com/office/powerpoint/2010/main" val="9826043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4.jpeg"/><Relationship Id="rId5" Type="http://schemas.microsoft.com/office/2007/relationships/hdphoto" Target="../media/hdphoto1.wdp"/><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6" Type="http://schemas.microsoft.com/office/2007/relationships/hdphoto" Target="../media/hdphoto2.wdp"/><Relationship Id="rId5" Type="http://schemas.openxmlformats.org/officeDocument/2006/relationships/image" Target="../media/image8.png"/><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5" Type="http://schemas.openxmlformats.org/officeDocument/2006/relationships/image" Target="../media/image2.png"/><Relationship Id="rId4"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6" Type="http://schemas.microsoft.com/office/2007/relationships/hdphoto" Target="../media/hdphoto2.wdp"/><Relationship Id="rId5" Type="http://schemas.openxmlformats.org/officeDocument/2006/relationships/image" Target="../media/image8.png"/><Relationship Id="rId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0AFC9F72-C157-4B88-8326-B193C6A6EE17}" type="datetime1">
              <a:rPr lang="zh-CN" altLang="en-US" smtClean="0"/>
              <a:t>2026/4/20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6CB85E4-9B6E-41B6-BE28-34B8FDE32807}"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55C69DE-83B3-457D-A7BC-BF898793C6D2}" type="datetime1">
              <a:rPr lang="zh-CN" altLang="en-US" smtClean="0"/>
              <a:t>2026/4/20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6CB85E4-9B6E-41B6-BE28-34B8FDE32807}"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12423"/>
            <a:ext cx="10515600" cy="2851208"/>
          </a:xfrm>
        </p:spPr>
        <p:txBody>
          <a:bodyPr anchor="b">
            <a:normAutofit/>
          </a:bodyPr>
          <a:lstStyle>
            <a:lvl1pPr>
              <a:defRPr sz="4500" b="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1" y="4552639"/>
            <a:ext cx="10515600" cy="1500187"/>
          </a:xfrm>
        </p:spPr>
        <p:txBody>
          <a:bodyPr anchor="t">
            <a:normAutofit/>
          </a:bodyPr>
          <a:lstStyle>
            <a:lvl1pPr marL="0" indent="0">
              <a:buNone/>
              <a:defRPr sz="180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9A7209BD-4D76-49EA-9978-816F26B6B355}" type="datetime1">
              <a:rPr lang="zh-CN" altLang="en-US" smtClean="0"/>
              <a:t>2026/4/20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6CB85E4-9B6E-41B6-BE28-34B8FDE32807}"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45127" y="1828803"/>
            <a:ext cx="5181600" cy="4351337"/>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6172200" y="1828803"/>
            <a:ext cx="5181600" cy="4351337"/>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FD146D90-AF55-4F17-8B66-E96529220BB8}" type="datetime1">
              <a:rPr lang="zh-CN" altLang="en-US" smtClean="0"/>
              <a:t>2026/4/20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6CB85E4-9B6E-41B6-BE28-34B8FDE32807}"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845127" y="1681852"/>
            <a:ext cx="5156200" cy="825699"/>
          </a:xfrm>
        </p:spPr>
        <p:txBody>
          <a:bodyPr anchor="b">
            <a:normAutofit/>
          </a:bodyP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Content Placeholder 3"/>
          <p:cNvSpPr>
            <a:spLocks noGrp="1"/>
          </p:cNvSpPr>
          <p:nvPr>
            <p:ph sz="half" idx="2" hasCustomPrompt="1"/>
          </p:nvPr>
        </p:nvSpPr>
        <p:spPr>
          <a:xfrm>
            <a:off x="845127" y="2507556"/>
            <a:ext cx="5156200" cy="36805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6172204" y="1681851"/>
            <a:ext cx="5181601" cy="825698"/>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Content Placeholder 5"/>
          <p:cNvSpPr>
            <a:spLocks noGrp="1"/>
          </p:cNvSpPr>
          <p:nvPr>
            <p:ph sz="quarter" idx="4" hasCustomPrompt="1"/>
          </p:nvPr>
        </p:nvSpPr>
        <p:spPr>
          <a:xfrm>
            <a:off x="6172204" y="2507556"/>
            <a:ext cx="5181601" cy="36805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Date Placeholder 6"/>
          <p:cNvSpPr>
            <a:spLocks noGrp="1"/>
          </p:cNvSpPr>
          <p:nvPr>
            <p:ph type="dt" sz="half" idx="10"/>
          </p:nvPr>
        </p:nvSpPr>
        <p:spPr/>
        <p:txBody>
          <a:bodyPr/>
          <a:lstStyle/>
          <a:p>
            <a:fld id="{EEA9E71D-0FE6-4E0B-9AFD-DCC4EB547111}" type="datetime1">
              <a:rPr lang="zh-CN" altLang="en-US" smtClean="0"/>
              <a:t>2026/4/20</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C6CB85E4-9B6E-41B6-BE28-34B8FDE32807}" type="slidenum">
              <a:rPr lang="zh-CN" altLang="en-US" smtClean="0"/>
              <a:t>‹#›</a:t>
            </a:fld>
            <a:endParaRPr lang="zh-CN" altLang="en-US"/>
          </a:p>
        </p:txBody>
      </p:sp>
      <p:sp>
        <p:nvSpPr>
          <p:cNvPr id="10" name="Title 9"/>
          <p:cNvSpPr>
            <a:spLocks noGrp="1"/>
          </p:cNvSpPr>
          <p:nvPr>
            <p:ph type="title"/>
          </p:nvPr>
        </p:nvSpPr>
        <p:spPr/>
        <p:txBody>
          <a:bodyPr/>
          <a:lstStyle/>
          <a:p>
            <a:r>
              <a:rPr lang="zh-CN" altLang="en-US"/>
              <a:t>单击此处编辑母版标题样式</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B8EA095-54FA-4444-8527-2FB755A9A164}" type="datetime1">
              <a:rPr lang="zh-CN" altLang="en-US" smtClean="0"/>
              <a:t>2026/4/20</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C6CB85E4-9B6E-41B6-BE28-34B8FDE32807}" type="slidenum">
              <a:rPr lang="zh-CN" altLang="en-US" smtClean="0"/>
              <a:t>‹#›</a:t>
            </a:fld>
            <a:endParaRPr lang="zh-CN" altLang="en-US"/>
          </a:p>
        </p:txBody>
      </p:sp>
      <p:sp>
        <p:nvSpPr>
          <p:cNvPr id="6" name="Title 5"/>
          <p:cNvSpPr>
            <a:spLocks noGrp="1"/>
          </p:cNvSpPr>
          <p:nvPr>
            <p:ph type="title"/>
          </p:nvPr>
        </p:nvSpPr>
        <p:spPr/>
        <p:txBody>
          <a:bodyPr/>
          <a:lstStyle/>
          <a:p>
            <a:r>
              <a:rPr lang="zh-CN" altLang="en-US"/>
              <a:t>单击此处编辑母版标题样式</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4254FC-1999-43FC-BADA-FB3A117CB452}" type="datetime1">
              <a:rPr lang="zh-CN" altLang="en-US" smtClean="0"/>
              <a:t>2026/4/20</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C6CB85E4-9B6E-41B6-BE28-34B8FDE32807}"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6"/>
            <a:ext cx="3931920" cy="1600197"/>
          </a:xfrm>
        </p:spPr>
        <p:txBody>
          <a:bodyPr anchor="b">
            <a:normAutofit/>
          </a:bodyPr>
          <a:lstStyle>
            <a:lvl1pPr>
              <a:defRPr sz="2400" b="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1600" y="990600"/>
            <a:ext cx="6172200" cy="48768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841248" y="2057399"/>
            <a:ext cx="3931920" cy="3810001"/>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编辑母版文本样式</a:t>
            </a:r>
          </a:p>
        </p:txBody>
      </p:sp>
      <p:sp>
        <p:nvSpPr>
          <p:cNvPr id="5" name="Date Placeholder 4"/>
          <p:cNvSpPr>
            <a:spLocks noGrp="1"/>
          </p:cNvSpPr>
          <p:nvPr>
            <p:ph type="dt" sz="half" idx="10"/>
          </p:nvPr>
        </p:nvSpPr>
        <p:spPr/>
        <p:txBody>
          <a:bodyPr/>
          <a:lstStyle/>
          <a:p>
            <a:fld id="{2496544A-1E01-44AA-AC6A-964B538E06DB}" type="datetime1">
              <a:rPr lang="zh-CN" altLang="en-US" smtClean="0"/>
              <a:t>2026/4/20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6CB85E4-9B6E-41B6-BE28-34B8FDE32807}"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2400" b="0"/>
            </a:lvl1pPr>
          </a:lstStyle>
          <a:p>
            <a:r>
              <a:rPr lang="zh-CN" altLang="en-US"/>
              <a:t>单击此处编辑母版标题样式</a:t>
            </a:r>
            <a:endParaRPr lang="en-US" dirty="0"/>
          </a:p>
        </p:txBody>
      </p:sp>
      <p:sp>
        <p:nvSpPr>
          <p:cNvPr id="3" name="Picture Placeholder 2"/>
          <p:cNvSpPr>
            <a:spLocks noGrp="1"/>
          </p:cNvSpPr>
          <p:nvPr>
            <p:ph type="pic" idx="1"/>
          </p:nvPr>
        </p:nvSpPr>
        <p:spPr>
          <a:xfrm>
            <a:off x="5181600" y="990600"/>
            <a:ext cx="6172200" cy="4876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41248" y="2057400"/>
            <a:ext cx="3931920" cy="3810000"/>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编辑母版文本样式</a:t>
            </a:r>
          </a:p>
        </p:txBody>
      </p:sp>
      <p:sp>
        <p:nvSpPr>
          <p:cNvPr id="5" name="Date Placeholder 4"/>
          <p:cNvSpPr>
            <a:spLocks noGrp="1"/>
          </p:cNvSpPr>
          <p:nvPr>
            <p:ph type="dt" sz="half" idx="10"/>
          </p:nvPr>
        </p:nvSpPr>
        <p:spPr/>
        <p:txBody>
          <a:bodyPr/>
          <a:lstStyle/>
          <a:p>
            <a:fld id="{0E1BDC5E-1903-4DCF-ACB2-A5573D5D739A}" type="datetime1">
              <a:rPr lang="zh-CN" altLang="en-US" smtClean="0"/>
              <a:t>2026/4/20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6CB85E4-9B6E-41B6-BE28-34B8FDE32807}"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A463ACA-D204-4B17-BCBB-96BE6FD6CAE4}" type="datetime1">
              <a:rPr lang="zh-CN" altLang="en-US" smtClean="0"/>
              <a:t>2026/4/20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6CB85E4-9B6E-41B6-BE28-34B8FDE32807}"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0362"/>
            <a:ext cx="2628900"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hasCustomPrompt="1"/>
          </p:nvPr>
        </p:nvSpPr>
        <p:spPr>
          <a:xfrm>
            <a:off x="838203" y="360368"/>
            <a:ext cx="7734300" cy="5811837"/>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A99440DF-CC3E-4A3F-A56F-7897125079D9}" type="datetime1">
              <a:rPr lang="zh-CN" altLang="en-US" smtClean="0"/>
              <a:t>2026/4/20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6CB85E4-9B6E-41B6-BE28-34B8FDE32807}"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0" y="3602045"/>
            <a:ext cx="9144000" cy="1438277"/>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endParaRPr lang="en-US" dirty="0"/>
          </a:p>
        </p:txBody>
      </p:sp>
      <p:pic>
        <p:nvPicPr>
          <p:cNvPr id="7" name="图片 6"/>
          <p:cNvPicPr>
            <a:picLocks noChangeAspect="1"/>
          </p:cNvPicPr>
          <p:nvPr/>
        </p:nvPicPr>
        <p:blipFill rotWithShape="1">
          <a:blip r:embed="rId2">
            <a:extLst>
              <a:ext uri="{28A0092B-C50C-407E-A947-70E740481C1C}">
                <a14:useLocalDpi xmlns:a14="http://schemas.microsoft.com/office/drawing/2010/main" val="0"/>
              </a:ext>
            </a:extLst>
          </a:blip>
          <a:srcRect l="81790"/>
          <a:stretch>
            <a:fillRect/>
          </a:stretch>
        </p:blipFill>
        <p:spPr>
          <a:xfrm>
            <a:off x="10174309" y="5132390"/>
            <a:ext cx="1179491" cy="1143000"/>
          </a:xfrm>
          <a:prstGeom prst="rect">
            <a:avLst/>
          </a:prstGeom>
        </p:spPr>
      </p:pic>
      <p:pic>
        <p:nvPicPr>
          <p:cNvPr id="5" name="图片 1"/>
          <p:cNvPicPr>
            <a:picLocks noChangeAspect="1"/>
          </p:cNvPicPr>
          <p:nvPr userDrawn="1"/>
        </p:nvPicPr>
        <p:blipFill>
          <a:blip r:embed="rId3">
            <a:extLst>
              <a:ext uri="{28A0092B-C50C-407E-A947-70E740481C1C}">
                <a14:useLocalDpi xmlns:a14="http://schemas.microsoft.com/office/drawing/2010/main" val="0"/>
              </a:ext>
            </a:extLst>
          </a:blip>
          <a:srcRect l="20909" t="16678" r="5909" b="21508"/>
          <a:stretch>
            <a:fillRect/>
          </a:stretch>
        </p:blipFill>
        <p:spPr>
          <a:xfrm>
            <a:off x="9243267" y="157018"/>
            <a:ext cx="2715491" cy="899542"/>
          </a:xfrm>
          <a:prstGeom prst="rect">
            <a:avLst/>
          </a:prstGeom>
        </p:spPr>
      </p:pic>
      <p:sp>
        <p:nvSpPr>
          <p:cNvPr id="6" name="矩形 5"/>
          <p:cNvSpPr/>
          <p:nvPr userDrawn="1"/>
        </p:nvSpPr>
        <p:spPr>
          <a:xfrm>
            <a:off x="0" y="2423693"/>
            <a:ext cx="12192000" cy="1634837"/>
          </a:xfrm>
          <a:prstGeom prst="rect">
            <a:avLst/>
          </a:prstGeom>
          <a:solidFill>
            <a:srgbClr val="6A0160"/>
          </a:solidFill>
          <a:ln>
            <a:solidFill>
              <a:srgbClr val="6A01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Picture 4" descr="https://ss1.bdstatic.com/70cFuXSh_Q1YnxGkpoWK1HF6hhy/it/u=895424434,4021804793&amp;fm=27&amp;gp=0.jpg"/>
          <p:cNvPicPr>
            <a:picLocks noChangeAspect="1" noChangeArrowheads="1"/>
          </p:cNvPicPr>
          <p:nvPr userDrawn="1"/>
        </p:nvPicPr>
        <p:blipFill>
          <a:blip r:embed="rId4">
            <a:extLst>
              <a:ext uri="{BEBA8EAE-BF5A-486C-A8C5-ECC9F3942E4B}">
                <a14:imgProps xmlns:a14="http://schemas.microsoft.com/office/drawing/2010/main">
                  <a14:imgLayer r:embed="rId5">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tretch>
            <a:fillRect/>
          </a:stretch>
        </p:blipFill>
        <p:spPr bwMode="auto">
          <a:xfrm>
            <a:off x="312868" y="794598"/>
            <a:ext cx="2288886" cy="2870263"/>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7"/>
          <p:cNvSpPr/>
          <p:nvPr userDrawn="1"/>
        </p:nvSpPr>
        <p:spPr>
          <a:xfrm>
            <a:off x="0" y="4132421"/>
            <a:ext cx="12192000" cy="73892"/>
          </a:xfrm>
          <a:prstGeom prst="rect">
            <a:avLst/>
          </a:prstGeom>
          <a:solidFill>
            <a:srgbClr val="6A0160"/>
          </a:solidFill>
          <a:ln>
            <a:solidFill>
              <a:srgbClr val="6A01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8333232" y="4291584"/>
            <a:ext cx="3858768" cy="2566416"/>
          </a:xfrm>
          <a:prstGeom prst="rect">
            <a:avLst/>
          </a:prstGeom>
        </p:spPr>
      </p:pic>
      <p:sp>
        <p:nvSpPr>
          <p:cNvPr id="11" name="Text Placeholder 59"/>
          <p:cNvSpPr>
            <a:spLocks noGrp="1"/>
          </p:cNvSpPr>
          <p:nvPr>
            <p:ph type="body" sz="quarter" idx="17" hasCustomPrompt="1"/>
          </p:nvPr>
        </p:nvSpPr>
        <p:spPr>
          <a:xfrm>
            <a:off x="3581400" y="2755900"/>
            <a:ext cx="8016875" cy="1143000"/>
          </a:xfrm>
        </p:spPr>
        <p:txBody>
          <a:bodyPr anchor="ctr">
            <a:normAutofit/>
          </a:bodyPr>
          <a:lstStyle>
            <a:lvl1pPr marL="0" indent="0" algn="ctr">
              <a:buNone/>
              <a:defRPr sz="3600">
                <a:solidFill>
                  <a:schemeClr val="bg1"/>
                </a:solidFill>
                <a:latin typeface="微软雅黑" panose="020B0503020204020204" pitchFamily="34" charset="-122"/>
                <a:ea typeface="微软雅黑" panose="020B0503020204020204" pitchFamily="34" charset="-122"/>
              </a:defRPr>
            </a:lvl1pPr>
          </a:lstStyle>
          <a:p>
            <a:pPr lvl="0"/>
            <a:r>
              <a:rPr lang="en-US" dirty="0" err="1"/>
              <a:t>论文标题</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9" name="内容占位符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36059"/>
            <a:ext cx="12192000" cy="521942"/>
          </a:xfrm>
          <a:prstGeom prst="rect">
            <a:avLst/>
          </a:prstGeom>
        </p:spPr>
      </p:pic>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1859" y="6345581"/>
            <a:ext cx="646772" cy="497778"/>
          </a:xfrm>
          <a:prstGeom prst="rect">
            <a:avLst/>
          </a:prstGeom>
        </p:spPr>
      </p:pic>
      <p:pic>
        <p:nvPicPr>
          <p:cNvPr id="11" name="图片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2643" y="6379613"/>
            <a:ext cx="457143" cy="429714"/>
          </a:xfrm>
          <a:prstGeom prst="rect">
            <a:avLst/>
          </a:prstGeom>
        </p:spPr>
      </p:pic>
      <p:sp>
        <p:nvSpPr>
          <p:cNvPr id="12" name="灯片编号占位符 18"/>
          <p:cNvSpPr>
            <a:spLocks noGrp="1"/>
          </p:cNvSpPr>
          <p:nvPr>
            <p:ph type="sldNum" sz="quarter" idx="12"/>
          </p:nvPr>
        </p:nvSpPr>
        <p:spPr>
          <a:xfrm>
            <a:off x="9257372" y="6411915"/>
            <a:ext cx="2743200" cy="365125"/>
          </a:xfrm>
        </p:spPr>
        <p:txBody>
          <a:bodyPr/>
          <a:lstStyle>
            <a:lvl1pPr>
              <a:defRPr sz="1600">
                <a:solidFill>
                  <a:schemeClr val="bg1"/>
                </a:solidFill>
              </a:defRPr>
            </a:lvl1pPr>
          </a:lstStyle>
          <a:p>
            <a:fld id="{C6CB85E4-9B6E-41B6-BE28-34B8FDE32807}" type="slidenum">
              <a:rPr lang="zh-CN" altLang="en-US" smtClean="0"/>
              <a:t>‹#›</a:t>
            </a:fld>
            <a:endParaRPr lang="zh-CN" altLang="en-US" dirty="0"/>
          </a:p>
        </p:txBody>
      </p:sp>
      <p:sp>
        <p:nvSpPr>
          <p:cNvPr id="13" name="日期占位符 17"/>
          <p:cNvSpPr>
            <a:spLocks noGrp="1"/>
          </p:cNvSpPr>
          <p:nvPr>
            <p:ph type="dt" sz="half" idx="10"/>
          </p:nvPr>
        </p:nvSpPr>
        <p:spPr>
          <a:xfrm>
            <a:off x="9257372" y="6411915"/>
            <a:ext cx="2743200" cy="365125"/>
          </a:xfrm>
        </p:spPr>
        <p:txBody>
          <a:bodyPr/>
          <a:lstStyle>
            <a:lvl1pPr>
              <a:defRPr sz="1100">
                <a:solidFill>
                  <a:schemeClr val="bg1"/>
                </a:solidFill>
              </a:defRPr>
            </a:lvl1pPr>
          </a:lstStyle>
          <a:p>
            <a:fld id="{A4278CB3-A231-43EA-B174-675ACFD3117C}" type="datetime1">
              <a:rPr lang="zh-CN" altLang="en-US" smtClean="0"/>
              <a:t>2026/4/20</a:t>
            </a:fld>
            <a:endParaRPr lang="zh-CN" altLang="en-US" dirty="0"/>
          </a:p>
        </p:txBody>
      </p:sp>
      <p:cxnSp>
        <p:nvCxnSpPr>
          <p:cNvPr id="15" name="直接连接符 8"/>
          <p:cNvCxnSpPr/>
          <p:nvPr userDrawn="1"/>
        </p:nvCxnSpPr>
        <p:spPr>
          <a:xfrm>
            <a:off x="1147779" y="848260"/>
            <a:ext cx="10738786" cy="0"/>
          </a:xfrm>
          <a:prstGeom prst="line">
            <a:avLst/>
          </a:prstGeom>
          <a:ln w="28575" cmpd="sng">
            <a:solidFill>
              <a:srgbClr val="6A0160"/>
            </a:solidFill>
            <a:prstDash val="solid"/>
          </a:ln>
        </p:spPr>
        <p:style>
          <a:lnRef idx="1">
            <a:schemeClr val="accent1"/>
          </a:lnRef>
          <a:fillRef idx="0">
            <a:schemeClr val="accent1"/>
          </a:fillRef>
          <a:effectRef idx="0">
            <a:schemeClr val="accent1"/>
          </a:effectRef>
          <a:fontRef idx="minor">
            <a:schemeClr val="tx1"/>
          </a:fontRef>
        </p:style>
      </p:cxnSp>
      <p:pic>
        <p:nvPicPr>
          <p:cNvPr id="16" name="Picture 4" descr="https://ss1.bdstatic.com/70cFuXSh_Q1YnxGkpoWK1HF6hhy/it/u=895424434,4021804793&amp;fm=27&amp;gp=0.jpg"/>
          <p:cNvPicPr>
            <a:picLocks noChangeAspect="1" noChangeArrowheads="1"/>
          </p:cNvPicPr>
          <p:nvPr userDrawn="1"/>
        </p:nvPicPr>
        <p:blipFill>
          <a:blip r:embed="rId5">
            <a:extLst>
              <a:ext uri="{BEBA8EAE-BF5A-486C-A8C5-ECC9F3942E4B}">
                <a14:imgProps xmlns:a14="http://schemas.microsoft.com/office/drawing/2010/main">
                  <a14:imgLayer r:embed="rId6">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tretch>
            <a:fillRect/>
          </a:stretch>
        </p:blipFill>
        <p:spPr bwMode="auto">
          <a:xfrm>
            <a:off x="260664" y="270910"/>
            <a:ext cx="677359" cy="849408"/>
          </a:xfrm>
          <a:prstGeom prst="rect">
            <a:avLst/>
          </a:prstGeom>
          <a:noFill/>
          <a:extLst>
            <a:ext uri="{909E8E84-426E-40DD-AFC4-6F175D3DCCD1}">
              <a14:hiddenFill xmlns:a14="http://schemas.microsoft.com/office/drawing/2010/main">
                <a:solidFill>
                  <a:srgbClr val="FFFFFF"/>
                </a:solidFill>
              </a14:hiddenFill>
            </a:ext>
          </a:extLst>
        </p:spPr>
      </p:pic>
      <p:sp>
        <p:nvSpPr>
          <p:cNvPr id="17" name="Text Placeholder 9"/>
          <p:cNvSpPr>
            <a:spLocks noGrp="1"/>
          </p:cNvSpPr>
          <p:nvPr>
            <p:ph type="body" sz="quarter" idx="13" hasCustomPrompt="1"/>
          </p:nvPr>
        </p:nvSpPr>
        <p:spPr>
          <a:xfrm>
            <a:off x="1147779" y="270910"/>
            <a:ext cx="3599174" cy="436606"/>
          </a:xfrm>
        </p:spPr>
        <p:txBody>
          <a:bodyPr>
            <a:noAutofit/>
          </a:bodyPr>
          <a:lstStyle>
            <a:lvl1pPr marL="0" indent="0" algn="just">
              <a:buNone/>
              <a:defRPr sz="2400" b="1">
                <a:latin typeface="微软雅黑" panose="020B0503020204020204" pitchFamily="34" charset="-122"/>
                <a:ea typeface="微软雅黑" panose="020B0503020204020204" pitchFamily="34" charset="-122"/>
              </a:defRPr>
            </a:lvl1pPr>
          </a:lstStyle>
          <a:p>
            <a:pPr lvl="0"/>
            <a:r>
              <a:rPr lang="en-US" dirty="0"/>
              <a:t>第</a:t>
            </a:r>
            <a:r>
              <a:rPr lang="zh-CN" altLang="en-US" dirty="0"/>
              <a:t> </a:t>
            </a:r>
            <a:r>
              <a:rPr lang="en-US" altLang="zh-CN" dirty="0"/>
              <a:t>X</a:t>
            </a:r>
            <a:r>
              <a:rPr lang="zh-CN" altLang="en-US" dirty="0"/>
              <a:t> </a:t>
            </a:r>
            <a:r>
              <a:rPr lang="en-US" dirty="0"/>
              <a:t>部分</a:t>
            </a:r>
            <a:r>
              <a:rPr lang="zh-CN" altLang="en-US" dirty="0"/>
              <a:t> 节标题</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7" name="内容占位符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36059"/>
            <a:ext cx="12192000" cy="521942"/>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1859" y="6345581"/>
            <a:ext cx="646772" cy="497778"/>
          </a:xfrm>
          <a:prstGeom prst="rect">
            <a:avLst/>
          </a:prstGeom>
        </p:spPr>
      </p:pic>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2643" y="6379613"/>
            <a:ext cx="457143" cy="429714"/>
          </a:xfrm>
          <a:prstGeom prst="rect">
            <a:avLst/>
          </a:prstGeom>
        </p:spPr>
      </p:pic>
      <p:sp>
        <p:nvSpPr>
          <p:cNvPr id="10" name="灯片编号占位符 18"/>
          <p:cNvSpPr>
            <a:spLocks noGrp="1"/>
          </p:cNvSpPr>
          <p:nvPr>
            <p:ph type="sldNum" sz="quarter" idx="12"/>
          </p:nvPr>
        </p:nvSpPr>
        <p:spPr>
          <a:xfrm>
            <a:off x="9257372" y="6408313"/>
            <a:ext cx="2743200" cy="365125"/>
          </a:xfrm>
        </p:spPr>
        <p:txBody>
          <a:bodyPr/>
          <a:lstStyle>
            <a:lvl1pPr>
              <a:defRPr sz="1600">
                <a:solidFill>
                  <a:schemeClr val="bg1"/>
                </a:solidFill>
              </a:defRPr>
            </a:lvl1pPr>
          </a:lstStyle>
          <a:p>
            <a:fld id="{C6CB85E4-9B6E-41B6-BE28-34B8FDE32807}" type="slidenum">
              <a:rPr lang="zh-CN" altLang="en-US" smtClean="0"/>
              <a:t>‹#›</a:t>
            </a:fld>
            <a:endParaRPr lang="zh-CN" altLang="en-US" dirty="0"/>
          </a:p>
        </p:txBody>
      </p:sp>
      <p:sp>
        <p:nvSpPr>
          <p:cNvPr id="11" name="日期占位符 17"/>
          <p:cNvSpPr>
            <a:spLocks noGrp="1"/>
          </p:cNvSpPr>
          <p:nvPr>
            <p:ph type="dt" sz="half" idx="10"/>
          </p:nvPr>
        </p:nvSpPr>
        <p:spPr>
          <a:xfrm>
            <a:off x="9257372" y="6411915"/>
            <a:ext cx="2743200" cy="365125"/>
          </a:xfrm>
        </p:spPr>
        <p:txBody>
          <a:bodyPr/>
          <a:lstStyle>
            <a:lvl1pPr>
              <a:defRPr sz="1050">
                <a:solidFill>
                  <a:schemeClr val="bg1"/>
                </a:solidFill>
              </a:defRPr>
            </a:lvl1pPr>
          </a:lstStyle>
          <a:p>
            <a:fld id="{490C2987-3FD1-4A87-B467-8131E3A7921F}" type="datetime1">
              <a:rPr lang="zh-CN" altLang="en-US" smtClean="0"/>
              <a:t>2026/4/20</a:t>
            </a:fld>
            <a:endParaRPr lang="zh-CN" altLang="en-US" dirty="0"/>
          </a:p>
        </p:txBody>
      </p:sp>
      <p:pic>
        <p:nvPicPr>
          <p:cNvPr id="12" name="图片 15"/>
          <p:cNvPicPr>
            <a:picLocks noChangeAspect="1"/>
          </p:cNvPicPr>
          <p:nvPr userDrawn="1"/>
        </p:nvPicPr>
        <p:blipFill>
          <a:blip r:embed="rId5">
            <a:extLst>
              <a:ext uri="{28A0092B-C50C-407E-A947-70E740481C1C}">
                <a14:useLocalDpi xmlns:a14="http://schemas.microsoft.com/office/drawing/2010/main" val="0"/>
              </a:ext>
            </a:extLst>
          </a:blip>
          <a:srcRect l="20909" t="16678" r="5909" b="21508"/>
          <a:stretch>
            <a:fillRect/>
          </a:stretch>
        </p:blipFill>
        <p:spPr>
          <a:xfrm>
            <a:off x="184970" y="229755"/>
            <a:ext cx="2120900" cy="702576"/>
          </a:xfrm>
          <a:prstGeom prst="rect">
            <a:avLst/>
          </a:prstGeom>
        </p:spPr>
      </p:pic>
      <p:sp>
        <p:nvSpPr>
          <p:cNvPr id="13" name="矩形 1"/>
          <p:cNvSpPr/>
          <p:nvPr userDrawn="1"/>
        </p:nvSpPr>
        <p:spPr>
          <a:xfrm>
            <a:off x="126366" y="2361565"/>
            <a:ext cx="4359008" cy="1583690"/>
          </a:xfrm>
          <a:prstGeom prst="rect">
            <a:avLst/>
          </a:prstGeom>
          <a:solidFill>
            <a:srgbClr val="6A0160"/>
          </a:solidFill>
          <a:ln>
            <a:solidFill>
              <a:srgbClr val="6A0160"/>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4" name="矩形 7"/>
          <p:cNvSpPr/>
          <p:nvPr userDrawn="1"/>
        </p:nvSpPr>
        <p:spPr>
          <a:xfrm>
            <a:off x="0" y="2008505"/>
            <a:ext cx="12192000" cy="252727"/>
          </a:xfrm>
          <a:prstGeom prst="rect">
            <a:avLst/>
          </a:prstGeom>
          <a:solidFill>
            <a:srgbClr val="6A0160"/>
          </a:solidFill>
          <a:ln>
            <a:solidFill>
              <a:srgbClr val="6A0160"/>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5" name="矩形 9"/>
          <p:cNvSpPr/>
          <p:nvPr userDrawn="1"/>
        </p:nvSpPr>
        <p:spPr>
          <a:xfrm>
            <a:off x="4672497" y="2357756"/>
            <a:ext cx="200025" cy="1584012"/>
          </a:xfrm>
          <a:prstGeom prst="rect">
            <a:avLst/>
          </a:prstGeom>
          <a:solidFill>
            <a:srgbClr val="6A0160"/>
          </a:solidFill>
          <a:ln>
            <a:solidFill>
              <a:srgbClr val="6A01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 Placeholder 15"/>
          <p:cNvSpPr>
            <a:spLocks noGrp="1"/>
          </p:cNvSpPr>
          <p:nvPr>
            <p:ph type="body" sz="quarter" idx="13" hasCustomPrompt="1"/>
          </p:nvPr>
        </p:nvSpPr>
        <p:spPr>
          <a:xfrm>
            <a:off x="838200" y="2792413"/>
            <a:ext cx="2743200" cy="790575"/>
          </a:xfrm>
        </p:spPr>
        <p:txBody>
          <a:bodyPr anchor="ctr">
            <a:normAutofit/>
          </a:bodyPr>
          <a:lstStyle>
            <a:lvl1pPr marL="0" indent="0" algn="ctr">
              <a:buNone/>
              <a:defRPr sz="3200" b="1">
                <a:solidFill>
                  <a:schemeClr val="bg1"/>
                </a:solidFill>
                <a:latin typeface="微软雅黑" panose="020B0503020204020204" pitchFamily="34" charset="-122"/>
                <a:ea typeface="微软雅黑" panose="020B0503020204020204" pitchFamily="34" charset="-122"/>
              </a:defRPr>
            </a:lvl1pPr>
          </a:lstStyle>
          <a:p>
            <a:pPr lvl="0"/>
            <a:r>
              <a:rPr lang="en-US" dirty="0" err="1"/>
              <a:t>第</a:t>
            </a:r>
            <a:r>
              <a:rPr lang="zh-CN" altLang="en-US" dirty="0"/>
              <a:t> </a:t>
            </a:r>
            <a:r>
              <a:rPr lang="en-US" altLang="zh-CN" dirty="0"/>
              <a:t>X</a:t>
            </a:r>
            <a:r>
              <a:rPr lang="zh-CN" altLang="en-US" dirty="0"/>
              <a:t> </a:t>
            </a:r>
            <a:r>
              <a:rPr lang="en-US" dirty="0" err="1"/>
              <a:t>部分</a:t>
            </a:r>
            <a:endParaRPr lang="en-US" dirty="0"/>
          </a:p>
        </p:txBody>
      </p:sp>
      <p:sp>
        <p:nvSpPr>
          <p:cNvPr id="17" name="Text Placeholder 19"/>
          <p:cNvSpPr>
            <a:spLocks noGrp="1"/>
          </p:cNvSpPr>
          <p:nvPr>
            <p:ph type="body" sz="quarter" idx="15" hasCustomPrompt="1"/>
          </p:nvPr>
        </p:nvSpPr>
        <p:spPr>
          <a:xfrm>
            <a:off x="5197475" y="3429000"/>
            <a:ext cx="2463800" cy="512763"/>
          </a:xfrm>
        </p:spPr>
        <p:txBody>
          <a:bodyPr/>
          <a:lstStyle>
            <a:lvl1pPr marL="0" indent="0">
              <a:lnSpc>
                <a:spcPct val="100000"/>
              </a:lnSpc>
              <a:buNone/>
              <a:defRPr sz="2800" b="1">
                <a:latin typeface="微软雅黑" panose="020B0503020204020204" pitchFamily="34" charset="-122"/>
                <a:ea typeface="微软雅黑" panose="020B0503020204020204" pitchFamily="34" charset="-122"/>
              </a:defRPr>
            </a:lvl1pPr>
          </a:lstStyle>
          <a:p>
            <a:pPr lvl="0"/>
            <a:r>
              <a:rPr lang="en-US" dirty="0" err="1"/>
              <a:t>节标题</a:t>
            </a:r>
            <a:endParaRPr lang="en-US" dirty="0"/>
          </a:p>
        </p:txBody>
      </p:sp>
      <p:sp>
        <p:nvSpPr>
          <p:cNvPr id="18" name="Text Placeholder 21"/>
          <p:cNvSpPr>
            <a:spLocks noGrp="1"/>
          </p:cNvSpPr>
          <p:nvPr>
            <p:ph type="body" sz="quarter" idx="16" hasCustomPrompt="1"/>
          </p:nvPr>
        </p:nvSpPr>
        <p:spPr>
          <a:xfrm>
            <a:off x="5197475" y="2519363"/>
            <a:ext cx="2463800" cy="652462"/>
          </a:xfrm>
        </p:spPr>
        <p:txBody>
          <a:bodyPr anchor="ctr">
            <a:normAutofit/>
          </a:bodyPr>
          <a:lstStyle>
            <a:lvl1pPr marL="0" indent="0">
              <a:lnSpc>
                <a:spcPct val="100000"/>
              </a:lnSpc>
              <a:buNone/>
              <a:defRPr sz="3200">
                <a:solidFill>
                  <a:srgbClr val="6A0160"/>
                </a:solidFill>
                <a:latin typeface="Impact" panose="020B0806030902050204" pitchFamily="34" charset="0"/>
              </a:defRPr>
            </a:lvl1pPr>
          </a:lstStyle>
          <a:p>
            <a:pPr lvl="0"/>
            <a:r>
              <a:rPr lang="en-US" dirty="0"/>
              <a:t>Section</a:t>
            </a:r>
          </a:p>
        </p:txBody>
      </p:sp>
      <p:sp>
        <p:nvSpPr>
          <p:cNvPr id="19" name="Text Placeholder 23"/>
          <p:cNvSpPr>
            <a:spLocks noGrp="1"/>
          </p:cNvSpPr>
          <p:nvPr>
            <p:ph type="body" sz="quarter" idx="17" hasCustomPrompt="1"/>
          </p:nvPr>
        </p:nvSpPr>
        <p:spPr>
          <a:xfrm>
            <a:off x="5197475" y="4494845"/>
            <a:ext cx="5010215" cy="950912"/>
          </a:xfrm>
        </p:spPr>
        <p:txBody>
          <a:bodyPr>
            <a:normAutofit/>
          </a:bodyPr>
          <a:lstStyle>
            <a:lvl1pPr marL="228600" indent="-444500">
              <a:buFont typeface="Wingdings" panose="05000000000000000000" pitchFamily="2" charset="2"/>
              <a:buChar char="q"/>
              <a:defRPr sz="2000">
                <a:latin typeface="微软雅黑" panose="020B0503020204020204" pitchFamily="34" charset="-122"/>
                <a:ea typeface="微软雅黑" panose="020B0503020204020204" pitchFamily="34" charset="-122"/>
              </a:defRPr>
            </a:lvl1pPr>
          </a:lstStyle>
          <a:p>
            <a:pPr lvl="0"/>
            <a:r>
              <a:rPr lang="en-US" dirty="0" err="1"/>
              <a:t>要点</a:t>
            </a:r>
            <a:r>
              <a:rPr lang="zh-CN" altLang="en-US" dirty="0"/>
              <a:t> </a:t>
            </a:r>
            <a:r>
              <a:rPr lang="en-US" altLang="zh-CN" dirty="0"/>
              <a:t>1</a:t>
            </a:r>
          </a:p>
          <a:p>
            <a:pPr lvl="0"/>
            <a:r>
              <a:rPr lang="en-US" dirty="0" err="1"/>
              <a:t>要点</a:t>
            </a:r>
            <a:r>
              <a:rPr lang="zh-CN" altLang="en-US" dirty="0"/>
              <a:t> </a:t>
            </a:r>
            <a:r>
              <a:rPr lang="en-US" altLang="zh-CN" dirty="0"/>
              <a:t>2</a:t>
            </a: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838200" y="1372755"/>
            <a:ext cx="5181600" cy="480420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6172200" y="1372755"/>
            <a:ext cx="5181600" cy="480420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pic>
        <p:nvPicPr>
          <p:cNvPr id="8" name="内容占位符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36059"/>
            <a:ext cx="12192000" cy="521942"/>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1859" y="6345581"/>
            <a:ext cx="646772" cy="497778"/>
          </a:xfrm>
          <a:prstGeom prst="rect">
            <a:avLst/>
          </a:prstGeom>
        </p:spPr>
      </p:pic>
      <p:pic>
        <p:nvPicPr>
          <p:cNvPr id="10"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2643" y="6379613"/>
            <a:ext cx="457143" cy="429714"/>
          </a:xfrm>
          <a:prstGeom prst="rect">
            <a:avLst/>
          </a:prstGeom>
        </p:spPr>
      </p:pic>
      <p:sp>
        <p:nvSpPr>
          <p:cNvPr id="11" name="灯片编号占位符 18"/>
          <p:cNvSpPr>
            <a:spLocks noGrp="1"/>
          </p:cNvSpPr>
          <p:nvPr>
            <p:ph type="sldNum" sz="quarter" idx="12"/>
          </p:nvPr>
        </p:nvSpPr>
        <p:spPr>
          <a:xfrm>
            <a:off x="9257372" y="6411915"/>
            <a:ext cx="2743200" cy="365125"/>
          </a:xfrm>
        </p:spPr>
        <p:txBody>
          <a:bodyPr/>
          <a:lstStyle>
            <a:lvl1pPr>
              <a:defRPr sz="1050">
                <a:solidFill>
                  <a:schemeClr val="bg1"/>
                </a:solidFill>
              </a:defRPr>
            </a:lvl1pPr>
          </a:lstStyle>
          <a:p>
            <a:fld id="{C6CB85E4-9B6E-41B6-BE28-34B8FDE32807}" type="slidenum">
              <a:rPr lang="zh-CN" altLang="en-US" smtClean="0"/>
              <a:t>‹#›</a:t>
            </a:fld>
            <a:endParaRPr lang="zh-CN" altLang="en-US"/>
          </a:p>
        </p:txBody>
      </p:sp>
      <p:sp>
        <p:nvSpPr>
          <p:cNvPr id="12" name="日期占位符 17"/>
          <p:cNvSpPr>
            <a:spLocks noGrp="1"/>
          </p:cNvSpPr>
          <p:nvPr>
            <p:ph type="dt" sz="half" idx="10"/>
          </p:nvPr>
        </p:nvSpPr>
        <p:spPr>
          <a:xfrm>
            <a:off x="9257372" y="6411915"/>
            <a:ext cx="2743200" cy="365125"/>
          </a:xfrm>
        </p:spPr>
        <p:txBody>
          <a:bodyPr/>
          <a:lstStyle>
            <a:lvl1pPr>
              <a:defRPr sz="1050">
                <a:solidFill>
                  <a:schemeClr val="bg1"/>
                </a:solidFill>
              </a:defRPr>
            </a:lvl1pPr>
          </a:lstStyle>
          <a:p>
            <a:fld id="{88461018-8F6A-44E7-9AF9-58ACE165EE68}" type="datetime1">
              <a:rPr lang="zh-CN" altLang="en-US" smtClean="0"/>
              <a:t>2026/4/20</a:t>
            </a:fld>
            <a:endParaRPr lang="zh-CN" altLang="en-US"/>
          </a:p>
        </p:txBody>
      </p:sp>
      <p:sp>
        <p:nvSpPr>
          <p:cNvPr id="13" name="Title 1"/>
          <p:cNvSpPr>
            <a:spLocks noGrp="1"/>
          </p:cNvSpPr>
          <p:nvPr>
            <p:ph type="title"/>
          </p:nvPr>
        </p:nvSpPr>
        <p:spPr>
          <a:xfrm>
            <a:off x="838200" y="365127"/>
            <a:ext cx="10515600" cy="848532"/>
          </a:xfrm>
        </p:spPr>
        <p:txBody>
          <a:bodyPr/>
          <a:lstStyle/>
          <a:p>
            <a:r>
              <a:rPr lang="zh-CN" altLang="en-US"/>
              <a:t>单击此处编辑母版标题样式</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839789" y="1360055"/>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Content Placeholder 3"/>
          <p:cNvSpPr>
            <a:spLocks noGrp="1"/>
          </p:cNvSpPr>
          <p:nvPr>
            <p:ph sz="half" idx="2" hasCustomPrompt="1"/>
          </p:nvPr>
        </p:nvSpPr>
        <p:spPr>
          <a:xfrm>
            <a:off x="839789" y="2193489"/>
            <a:ext cx="5157787" cy="3996174"/>
          </a:xfrm>
        </p:spPr>
        <p:txBody>
          <a:bodyPr/>
          <a:lstStyle>
            <a:lvl1pPr>
              <a:defRPr u="none" strike="noStrike" kern="1200" cap="none" spc="0" normalizeH="0">
                <a:solidFill>
                  <a:schemeClr val="tx1"/>
                </a:solidFill>
                <a:uFillTx/>
                <a:latin typeface="Gill Sans" panose="020B0502020104020203" charset="0"/>
                <a:ea typeface="等线" panose="02010600030101010101" charset="-122"/>
              </a:defRPr>
            </a:lvl1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6169023" y="1360055"/>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Content Placeholder 5"/>
          <p:cNvSpPr>
            <a:spLocks noGrp="1"/>
          </p:cNvSpPr>
          <p:nvPr>
            <p:ph sz="quarter" idx="4" hasCustomPrompt="1"/>
          </p:nvPr>
        </p:nvSpPr>
        <p:spPr>
          <a:xfrm>
            <a:off x="6172203" y="2193489"/>
            <a:ext cx="5183188" cy="3996174"/>
          </a:xfr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pic>
        <p:nvPicPr>
          <p:cNvPr id="10" name="内容占位符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36059"/>
            <a:ext cx="12192000" cy="521942"/>
          </a:xfrm>
          <a:prstGeom prst="rect">
            <a:avLst/>
          </a:prstGeom>
        </p:spPr>
      </p:pic>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1859" y="6345581"/>
            <a:ext cx="646772" cy="49777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2643" y="6379613"/>
            <a:ext cx="457143" cy="429714"/>
          </a:xfrm>
          <a:prstGeom prst="rect">
            <a:avLst/>
          </a:prstGeom>
        </p:spPr>
      </p:pic>
      <p:sp>
        <p:nvSpPr>
          <p:cNvPr id="13" name="灯片编号占位符 18"/>
          <p:cNvSpPr>
            <a:spLocks noGrp="1"/>
          </p:cNvSpPr>
          <p:nvPr>
            <p:ph type="sldNum" sz="quarter" idx="12"/>
          </p:nvPr>
        </p:nvSpPr>
        <p:spPr>
          <a:xfrm>
            <a:off x="9257372" y="6411914"/>
            <a:ext cx="2743200" cy="365125"/>
          </a:xfrm>
        </p:spPr>
        <p:txBody>
          <a:bodyPr/>
          <a:lstStyle>
            <a:lvl1pPr>
              <a:defRPr sz="1050">
                <a:solidFill>
                  <a:schemeClr val="bg1"/>
                </a:solidFill>
              </a:defRPr>
            </a:lvl1pPr>
          </a:lstStyle>
          <a:p>
            <a:fld id="{C6CB85E4-9B6E-41B6-BE28-34B8FDE32807}" type="slidenum">
              <a:rPr lang="zh-CN" altLang="en-US" smtClean="0"/>
              <a:t>‹#›</a:t>
            </a:fld>
            <a:endParaRPr lang="zh-CN" altLang="en-US"/>
          </a:p>
        </p:txBody>
      </p:sp>
      <p:sp>
        <p:nvSpPr>
          <p:cNvPr id="14" name="日期占位符 17"/>
          <p:cNvSpPr>
            <a:spLocks noGrp="1"/>
          </p:cNvSpPr>
          <p:nvPr>
            <p:ph type="dt" sz="half" idx="10"/>
          </p:nvPr>
        </p:nvSpPr>
        <p:spPr>
          <a:xfrm>
            <a:off x="9257372" y="6411915"/>
            <a:ext cx="2743200" cy="365125"/>
          </a:xfrm>
        </p:spPr>
        <p:txBody>
          <a:bodyPr/>
          <a:lstStyle>
            <a:lvl1pPr>
              <a:defRPr sz="1050">
                <a:solidFill>
                  <a:schemeClr val="bg1"/>
                </a:solidFill>
              </a:defRPr>
            </a:lvl1pPr>
          </a:lstStyle>
          <a:p>
            <a:fld id="{D87EF887-55C5-421C-9242-3A0B3DA1E4B0}" type="datetime1">
              <a:rPr lang="zh-CN" altLang="en-US" smtClean="0"/>
              <a:t>2026/4/20</a:t>
            </a:fld>
            <a:endParaRPr lang="zh-CN" altLang="en-US"/>
          </a:p>
        </p:txBody>
      </p:sp>
      <p:sp>
        <p:nvSpPr>
          <p:cNvPr id="15" name="Title 1"/>
          <p:cNvSpPr>
            <a:spLocks noGrp="1"/>
          </p:cNvSpPr>
          <p:nvPr>
            <p:ph type="title"/>
          </p:nvPr>
        </p:nvSpPr>
        <p:spPr>
          <a:xfrm>
            <a:off x="838200" y="365127"/>
            <a:ext cx="10515600" cy="848532"/>
          </a:xfrm>
        </p:spPr>
        <p:txBody>
          <a:bodyPr/>
          <a:lstStyle/>
          <a:p>
            <a:r>
              <a:rPr lang="zh-CN" altLang="en-US"/>
              <a:t>单击此处编辑母版标题样式</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pic>
        <p:nvPicPr>
          <p:cNvPr id="6" name="内容占位符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36059"/>
            <a:ext cx="12192000" cy="521942"/>
          </a:xfrm>
          <a:prstGeom prst="rect">
            <a:avLst/>
          </a:prstGeom>
        </p:spPr>
      </p:pic>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1859" y="6345581"/>
            <a:ext cx="646772" cy="497778"/>
          </a:xfrm>
          <a:prstGeom prst="rect">
            <a:avLst/>
          </a:prstGeom>
        </p:spPr>
      </p:pic>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2643" y="6379613"/>
            <a:ext cx="457143" cy="429714"/>
          </a:xfrm>
          <a:prstGeom prst="rect">
            <a:avLst/>
          </a:prstGeom>
        </p:spPr>
      </p:pic>
      <p:sp>
        <p:nvSpPr>
          <p:cNvPr id="9" name="灯片编号占位符 18"/>
          <p:cNvSpPr>
            <a:spLocks noGrp="1"/>
          </p:cNvSpPr>
          <p:nvPr>
            <p:ph type="sldNum" sz="quarter" idx="12"/>
          </p:nvPr>
        </p:nvSpPr>
        <p:spPr>
          <a:xfrm>
            <a:off x="9257372" y="6411915"/>
            <a:ext cx="2743200" cy="365125"/>
          </a:xfrm>
        </p:spPr>
        <p:txBody>
          <a:bodyPr/>
          <a:lstStyle>
            <a:lvl1pPr>
              <a:defRPr sz="1600">
                <a:solidFill>
                  <a:schemeClr val="bg1"/>
                </a:solidFill>
              </a:defRPr>
            </a:lvl1pPr>
          </a:lstStyle>
          <a:p>
            <a:fld id="{C6CB85E4-9B6E-41B6-BE28-34B8FDE32807}" type="slidenum">
              <a:rPr lang="zh-CN" altLang="en-US" smtClean="0"/>
              <a:t>‹#›</a:t>
            </a:fld>
            <a:endParaRPr lang="zh-CN" altLang="en-US" dirty="0"/>
          </a:p>
        </p:txBody>
      </p:sp>
      <p:sp>
        <p:nvSpPr>
          <p:cNvPr id="10" name="日期占位符 17"/>
          <p:cNvSpPr>
            <a:spLocks noGrp="1"/>
          </p:cNvSpPr>
          <p:nvPr>
            <p:ph type="dt" sz="half" idx="10"/>
          </p:nvPr>
        </p:nvSpPr>
        <p:spPr>
          <a:xfrm>
            <a:off x="9257372" y="6411915"/>
            <a:ext cx="2168509" cy="365125"/>
          </a:xfrm>
        </p:spPr>
        <p:txBody>
          <a:bodyPr/>
          <a:lstStyle>
            <a:lvl1pPr>
              <a:defRPr sz="1050">
                <a:solidFill>
                  <a:schemeClr val="bg1"/>
                </a:solidFill>
              </a:defRPr>
            </a:lvl1pPr>
          </a:lstStyle>
          <a:p>
            <a:fld id="{7B9061BA-8758-4683-A86E-01B2C41FBB89}" type="datetime1">
              <a:rPr lang="zh-CN" altLang="en-US" smtClean="0"/>
              <a:t>2026/4/20</a:t>
            </a:fld>
            <a:endParaRPr lang="zh-CN" altLang="en-US" dirty="0"/>
          </a:p>
        </p:txBody>
      </p:sp>
      <p:cxnSp>
        <p:nvCxnSpPr>
          <p:cNvPr id="12" name="直接连接符 8"/>
          <p:cNvCxnSpPr/>
          <p:nvPr userDrawn="1"/>
        </p:nvCxnSpPr>
        <p:spPr>
          <a:xfrm>
            <a:off x="1147779" y="848260"/>
            <a:ext cx="10738786" cy="0"/>
          </a:xfrm>
          <a:prstGeom prst="line">
            <a:avLst/>
          </a:prstGeom>
          <a:ln w="28575" cmpd="sng">
            <a:solidFill>
              <a:srgbClr val="6A0160"/>
            </a:solidFill>
            <a:prstDash val="solid"/>
          </a:ln>
        </p:spPr>
        <p:style>
          <a:lnRef idx="1">
            <a:schemeClr val="accent1"/>
          </a:lnRef>
          <a:fillRef idx="0">
            <a:schemeClr val="accent1"/>
          </a:fillRef>
          <a:effectRef idx="0">
            <a:schemeClr val="accent1"/>
          </a:effectRef>
          <a:fontRef idx="minor">
            <a:schemeClr val="tx1"/>
          </a:fontRef>
        </p:style>
      </p:cxnSp>
      <p:pic>
        <p:nvPicPr>
          <p:cNvPr id="13" name="Picture 4" descr="https://ss1.bdstatic.com/70cFuXSh_Q1YnxGkpoWK1HF6hhy/it/u=895424434,4021804793&amp;fm=27&amp;gp=0.jpg"/>
          <p:cNvPicPr>
            <a:picLocks noChangeAspect="1" noChangeArrowheads="1"/>
          </p:cNvPicPr>
          <p:nvPr userDrawn="1"/>
        </p:nvPicPr>
        <p:blipFill>
          <a:blip r:embed="rId5">
            <a:extLst>
              <a:ext uri="{BEBA8EAE-BF5A-486C-A8C5-ECC9F3942E4B}">
                <a14:imgProps xmlns:a14="http://schemas.microsoft.com/office/drawing/2010/main">
                  <a14:imgLayer r:embed="rId6">
                    <a14:imgEffect>
                      <a14:backgroundRemoval t="2871" b="97927" l="1200" r="97600">
                        <a14:foregroundMark x1="25000" y1="57416" x2="44800" y2="80223"/>
                        <a14:foregroundMark x1="44800" y1="80223" x2="65200" y2="62679"/>
                        <a14:foregroundMark x1="65200" y1="62679" x2="69000" y2="43062"/>
                        <a14:foregroundMark x1="69000" y1="43062" x2="65800" y2="25997"/>
                        <a14:foregroundMark x1="65800" y1="25997" x2="46600" y2="17703"/>
                        <a14:foregroundMark x1="46600" y1="17703" x2="45600" y2="17703"/>
                        <a14:foregroundMark x1="42800" y1="20415" x2="32600" y2="35247"/>
                        <a14:foregroundMark x1="32600" y1="35247" x2="41400" y2="57257"/>
                        <a14:foregroundMark x1="41400" y1="57257" x2="59200" y2="48485"/>
                        <a14:foregroundMark x1="59200" y1="48485" x2="68200" y2="34769"/>
                        <a14:foregroundMark x1="68200" y1="36683" x2="1200" y2="24242"/>
                        <a14:foregroundMark x1="1600" y1="46093" x2="23600" y2="76715"/>
                        <a14:foregroundMark x1="23600" y1="76715" x2="42800" y2="88517"/>
                        <a14:foregroundMark x1="42800" y1="88517" x2="62400" y2="80542"/>
                        <a14:foregroundMark x1="62400" y1="80542" x2="87200" y2="28389"/>
                        <a14:foregroundMark x1="87200" y1="28389" x2="68400" y2="20734"/>
                        <a14:foregroundMark x1="68400" y1="20734" x2="24600" y2="18979"/>
                        <a14:foregroundMark x1="24600" y1="18979" x2="3200" y2="51515"/>
                        <a14:foregroundMark x1="40400" y1="62520" x2="77200" y2="53429"/>
                        <a14:foregroundMark x1="77200" y1="53429" x2="50400" y2="35726"/>
                        <a14:foregroundMark x1="50400" y1="35726" x2="69000" y2="24880"/>
                        <a14:foregroundMark x1="69000" y1="24880" x2="39400" y2="37640"/>
                        <a14:foregroundMark x1="39400" y1="37640" x2="33000" y2="28070"/>
                        <a14:foregroundMark x1="42400" y1="64434" x2="31400" y2="47209"/>
                        <a14:foregroundMark x1="31400" y1="47209" x2="43400" y2="32855"/>
                        <a14:foregroundMark x1="43400" y1="32855" x2="64400" y2="29506"/>
                        <a14:foregroundMark x1="64400" y1="29506" x2="50800" y2="43222"/>
                        <a14:foregroundMark x1="50800" y1="43222" x2="24200" y2="41627"/>
                        <a14:foregroundMark x1="24200" y1="41627" x2="34800" y2="19936"/>
                        <a14:foregroundMark x1="34800" y1="19936" x2="38200" y2="18660"/>
                        <a14:foregroundMark x1="43200" y1="47687" x2="37400" y2="29825"/>
                        <a14:foregroundMark x1="37400" y1="29825" x2="58400" y2="38278"/>
                        <a14:foregroundMark x1="58400" y1="38278" x2="37200" y2="45136"/>
                        <a14:foregroundMark x1="37200" y1="45136" x2="43000" y2="28070"/>
                        <a14:foregroundMark x1="43000" y1="28070" x2="44800" y2="27751"/>
                        <a14:foregroundMark x1="23400" y1="15789" x2="78000" y2="11643"/>
                        <a14:foregroundMark x1="78000" y1="11643" x2="85200" y2="11643"/>
                        <a14:foregroundMark x1="48400" y1="2711" x2="70200" y2="8134"/>
                        <a14:foregroundMark x1="70200" y1="8134" x2="91800" y2="6380"/>
                        <a14:foregroundMark x1="91800" y1="6380" x2="94400" y2="4944"/>
                        <a14:foregroundMark x1="94800" y1="8772" x2="90800" y2="44338"/>
                        <a14:foregroundMark x1="90800" y1="44338" x2="70400" y2="78947"/>
                        <a14:foregroundMark x1="70400" y1="78947" x2="60800" y2="84370"/>
                        <a14:foregroundMark x1="86800" y1="66667" x2="73400" y2="80702"/>
                        <a14:foregroundMark x1="73400" y1="80702" x2="56000" y2="90431"/>
                        <a14:foregroundMark x1="56000" y1="90431" x2="40000" y2="91388"/>
                        <a14:foregroundMark x1="49600" y1="97927" x2="86000" y2="78947"/>
                        <a14:foregroundMark x1="3200" y1="4306" x2="25800" y2="8453"/>
                        <a14:foregroundMark x1="25800" y1="8453" x2="46200" y2="4625"/>
                        <a14:foregroundMark x1="46200" y1="4625" x2="50000" y2="3030"/>
                        <a14:foregroundMark x1="51200" y1="3030" x2="73000" y2="10686"/>
                        <a14:foregroundMark x1="73000" y1="10686" x2="93200" y2="6858"/>
                        <a14:foregroundMark x1="97600" y1="3349" x2="77400" y2="8134"/>
                        <a14:foregroundMark x1="77400" y1="8134" x2="70600" y2="6539"/>
                      </a14:backgroundRemoval>
                    </a14:imgEffect>
                  </a14:imgLayer>
                </a14:imgProps>
              </a:ext>
              <a:ext uri="{28A0092B-C50C-407E-A947-70E740481C1C}">
                <a14:useLocalDpi xmlns:a14="http://schemas.microsoft.com/office/drawing/2010/main" val="0"/>
              </a:ext>
            </a:extLst>
          </a:blip>
          <a:stretch>
            <a:fillRect/>
          </a:stretch>
        </p:blipFill>
        <p:spPr bwMode="auto">
          <a:xfrm>
            <a:off x="260664" y="270910"/>
            <a:ext cx="677359" cy="849408"/>
          </a:xfrm>
          <a:prstGeom prst="rect">
            <a:avLst/>
          </a:prstGeom>
          <a:noFill/>
          <a:extLst>
            <a:ext uri="{909E8E84-426E-40DD-AFC4-6F175D3DCCD1}">
              <a14:hiddenFill xmlns:a14="http://schemas.microsoft.com/office/drawing/2010/main">
                <a:solidFill>
                  <a:srgbClr val="FFFFFF"/>
                </a:solidFill>
              </a14:hiddenFill>
            </a:ext>
          </a:extLst>
        </p:spPr>
      </p:pic>
      <p:sp>
        <p:nvSpPr>
          <p:cNvPr id="11" name="Text Placeholder 9"/>
          <p:cNvSpPr>
            <a:spLocks noGrp="1"/>
          </p:cNvSpPr>
          <p:nvPr>
            <p:ph type="body" sz="quarter" idx="14" hasCustomPrompt="1"/>
          </p:nvPr>
        </p:nvSpPr>
        <p:spPr>
          <a:xfrm>
            <a:off x="1147779" y="270910"/>
            <a:ext cx="3599174" cy="436606"/>
          </a:xfrm>
        </p:spPr>
        <p:txBody>
          <a:bodyPr>
            <a:noAutofit/>
          </a:bodyPr>
          <a:lstStyle>
            <a:lvl1pPr marL="0" indent="0" algn="just" eaLnBrk="1" fontAlgn="auto" latinLnBrk="0" hangingPunct="1">
              <a:lnSpc>
                <a:spcPct val="90000"/>
              </a:lnSpc>
              <a:spcBef>
                <a:spcPts val="0"/>
              </a:spcBef>
              <a:buNone/>
              <a:defRPr sz="3000" b="1">
                <a:latin typeface="微软雅黑" panose="020B0503020204020204" pitchFamily="34" charset="-122"/>
                <a:ea typeface="微软雅黑" panose="020B0503020204020204" pitchFamily="34" charset="-122"/>
              </a:defRPr>
            </a:lvl1pPr>
          </a:lstStyle>
          <a:p>
            <a:pPr lvl="0"/>
            <a:r>
              <a:rPr lang="en-US" dirty="0"/>
              <a:t>第</a:t>
            </a:r>
            <a:r>
              <a:rPr lang="zh-CN" altLang="en-US" dirty="0"/>
              <a:t> </a:t>
            </a:r>
            <a:r>
              <a:rPr lang="en-US" altLang="zh-CN" dirty="0"/>
              <a:t>X</a:t>
            </a:r>
            <a:r>
              <a:rPr lang="zh-CN" altLang="en-US" dirty="0"/>
              <a:t> </a:t>
            </a:r>
            <a:r>
              <a:rPr lang="en-US" dirty="0"/>
              <a:t>部分</a:t>
            </a:r>
            <a:r>
              <a:rPr lang="zh-CN" altLang="en-US" dirty="0"/>
              <a:t> 节标题</a:t>
            </a:r>
            <a:endParaRPr lang="en-US" dirty="0"/>
          </a:p>
        </p:txBody>
      </p:sp>
      <p:sp>
        <p:nvSpPr>
          <p:cNvPr id="3" name="文本框 2"/>
          <p:cNvSpPr txBox="1"/>
          <p:nvPr userDrawn="1"/>
        </p:nvSpPr>
        <p:spPr>
          <a:xfrm>
            <a:off x="4074795" y="3420745"/>
            <a:ext cx="4064000" cy="1738630"/>
          </a:xfrm>
          <a:prstGeom prst="rect">
            <a:avLst/>
          </a:prstGeom>
          <a:noFill/>
        </p:spPr>
        <p:txBody>
          <a:bodyPr wrap="square" rtlCol="0">
            <a:noAutofit/>
          </a:bodyPr>
          <a:lstStyle/>
          <a:p>
            <a:endParaRPr lang="zh-CN" altLang="en-US" sz="2400">
              <a:latin typeface="等线" panose="02010600030101010101" charset="-122"/>
              <a:ea typeface="等线" panose="02010600030101010101"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内容占位符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36059"/>
            <a:ext cx="12192000" cy="521942"/>
          </a:xfrm>
          <a:prstGeom prst="rect">
            <a:avLst/>
          </a:prstGeom>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1859" y="6345581"/>
            <a:ext cx="646772" cy="497778"/>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2643" y="6379613"/>
            <a:ext cx="457143" cy="429714"/>
          </a:xfrm>
          <a:prstGeom prst="rect">
            <a:avLst/>
          </a:prstGeom>
        </p:spPr>
      </p:pic>
      <p:sp>
        <p:nvSpPr>
          <p:cNvPr id="22" name="日期占位符 21"/>
          <p:cNvSpPr>
            <a:spLocks noGrp="1"/>
          </p:cNvSpPr>
          <p:nvPr>
            <p:ph type="dt" sz="half" idx="10"/>
          </p:nvPr>
        </p:nvSpPr>
        <p:spPr>
          <a:xfrm>
            <a:off x="8610600" y="6356358"/>
            <a:ext cx="2743200" cy="365125"/>
          </a:xfrm>
        </p:spPr>
        <p:txBody>
          <a:bodyPr/>
          <a:lstStyle>
            <a:lvl1pPr>
              <a:defRPr sz="1050">
                <a:solidFill>
                  <a:schemeClr val="bg1"/>
                </a:solidFill>
              </a:defRPr>
            </a:lvl1pPr>
          </a:lstStyle>
          <a:p>
            <a:fld id="{0C510292-CB59-410E-86E6-8AD039AD2F6F}" type="datetime1">
              <a:rPr lang="zh-CN" altLang="en-US" smtClean="0"/>
              <a:t>2026/4/20</a:t>
            </a:fld>
            <a:endParaRPr lang="zh-CN" altLang="en-US"/>
          </a:p>
        </p:txBody>
      </p:sp>
      <p:sp>
        <p:nvSpPr>
          <p:cNvPr id="23" name="页脚占位符 22"/>
          <p:cNvSpPr>
            <a:spLocks noGrp="1"/>
          </p:cNvSpPr>
          <p:nvPr>
            <p:ph type="ftr" sz="quarter" idx="11"/>
          </p:nvPr>
        </p:nvSpPr>
        <p:spPr/>
        <p:txBody>
          <a:bodyPr/>
          <a:lstStyle/>
          <a:p>
            <a:endParaRPr lang="zh-CN" altLang="en-US"/>
          </a:p>
        </p:txBody>
      </p:sp>
      <p:sp>
        <p:nvSpPr>
          <p:cNvPr id="8" name="灯片编号占位符 18"/>
          <p:cNvSpPr txBox="1"/>
          <p:nvPr userDrawn="1"/>
        </p:nvSpPr>
        <p:spPr>
          <a:xfrm>
            <a:off x="9257372" y="6411915"/>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6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6CB85E4-9B6E-41B6-BE28-34B8FDE32807}" type="slidenum">
              <a:rPr lang="zh-CN" altLang="en-US" smtClean="0"/>
              <a:t>‹#›</a:t>
            </a:fld>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33"/>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pic>
        <p:nvPicPr>
          <p:cNvPr id="8" name="内容占位符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36059"/>
            <a:ext cx="12192000" cy="521942"/>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1859" y="6345581"/>
            <a:ext cx="646772" cy="497778"/>
          </a:xfrm>
          <a:prstGeom prst="rect">
            <a:avLst/>
          </a:prstGeom>
        </p:spPr>
      </p:pic>
      <p:pic>
        <p:nvPicPr>
          <p:cNvPr id="10"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2643" y="6379613"/>
            <a:ext cx="457143" cy="429714"/>
          </a:xfrm>
          <a:prstGeom prst="rect">
            <a:avLst/>
          </a:prstGeom>
        </p:spPr>
      </p:pic>
      <p:sp>
        <p:nvSpPr>
          <p:cNvPr id="11" name="灯片编号占位符 18"/>
          <p:cNvSpPr>
            <a:spLocks noGrp="1"/>
          </p:cNvSpPr>
          <p:nvPr>
            <p:ph type="sldNum" sz="quarter" idx="12"/>
          </p:nvPr>
        </p:nvSpPr>
        <p:spPr>
          <a:xfrm>
            <a:off x="4724400" y="6411916"/>
            <a:ext cx="2743200" cy="365125"/>
          </a:xfrm>
        </p:spPr>
        <p:txBody>
          <a:bodyPr/>
          <a:lstStyle/>
          <a:p>
            <a:fld id="{C6CB85E4-9B6E-41B6-BE28-34B8FDE32807}" type="slidenum">
              <a:rPr lang="zh-CN" altLang="en-US" smtClean="0"/>
              <a:t>‹#›</a:t>
            </a:fld>
            <a:endParaRPr lang="zh-CN" altLang="en-US"/>
          </a:p>
        </p:txBody>
      </p:sp>
      <p:sp>
        <p:nvSpPr>
          <p:cNvPr id="12" name="日期占位符 17"/>
          <p:cNvSpPr>
            <a:spLocks noGrp="1"/>
          </p:cNvSpPr>
          <p:nvPr>
            <p:ph type="dt" sz="half" idx="10"/>
          </p:nvPr>
        </p:nvSpPr>
        <p:spPr>
          <a:xfrm>
            <a:off x="9257372" y="6411915"/>
            <a:ext cx="2743200" cy="365125"/>
          </a:xfrm>
        </p:spPr>
        <p:txBody>
          <a:bodyPr/>
          <a:lstStyle/>
          <a:p>
            <a:fld id="{A8A9758C-48A0-41B9-87E4-AF7E81A441C6}" type="datetime1">
              <a:rPr lang="zh-CN" altLang="en-US" smtClean="0"/>
              <a:t>2026/4/20</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33"/>
            <a:ext cx="617220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pic>
        <p:nvPicPr>
          <p:cNvPr id="8" name="内容占位符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36059"/>
            <a:ext cx="12192000" cy="521942"/>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1859" y="6345581"/>
            <a:ext cx="646772" cy="497778"/>
          </a:xfrm>
          <a:prstGeom prst="rect">
            <a:avLst/>
          </a:prstGeom>
        </p:spPr>
      </p:pic>
      <p:pic>
        <p:nvPicPr>
          <p:cNvPr id="10"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2643" y="6379613"/>
            <a:ext cx="457143" cy="429714"/>
          </a:xfrm>
          <a:prstGeom prst="rect">
            <a:avLst/>
          </a:prstGeom>
        </p:spPr>
      </p:pic>
      <p:sp>
        <p:nvSpPr>
          <p:cNvPr id="11" name="灯片编号占位符 18"/>
          <p:cNvSpPr>
            <a:spLocks noGrp="1"/>
          </p:cNvSpPr>
          <p:nvPr>
            <p:ph type="sldNum" sz="quarter" idx="12"/>
          </p:nvPr>
        </p:nvSpPr>
        <p:spPr>
          <a:xfrm>
            <a:off x="4724400" y="6411916"/>
            <a:ext cx="2743200" cy="365125"/>
          </a:xfrm>
        </p:spPr>
        <p:txBody>
          <a:bodyPr/>
          <a:lstStyle/>
          <a:p>
            <a:fld id="{C6CB85E4-9B6E-41B6-BE28-34B8FDE32807}" type="slidenum">
              <a:rPr lang="zh-CN" altLang="en-US" smtClean="0"/>
              <a:t>‹#›</a:t>
            </a:fld>
            <a:endParaRPr lang="zh-CN" altLang="en-US"/>
          </a:p>
        </p:txBody>
      </p:sp>
      <p:sp>
        <p:nvSpPr>
          <p:cNvPr id="12" name="日期占位符 17"/>
          <p:cNvSpPr>
            <a:spLocks noGrp="1"/>
          </p:cNvSpPr>
          <p:nvPr>
            <p:ph type="dt" sz="half" idx="10"/>
          </p:nvPr>
        </p:nvSpPr>
        <p:spPr>
          <a:xfrm>
            <a:off x="9257372" y="6411915"/>
            <a:ext cx="2743200" cy="365125"/>
          </a:xfrm>
        </p:spPr>
        <p:txBody>
          <a:bodyPr/>
          <a:lstStyle/>
          <a:p>
            <a:fld id="{F86341CB-910D-4A79-A532-D9438773BBE5}" type="datetime1">
              <a:rPr lang="zh-CN" altLang="en-US" smtClean="0"/>
              <a:t>2026/4/20</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hasCustomPrompt="1"/>
          </p:nvPr>
        </p:nvSpPr>
        <p:spPr>
          <a:xfrm>
            <a:off x="838200" y="1371607"/>
            <a:ext cx="10515600" cy="4805363"/>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pic>
        <p:nvPicPr>
          <p:cNvPr id="7" name="内容占位符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36059"/>
            <a:ext cx="12192000" cy="521942"/>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1859" y="6345581"/>
            <a:ext cx="646772" cy="497778"/>
          </a:xfrm>
          <a:prstGeom prst="rect">
            <a:avLst/>
          </a:prstGeom>
        </p:spPr>
      </p:pic>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2643" y="6379613"/>
            <a:ext cx="457143" cy="429714"/>
          </a:xfrm>
          <a:prstGeom prst="rect">
            <a:avLst/>
          </a:prstGeom>
        </p:spPr>
      </p:pic>
      <p:sp>
        <p:nvSpPr>
          <p:cNvPr id="10" name="灯片编号占位符 18"/>
          <p:cNvSpPr>
            <a:spLocks noGrp="1"/>
          </p:cNvSpPr>
          <p:nvPr>
            <p:ph type="sldNum" sz="quarter" idx="12"/>
          </p:nvPr>
        </p:nvSpPr>
        <p:spPr>
          <a:xfrm>
            <a:off x="9257372" y="6399520"/>
            <a:ext cx="2743200" cy="365125"/>
          </a:xfrm>
        </p:spPr>
        <p:txBody>
          <a:bodyPr/>
          <a:lstStyle>
            <a:lvl1pPr>
              <a:defRPr sz="1050">
                <a:solidFill>
                  <a:schemeClr val="bg1"/>
                </a:solidFill>
              </a:defRPr>
            </a:lvl1pPr>
          </a:lstStyle>
          <a:p>
            <a:fld id="{C6CB85E4-9B6E-41B6-BE28-34B8FDE32807}" type="slidenum">
              <a:rPr lang="zh-CN" altLang="en-US" smtClean="0"/>
              <a:t>‹#›</a:t>
            </a:fld>
            <a:endParaRPr lang="zh-CN" altLang="en-US"/>
          </a:p>
        </p:txBody>
      </p:sp>
      <p:sp>
        <p:nvSpPr>
          <p:cNvPr id="11" name="日期占位符 17"/>
          <p:cNvSpPr>
            <a:spLocks noGrp="1"/>
          </p:cNvSpPr>
          <p:nvPr>
            <p:ph type="dt" sz="half" idx="10"/>
          </p:nvPr>
        </p:nvSpPr>
        <p:spPr>
          <a:xfrm>
            <a:off x="9257372" y="6411915"/>
            <a:ext cx="2743200" cy="365125"/>
          </a:xfrm>
        </p:spPr>
        <p:txBody>
          <a:bodyPr/>
          <a:lstStyle>
            <a:lvl1pPr>
              <a:defRPr sz="1050">
                <a:solidFill>
                  <a:schemeClr val="bg1"/>
                </a:solidFill>
              </a:defRPr>
            </a:lvl1pPr>
          </a:lstStyle>
          <a:p>
            <a:fld id="{C9D533CD-4D6E-4877-BFFB-4624338100BD}" type="datetime1">
              <a:rPr lang="zh-CN" altLang="en-US" smtClean="0"/>
              <a:t>2026/4/20</a:t>
            </a:fld>
            <a:endParaRPr lang="zh-CN" altLang="en-US"/>
          </a:p>
        </p:txBody>
      </p:sp>
      <p:sp>
        <p:nvSpPr>
          <p:cNvPr id="12" name="Title 1"/>
          <p:cNvSpPr>
            <a:spLocks noGrp="1"/>
          </p:cNvSpPr>
          <p:nvPr>
            <p:ph type="title"/>
          </p:nvPr>
        </p:nvSpPr>
        <p:spPr>
          <a:xfrm>
            <a:off x="838200" y="365127"/>
            <a:ext cx="10515600" cy="848532"/>
          </a:xfrm>
        </p:spPr>
        <p:txBody>
          <a:bodyPr/>
          <a:lstStyle/>
          <a:p>
            <a:r>
              <a:rPr lang="zh-CN" altLang="en-US"/>
              <a:t>单击此处编辑母版标题样式</a:t>
            </a:r>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3"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pic>
        <p:nvPicPr>
          <p:cNvPr id="7" name="内容占位符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36059"/>
            <a:ext cx="12192000" cy="521942"/>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1859" y="6345581"/>
            <a:ext cx="646772" cy="497778"/>
          </a:xfrm>
          <a:prstGeom prst="rect">
            <a:avLst/>
          </a:prstGeom>
        </p:spPr>
      </p:pic>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2643" y="6379613"/>
            <a:ext cx="457143" cy="429714"/>
          </a:xfrm>
          <a:prstGeom prst="rect">
            <a:avLst/>
          </a:prstGeom>
        </p:spPr>
      </p:pic>
      <p:sp>
        <p:nvSpPr>
          <p:cNvPr id="10" name="灯片编号占位符 18"/>
          <p:cNvSpPr>
            <a:spLocks noGrp="1"/>
          </p:cNvSpPr>
          <p:nvPr>
            <p:ph type="sldNum" sz="quarter" idx="12"/>
          </p:nvPr>
        </p:nvSpPr>
        <p:spPr>
          <a:xfrm>
            <a:off x="4724400" y="6411916"/>
            <a:ext cx="2743200" cy="365125"/>
          </a:xfrm>
        </p:spPr>
        <p:txBody>
          <a:bodyPr/>
          <a:lstStyle/>
          <a:p>
            <a:fld id="{C6CB85E4-9B6E-41B6-BE28-34B8FDE32807}" type="slidenum">
              <a:rPr lang="zh-CN" altLang="en-US" smtClean="0"/>
              <a:t>‹#›</a:t>
            </a:fld>
            <a:endParaRPr lang="zh-CN" altLang="en-US"/>
          </a:p>
        </p:txBody>
      </p:sp>
      <p:sp>
        <p:nvSpPr>
          <p:cNvPr id="11" name="日期占位符 17"/>
          <p:cNvSpPr>
            <a:spLocks noGrp="1"/>
          </p:cNvSpPr>
          <p:nvPr>
            <p:ph type="dt" sz="half" idx="10"/>
          </p:nvPr>
        </p:nvSpPr>
        <p:spPr>
          <a:xfrm>
            <a:off x="9257372" y="6411915"/>
            <a:ext cx="2743200" cy="365125"/>
          </a:xfrm>
        </p:spPr>
        <p:txBody>
          <a:bodyPr/>
          <a:lstStyle/>
          <a:p>
            <a:fld id="{BDA4D891-E732-4F7A-8C0E-C6552F5DF1E9}" type="datetime1">
              <a:rPr lang="zh-CN" altLang="en-US" smtClean="0"/>
              <a:t>2026/4/20</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45127" y="1828803"/>
            <a:ext cx="10515600" cy="4351337"/>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6"/>
            <a:ext cx="2743200"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fld id="{138E33E6-3118-46B5-BEB9-D201CC9A68C6}" type="datetime1">
              <a:rPr lang="zh-CN" altLang="en-US" smtClean="0"/>
              <a:t>2026/4/20</a:t>
            </a:fld>
            <a:endParaRPr lang="zh-CN" altLang="en-US"/>
          </a:p>
        </p:txBody>
      </p:sp>
      <p:sp>
        <p:nvSpPr>
          <p:cNvPr id="5" name="Footer Placeholder 4"/>
          <p:cNvSpPr>
            <a:spLocks noGrp="1"/>
          </p:cNvSpPr>
          <p:nvPr>
            <p:ph type="ftr" sz="quarter" idx="3"/>
          </p:nvPr>
        </p:nvSpPr>
        <p:spPr>
          <a:xfrm>
            <a:off x="4038600" y="6356356"/>
            <a:ext cx="4114800" cy="365125"/>
          </a:xfrm>
          <a:prstGeom prst="rect">
            <a:avLst/>
          </a:prstGeom>
        </p:spPr>
        <p:txBody>
          <a:bodyPr vert="horz" lIns="91440" tIns="45720" rIns="91440" bIns="45720" rtlCol="0" anchor="ctr"/>
          <a:lstStyle>
            <a:lvl1pPr algn="ctr">
              <a:defRPr sz="825">
                <a:solidFill>
                  <a:schemeClr val="tx1">
                    <a:lumMod val="65000"/>
                    <a:lumOff val="35000"/>
                  </a:schemeClr>
                </a:solidFill>
              </a:defRPr>
            </a:lvl1pPr>
          </a:lstStyle>
          <a:p>
            <a:endParaRPr lang="zh-CN" altLang="en-US"/>
          </a:p>
        </p:txBody>
      </p:sp>
      <p:sp>
        <p:nvSpPr>
          <p:cNvPr id="6" name="Slide Number Placeholder 5"/>
          <p:cNvSpPr>
            <a:spLocks noGrp="1"/>
          </p:cNvSpPr>
          <p:nvPr>
            <p:ph type="sldNum" sz="quarter" idx="4"/>
          </p:nvPr>
        </p:nvSpPr>
        <p:spPr>
          <a:xfrm>
            <a:off x="8617527" y="6356356"/>
            <a:ext cx="2743200" cy="365125"/>
          </a:xfrm>
          <a:prstGeom prst="rect">
            <a:avLst/>
          </a:prstGeom>
        </p:spPr>
        <p:txBody>
          <a:bodyPr vert="horz" lIns="91440" tIns="45720" rIns="91440" bIns="45720" rtlCol="0" anchor="ctr"/>
          <a:lstStyle>
            <a:lvl1pPr algn="r">
              <a:defRPr sz="825">
                <a:solidFill>
                  <a:schemeClr val="tx1">
                    <a:tint val="75000"/>
                  </a:schemeClr>
                </a:solidFill>
              </a:defRPr>
            </a:lvl1pPr>
          </a:lstStyle>
          <a:p>
            <a:fld id="{C6CB85E4-9B6E-41B6-BE28-34B8FDE32807}"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Wingdings 2" panose="05020102010507070707" pitchFamily="18"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2" panose="05020102010507070707" pitchFamily="18"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2" panose="05020102010507070707" pitchFamily="18"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2" panose="05020102010507070707" pitchFamily="18"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2" panose="05020102010507070707" pitchFamily="18" charset="2"/>
        <a:buChar char=""/>
        <a:defRPr sz="1350" kern="1200">
          <a:solidFill>
            <a:schemeClr val="tx1"/>
          </a:solidFill>
          <a:latin typeface="+mn-lt"/>
          <a:ea typeface="+mn-ea"/>
          <a:cs typeface="+mn-cs"/>
        </a:defRPr>
      </a:lvl5pPr>
      <a:lvl6pPr marL="1885950" indent="-171450" algn="l" defTabSz="685800" rtl="0" eaLnBrk="1" latinLnBrk="0" hangingPunct="1">
        <a:spcBef>
          <a:spcPct val="20000"/>
        </a:spcBef>
        <a:buFont typeface="Wingdings 2" panose="05020102010507070707"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anose="05020102010507070707"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anose="05020102010507070707"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anose="05020102010507070707" pitchFamily="18" charset="2"/>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8"/>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54EEB98-9658-41DD-AF8A-F505062621B9}" type="datetime1">
              <a:rPr lang="zh-CN" altLang="en-US" smtClean="0"/>
              <a:t>2026/4/20</a:t>
            </a:fld>
            <a:endParaRPr lang="zh-CN" altLang="en-US"/>
          </a:p>
        </p:txBody>
      </p:sp>
      <p:sp>
        <p:nvSpPr>
          <p:cNvPr id="5" name="Footer Placeholder 4"/>
          <p:cNvSpPr>
            <a:spLocks noGrp="1"/>
          </p:cNvSpPr>
          <p:nvPr>
            <p:ph type="ftr" sz="quarter" idx="3"/>
          </p:nvPr>
        </p:nvSpPr>
        <p:spPr>
          <a:xfrm>
            <a:off x="4038600" y="6356358"/>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6CB85E4-9B6E-41B6-BE28-34B8FDE32807}"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marL="0" indent="0" algn="l" defTabSz="685800" rtl="0" eaLnBrk="1" fontAlgn="auto"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fontAlgn="auto" latinLnBrk="0" hangingPunct="1">
        <a:lnSpc>
          <a:spcPct val="150000"/>
        </a:lnSpc>
        <a:spcBef>
          <a:spcPts val="750"/>
        </a:spcBef>
        <a:buFont typeface="Arial" panose="020B0604020202020204" pitchFamily="34" charset="0"/>
        <a:buChar char="•"/>
        <a:defRPr sz="2400" kern="1200">
          <a:solidFill>
            <a:schemeClr val="tx1"/>
          </a:solidFill>
          <a:latin typeface="等线" panose="02010600030101010101" charset="-122"/>
          <a:ea typeface="等线" panose="02010600030101010101" charset="-122"/>
          <a:cs typeface="+mn-cs"/>
        </a:defRPr>
      </a:lvl1pPr>
      <a:lvl2pPr marL="514350" indent="-171450" algn="l" defTabSz="685800" rtl="0" eaLnBrk="1" fontAlgn="auto" latinLnBrk="0" hangingPunct="1">
        <a:lnSpc>
          <a:spcPct val="150000"/>
        </a:lnSpc>
        <a:spcBef>
          <a:spcPts val="375"/>
        </a:spcBef>
        <a:buFont typeface="Arial" panose="020B0604020202020204" pitchFamily="34" charset="0"/>
        <a:buChar char="•"/>
        <a:defRPr sz="2400" kern="1200">
          <a:solidFill>
            <a:schemeClr val="tx1"/>
          </a:solidFill>
          <a:latin typeface="等线" panose="02010600030101010101" charset="-122"/>
          <a:ea typeface="等线" panose="02010600030101010101" charset="-122"/>
          <a:cs typeface="+mn-cs"/>
        </a:defRPr>
      </a:lvl2pPr>
      <a:lvl3pPr marL="857250" indent="-171450" algn="l" defTabSz="685800" rtl="0" eaLnBrk="1" fontAlgn="auto" latinLnBrk="0" hangingPunct="1">
        <a:lnSpc>
          <a:spcPct val="150000"/>
        </a:lnSpc>
        <a:spcBef>
          <a:spcPts val="375"/>
        </a:spcBef>
        <a:buFont typeface="Arial" panose="020B0604020202020204" pitchFamily="34" charset="0"/>
        <a:buChar char="•"/>
        <a:defRPr sz="2400" kern="1200">
          <a:solidFill>
            <a:schemeClr val="tx1"/>
          </a:solidFill>
          <a:latin typeface="等线" panose="02010600030101010101" charset="-122"/>
          <a:ea typeface="等线" panose="02010600030101010101" charset="-122"/>
          <a:cs typeface="+mn-cs"/>
        </a:defRPr>
      </a:lvl3pPr>
      <a:lvl4pPr marL="1200150" indent="-171450" algn="l" defTabSz="685800" rtl="0" eaLnBrk="1" fontAlgn="auto" latinLnBrk="0" hangingPunct="1">
        <a:lnSpc>
          <a:spcPct val="150000"/>
        </a:lnSpc>
        <a:spcBef>
          <a:spcPts val="375"/>
        </a:spcBef>
        <a:buFont typeface="Arial" panose="020B0604020202020204" pitchFamily="34" charset="0"/>
        <a:buChar char="•"/>
        <a:defRPr sz="2400" kern="1200">
          <a:solidFill>
            <a:schemeClr val="tx1"/>
          </a:solidFill>
          <a:latin typeface="等线" panose="02010600030101010101" charset="-122"/>
          <a:ea typeface="等线" panose="02010600030101010101" charset="-122"/>
          <a:cs typeface="+mn-cs"/>
        </a:defRPr>
      </a:lvl4pPr>
      <a:lvl5pPr marL="1543050" indent="-171450" algn="l" defTabSz="685800" rtl="0" eaLnBrk="1" fontAlgn="auto" latinLnBrk="0" hangingPunct="1">
        <a:lnSpc>
          <a:spcPct val="150000"/>
        </a:lnSpc>
        <a:spcBef>
          <a:spcPts val="375"/>
        </a:spcBef>
        <a:buFont typeface="Arial" panose="020B0604020202020204" pitchFamily="34" charset="0"/>
        <a:buChar char="•"/>
        <a:defRPr sz="2400" kern="1200">
          <a:solidFill>
            <a:schemeClr val="tx1"/>
          </a:solidFill>
          <a:latin typeface="等线" panose="02010600030101010101" charset="-122"/>
          <a:ea typeface="等线" panose="02010600030101010101"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7.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7.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notesSlide" Target="../notesSlides/notesSlide12.xml"/><Relationship Id="rId7" Type="http://schemas.openxmlformats.org/officeDocument/2006/relationships/image" Target="../media/image20.png"/><Relationship Id="rId2" Type="http://schemas.openxmlformats.org/officeDocument/2006/relationships/slideLayout" Target="../slideLayouts/slideLayout17.xml"/><Relationship Id="rId1" Type="http://schemas.openxmlformats.org/officeDocument/2006/relationships/tags" Target="../tags/tag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7.xml"/><Relationship Id="rId5" Type="http://schemas.openxmlformats.org/officeDocument/2006/relationships/image" Target="../media/image3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17.xml"/><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17.xml"/><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679713" y="2286001"/>
            <a:ext cx="8832574" cy="1647280"/>
          </a:xfrm>
        </p:spPr>
        <p:txBody>
          <a:bodyPr>
            <a:normAutofit/>
          </a:bodyPr>
          <a:lstStyle/>
          <a:p>
            <a:pPr>
              <a:lnSpc>
                <a:spcPct val="120000"/>
              </a:lnSpc>
            </a:pPr>
            <a:r>
              <a:rPr lang="zh-CN" altLang="en-US" sz="4000" dirty="0">
                <a:solidFill>
                  <a:schemeClr val="bg1"/>
                </a:solidFill>
              </a:rPr>
              <a:t>面向 </a:t>
            </a:r>
            <a:r>
              <a:rPr lang="en-US" altLang="zh-CN" sz="4000" dirty="0">
                <a:solidFill>
                  <a:schemeClr val="bg1"/>
                </a:solidFill>
              </a:rPr>
              <a:t>Serverless </a:t>
            </a:r>
            <a:r>
              <a:rPr lang="zh-CN" altLang="en-US" sz="4000" dirty="0">
                <a:solidFill>
                  <a:schemeClr val="bg1"/>
                </a:solidFill>
              </a:rPr>
              <a:t>工作流</a:t>
            </a:r>
            <a:br>
              <a:rPr lang="en-US" altLang="zh-CN" sz="4000" dirty="0">
                <a:solidFill>
                  <a:schemeClr val="bg1"/>
                </a:solidFill>
              </a:rPr>
            </a:br>
            <a:r>
              <a:rPr lang="zh-CN" altLang="en-US" sz="4000" dirty="0">
                <a:solidFill>
                  <a:schemeClr val="bg1"/>
                </a:solidFill>
              </a:rPr>
              <a:t>的投机执行优化研究</a:t>
            </a:r>
          </a:p>
        </p:txBody>
      </p:sp>
      <p:sp>
        <p:nvSpPr>
          <p:cNvPr id="3" name="内容占位符 4">
            <a:extLst>
              <a:ext uri="{FF2B5EF4-FFF2-40B4-BE49-F238E27FC236}">
                <a16:creationId xmlns:a16="http://schemas.microsoft.com/office/drawing/2014/main" id="{45354C76-0CDD-5485-7D50-DF12B90EF187}"/>
              </a:ext>
            </a:extLst>
          </p:cNvPr>
          <p:cNvSpPr txBox="1"/>
          <p:nvPr/>
        </p:nvSpPr>
        <p:spPr>
          <a:xfrm>
            <a:off x="4085359" y="934162"/>
            <a:ext cx="4914900" cy="4805363"/>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Font typeface="Wingdings" panose="05000000000000000000" pitchFamily="2" charset="2"/>
              <a:buChar char="Ø"/>
            </a:pPr>
            <a:endParaRPr lang="zh-CN" altLang="en-US" sz="2055" b="1"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05435699-7E0B-0F47-994F-257CBB0F1968}"/>
              </a:ext>
            </a:extLst>
          </p:cNvPr>
          <p:cNvSpPr txBox="1"/>
          <p:nvPr/>
        </p:nvSpPr>
        <p:spPr>
          <a:xfrm>
            <a:off x="4085359" y="4365331"/>
            <a:ext cx="3158836" cy="880947"/>
          </a:xfrm>
          <a:prstGeom prst="rect">
            <a:avLst/>
          </a:prstGeom>
          <a:noFill/>
        </p:spPr>
        <p:txBody>
          <a:bodyPr wrap="square">
            <a:spAutoFit/>
          </a:bodyPr>
          <a:lstStyle/>
          <a:p>
            <a:pPr marL="457200" lvl="2" algn="ctr" fontAlgn="auto">
              <a:lnSpc>
                <a:spcPct val="150000"/>
              </a:lnSpc>
              <a:spcBef>
                <a:spcPts val="0"/>
              </a:spcBef>
              <a:buClr>
                <a:schemeClr val="accent4">
                  <a:lumMod val="50000"/>
                </a:schemeClr>
              </a:buClr>
              <a:buSzPct val="70000"/>
            </a:pPr>
            <a:r>
              <a:rPr lang="zh-CN" altLang="en-US" sz="1800" dirty="0">
                <a:solidFill>
                  <a:schemeClr val="tx1"/>
                </a:solidFill>
                <a:uFillTx/>
                <a:latin typeface="Gill Sans" panose="020B0502020104020203" charset="0"/>
                <a:ea typeface="等线" panose="02010600030101010101" charset="-122"/>
                <a:cs typeface="等线" panose="02010600030101010101" charset="-122"/>
              </a:rPr>
              <a:t>答辩人：</a:t>
            </a:r>
            <a:r>
              <a:rPr lang="zh-CN" altLang="en-US" dirty="0">
                <a:latin typeface="Gill Sans" panose="020B0502020104020203" charset="0"/>
                <a:ea typeface="等线" panose="02010600030101010101" charset="-122"/>
                <a:cs typeface="等线" panose="02010600030101010101" charset="-122"/>
              </a:rPr>
              <a:t>吴晟昊</a:t>
            </a:r>
            <a:endParaRPr lang="en-US" altLang="zh-CN" dirty="0">
              <a:latin typeface="Gill Sans" panose="020B0502020104020203" charset="0"/>
              <a:ea typeface="等线" panose="02010600030101010101" charset="-122"/>
              <a:cs typeface="等线" panose="02010600030101010101" charset="-122"/>
            </a:endParaRPr>
          </a:p>
          <a:p>
            <a:pPr marL="457200" lvl="2" algn="ctr" fontAlgn="auto">
              <a:lnSpc>
                <a:spcPct val="150000"/>
              </a:lnSpc>
              <a:spcBef>
                <a:spcPts val="0"/>
              </a:spcBef>
              <a:buClr>
                <a:schemeClr val="accent4">
                  <a:lumMod val="50000"/>
                </a:schemeClr>
              </a:buClr>
              <a:buSzPct val="70000"/>
            </a:pPr>
            <a:r>
              <a:rPr lang="zh-CN" altLang="en-US" dirty="0">
                <a:latin typeface="Gill Sans" panose="020B0502020104020203" charset="0"/>
                <a:ea typeface="等线" panose="02010600030101010101" charset="-122"/>
                <a:cs typeface="等线" panose="02010600030101010101" charset="-122"/>
              </a:rPr>
              <a:t>指导教师：马骏 副教授</a:t>
            </a:r>
            <a:endParaRPr lang="en-US" altLang="zh-CN" sz="1800" dirty="0">
              <a:solidFill>
                <a:schemeClr val="tx1"/>
              </a:solidFill>
              <a:uFillTx/>
              <a:latin typeface="Gill Sans" panose="020B0502020104020203" charset="0"/>
              <a:ea typeface="等线" panose="02010600030101010101" charset="-122"/>
              <a:cs typeface="等线" panose="0201060003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17"/>
    </mc:Choice>
    <mc:Fallback>
      <p:transition spd="slow" advTm="3017"/>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4"/>
          </p:nvPr>
        </p:nvSpPr>
        <p:spPr/>
        <p:txBody>
          <a:bodyPr/>
          <a:lstStyle/>
          <a:p>
            <a:r>
              <a:rPr lang="zh-CN" altLang="en-US" sz="3000" dirty="0"/>
              <a:t>提纲</a:t>
            </a:r>
          </a:p>
        </p:txBody>
      </p:sp>
      <p:sp>
        <p:nvSpPr>
          <p:cNvPr id="6" name="内容占位符 4"/>
          <p:cNvSpPr txBox="1"/>
          <p:nvPr/>
        </p:nvSpPr>
        <p:spPr>
          <a:xfrm>
            <a:off x="838200" y="1443317"/>
            <a:ext cx="4914900" cy="4805363"/>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 研究背景和研究目标</a:t>
            </a:r>
            <a:endParaRPr lang="en-US" altLang="zh-CN" sz="2400" b="1" dirty="0">
              <a:latin typeface="微软雅黑" panose="020B0503020204020204" pitchFamily="34" charset="-122"/>
              <a:ea typeface="微软雅黑" panose="020B0503020204020204" pitchFamily="34" charset="-122"/>
            </a:endParaRPr>
          </a:p>
          <a:p>
            <a:pPr>
              <a:buFont typeface="Wingdings" panose="05000000000000000000" pitchFamily="2" charset="2"/>
              <a:buChar char="Ø"/>
            </a:pPr>
            <a:endParaRPr lang="en-US" altLang="zh-CN" sz="2400" b="1" dirty="0">
              <a:latin typeface="微软雅黑" panose="020B0503020204020204" pitchFamily="34" charset="-122"/>
              <a:ea typeface="微软雅黑" panose="020B0503020204020204" pitchFamily="34" charset="-122"/>
            </a:endParaRPr>
          </a:p>
          <a:p>
            <a:pPr>
              <a:buFont typeface="Wingdings" panose="05000000000000000000" pitchFamily="2" charset="2"/>
              <a:buChar char="Ø"/>
            </a:pPr>
            <a:r>
              <a:rPr lang="en-US" altLang="zh-CN" sz="2400" b="1" dirty="0">
                <a:latin typeface="微软雅黑" panose="020B0503020204020204" pitchFamily="34" charset="-122"/>
                <a:ea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方法设计</a:t>
            </a:r>
            <a:endParaRPr lang="en-US" altLang="zh-CN" sz="2400" b="1" dirty="0">
              <a:latin typeface="微软雅黑" panose="020B0503020204020204" pitchFamily="34" charset="-122"/>
              <a:ea typeface="微软雅黑" panose="020B0503020204020204" pitchFamily="34" charset="-122"/>
            </a:endParaRPr>
          </a:p>
          <a:p>
            <a:pPr>
              <a:buFont typeface="Wingdings" panose="05000000000000000000" pitchFamily="2" charset="2"/>
              <a:buChar char="Ø"/>
            </a:pPr>
            <a:endParaRPr lang="en-US" altLang="zh-CN" sz="2400" b="1" dirty="0">
              <a:latin typeface="微软雅黑" panose="020B0503020204020204" pitchFamily="34" charset="-122"/>
              <a:ea typeface="微软雅黑" panose="020B0503020204020204" pitchFamily="34" charset="-122"/>
            </a:endParaRPr>
          </a:p>
          <a:p>
            <a:pPr>
              <a:buFont typeface="Wingdings" panose="05000000000000000000" pitchFamily="2" charset="2"/>
              <a:buChar char="Ø"/>
            </a:pPr>
            <a:r>
              <a:rPr lang="en-US" altLang="zh-CN" sz="2400" b="1" dirty="0">
                <a:latin typeface="微软雅黑" panose="020B0503020204020204" pitchFamily="34" charset="-122"/>
                <a:ea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系统实现与实验验证</a:t>
            </a:r>
            <a:endParaRPr lang="en-US" altLang="zh-CN" sz="2400" b="1" dirty="0">
              <a:latin typeface="微软雅黑" panose="020B0503020204020204" pitchFamily="34" charset="-122"/>
              <a:ea typeface="微软雅黑" panose="020B0503020204020204" pitchFamily="34" charset="-122"/>
            </a:endParaRPr>
          </a:p>
          <a:p>
            <a:pPr>
              <a:buFont typeface="Wingdings" panose="05000000000000000000" pitchFamily="2" charset="2"/>
              <a:buChar char="Ø"/>
            </a:pPr>
            <a:endParaRPr lang="en-US" altLang="zh-CN" sz="2400" b="1" dirty="0">
              <a:latin typeface="微软雅黑" panose="020B0503020204020204" pitchFamily="34" charset="-122"/>
              <a:ea typeface="微软雅黑" panose="020B0503020204020204" pitchFamily="34" charset="-122"/>
            </a:endParaRPr>
          </a:p>
          <a:p>
            <a:pPr>
              <a:buFont typeface="Wingdings" panose="05000000000000000000" pitchFamily="2" charset="2"/>
              <a:buChar char="Ø"/>
            </a:pPr>
            <a:r>
              <a:rPr lang="en-US" altLang="zh-CN" sz="2400" b="1" dirty="0">
                <a:latin typeface="微软雅黑" panose="020B0503020204020204" pitchFamily="34" charset="-122"/>
                <a:ea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结论与展望</a:t>
            </a:r>
            <a:endParaRPr lang="en-US" altLang="zh-CN" sz="2400" b="1" dirty="0">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C6CB85E4-9B6E-41B6-BE28-34B8FDE32807}" type="slidenum">
              <a:rPr lang="zh-CN" altLang="en-US" smtClean="0"/>
              <a:t>2</a:t>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advTm="319"/>
    </mc:Choice>
    <mc:Fallback>
      <p:transition spd="slow" advTm="31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3"/>
          </p:nvPr>
        </p:nvSpPr>
        <p:spPr/>
        <p:txBody>
          <a:bodyPr/>
          <a:lstStyle/>
          <a:p>
            <a:r>
              <a:rPr lang="zh-CN" altLang="en-US" dirty="0"/>
              <a:t>第一部分</a:t>
            </a:r>
          </a:p>
        </p:txBody>
      </p:sp>
      <p:sp>
        <p:nvSpPr>
          <p:cNvPr id="8" name="文本占位符 7"/>
          <p:cNvSpPr>
            <a:spLocks noGrp="1"/>
          </p:cNvSpPr>
          <p:nvPr>
            <p:ph type="body" sz="quarter" idx="15"/>
          </p:nvPr>
        </p:nvSpPr>
        <p:spPr>
          <a:xfrm>
            <a:off x="5197474" y="3429000"/>
            <a:ext cx="3469005" cy="512763"/>
          </a:xfrm>
        </p:spPr>
        <p:txBody>
          <a:bodyPr>
            <a:noAutofit/>
          </a:bodyPr>
          <a:lstStyle/>
          <a:p>
            <a:r>
              <a:rPr lang="zh-CN" altLang="en-US" sz="2800" b="1" dirty="0">
                <a:latin typeface="微软雅黑" panose="020B0503020204020204" pitchFamily="34" charset="-122"/>
                <a:ea typeface="微软雅黑" panose="020B0503020204020204" pitchFamily="34" charset="-122"/>
              </a:rPr>
              <a:t>研究背景和研究目标</a:t>
            </a:r>
            <a:endParaRPr lang="zh-CN" altLang="en-US" dirty="0"/>
          </a:p>
        </p:txBody>
      </p:sp>
      <p:sp>
        <p:nvSpPr>
          <p:cNvPr id="9" name="文本占位符 8"/>
          <p:cNvSpPr>
            <a:spLocks noGrp="1"/>
          </p:cNvSpPr>
          <p:nvPr>
            <p:ph type="body" sz="quarter" idx="16"/>
          </p:nvPr>
        </p:nvSpPr>
        <p:spPr>
          <a:xfrm>
            <a:off x="5197475" y="2519680"/>
            <a:ext cx="2997200" cy="652145"/>
          </a:xfrm>
        </p:spPr>
        <p:txBody>
          <a:bodyPr>
            <a:noAutofit/>
          </a:bodyPr>
          <a:lstStyle/>
          <a:p>
            <a:r>
              <a:rPr lang="en-US" altLang="zh-CN" sz="3600" b="1" kern="0" dirty="0">
                <a:solidFill>
                  <a:srgbClr val="6A0160"/>
                </a:solidFill>
                <a:uFillTx/>
                <a:latin typeface="+mn-lt"/>
                <a:cs typeface="+mn-lt"/>
              </a:rPr>
              <a:t>Introduction</a:t>
            </a:r>
          </a:p>
        </p:txBody>
      </p:sp>
      <p:sp>
        <p:nvSpPr>
          <p:cNvPr id="2" name="灯片编号占位符 1"/>
          <p:cNvSpPr>
            <a:spLocks noGrp="1"/>
          </p:cNvSpPr>
          <p:nvPr>
            <p:ph type="sldNum" sz="quarter" idx="12"/>
          </p:nvPr>
        </p:nvSpPr>
        <p:spPr/>
        <p:txBody>
          <a:bodyPr/>
          <a:lstStyle/>
          <a:p>
            <a:fld id="{C6CB85E4-9B6E-41B6-BE28-34B8FDE32807}" type="slidenum">
              <a:rPr lang="zh-CN" altLang="en-US" smtClean="0"/>
              <a:t>3</a:t>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advTm="208"/>
    </mc:Choice>
    <mc:Fallback>
      <p:transition spd="slow" advTm="208"/>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图片 3" descr="upload_post_object_v2_395200873"/>
          <p:cNvPicPr>
            <a:picLocks noChangeAspect="1"/>
          </p:cNvPicPr>
          <p:nvPr/>
        </p:nvPicPr>
        <p:blipFill>
          <a:blip r:embed="rId3"/>
          <a:stretch>
            <a:fillRect/>
          </a:stretch>
        </p:blipFill>
        <p:spPr>
          <a:xfrm>
            <a:off x="7812795" y="894083"/>
            <a:ext cx="2889154" cy="2261077"/>
          </a:xfrm>
          <a:prstGeom prst="rect">
            <a:avLst/>
          </a:prstGeom>
        </p:spPr>
      </p:pic>
      <p:sp>
        <p:nvSpPr>
          <p:cNvPr id="32" name="Content Placeholder 2"/>
          <p:cNvSpPr txBox="1"/>
          <p:nvPr/>
        </p:nvSpPr>
        <p:spPr>
          <a:xfrm>
            <a:off x="321402" y="1206877"/>
            <a:ext cx="6713243" cy="2471505"/>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400" b="1" dirty="0">
                <a:uFillTx/>
                <a:latin typeface="Gill Sans" panose="020B0502020104020203" charset="0"/>
                <a:ea typeface="等线" panose="02010600030101010101" charset="-122"/>
                <a:cs typeface="等线" panose="02010600030101010101" charset="-122"/>
                <a:sym typeface="+mn-ea"/>
              </a:rPr>
              <a:t>新兴云计算开发范式 </a:t>
            </a:r>
            <a:r>
              <a:rPr lang="en-US" altLang="zh-CN" sz="2400" b="1" dirty="0">
                <a:uFillTx/>
                <a:latin typeface="Gill Sans" panose="020B0502020104020203" charset="0"/>
                <a:ea typeface="等线" panose="02010600030101010101" charset="-122"/>
                <a:cs typeface="等线" panose="02010600030101010101" charset="-122"/>
                <a:sym typeface="+mn-ea"/>
              </a:rPr>
              <a:t>Serverless </a:t>
            </a:r>
            <a:r>
              <a:rPr lang="zh-CN" altLang="en-US" sz="2400" b="1" dirty="0">
                <a:uFillTx/>
                <a:latin typeface="Gill Sans" panose="020B0502020104020203" charset="0"/>
                <a:ea typeface="等线" panose="02010600030101010101" charset="-122"/>
                <a:cs typeface="等线" panose="02010600030101010101" charset="-122"/>
                <a:sym typeface="+mn-ea"/>
              </a:rPr>
              <a:t>计算快速发展</a:t>
            </a:r>
          </a:p>
          <a:p>
            <a:pPr marL="800100" lvl="2"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solidFill>
                  <a:schemeClr val="tx1"/>
                </a:solidFill>
                <a:uFillTx/>
                <a:latin typeface="Gill Sans" panose="020B0502020104020203" charset="0"/>
                <a:ea typeface="等线" panose="02010600030101010101" charset="-122"/>
                <a:cs typeface="等线" panose="02010600030101010101" charset="-122"/>
              </a:rPr>
              <a:t>降低基础设施管理负担</a:t>
            </a:r>
            <a:endParaRPr lang="en-US" altLang="zh-CN" sz="2000" dirty="0">
              <a:solidFill>
                <a:schemeClr val="tx1"/>
              </a:solidFill>
              <a:uFillTx/>
              <a:latin typeface="Gill Sans" panose="020B0502020104020203" charset="0"/>
              <a:ea typeface="等线" panose="02010600030101010101" charset="-122"/>
              <a:cs typeface="等线" panose="02010600030101010101" charset="-122"/>
            </a:endParaRPr>
          </a:p>
          <a:p>
            <a:pPr marL="800100" lvl="2"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solidFill>
                  <a:schemeClr val="tx1"/>
                </a:solidFill>
                <a:uFillTx/>
                <a:latin typeface="Gill Sans" panose="020B0502020104020203" charset="0"/>
                <a:ea typeface="等线" panose="02010600030101010101" charset="-122"/>
                <a:cs typeface="等线" panose="02010600030101010101" charset="-122"/>
              </a:rPr>
              <a:t>按需计费，具备弹性扩缩能力</a:t>
            </a:r>
            <a:endParaRPr lang="en-US" altLang="zh-CN" sz="2000" dirty="0">
              <a:solidFill>
                <a:schemeClr val="tx1"/>
              </a:solidFill>
              <a:uFillTx/>
              <a:latin typeface="Gill Sans" panose="020B0502020104020203" charset="0"/>
              <a:ea typeface="等线" panose="02010600030101010101" charset="-122"/>
              <a:cs typeface="等线" panose="02010600030101010101" charset="-122"/>
            </a:endParaRPr>
          </a:p>
          <a:p>
            <a:pPr marL="800100" lvl="2"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solidFill>
                  <a:schemeClr val="tx1"/>
                </a:solidFill>
                <a:uFillTx/>
                <a:latin typeface="Gill Sans" panose="020B0502020104020203" charset="0"/>
                <a:ea typeface="等线" panose="02010600030101010101" charset="-122"/>
                <a:cs typeface="等线" panose="02010600030101010101" charset="-122"/>
              </a:rPr>
              <a:t>已广泛用于事件驱动应用开发</a:t>
            </a:r>
            <a:endParaRPr lang="en-US" altLang="zh-CN" sz="2000" dirty="0">
              <a:solidFill>
                <a:schemeClr val="tx1"/>
              </a:solidFill>
              <a:uFillTx/>
              <a:latin typeface="Gill Sans" panose="020B0502020104020203" charset="0"/>
              <a:ea typeface="等线" panose="02010600030101010101" charset="-122"/>
              <a:cs typeface="等线" panose="02010600030101010101" charset="-122"/>
            </a:endParaRPr>
          </a:p>
        </p:txBody>
      </p:sp>
      <p:sp>
        <p:nvSpPr>
          <p:cNvPr id="3" name="文本占位符 2"/>
          <p:cNvSpPr>
            <a:spLocks noGrp="1"/>
          </p:cNvSpPr>
          <p:nvPr>
            <p:ph type="body" sz="quarter" idx="14"/>
          </p:nvPr>
        </p:nvSpPr>
        <p:spPr>
          <a:xfrm>
            <a:off x="1148080" y="271145"/>
            <a:ext cx="5183505" cy="436880"/>
          </a:xfrm>
        </p:spPr>
        <p:txBody>
          <a:bodyPr/>
          <a:lstStyle/>
          <a:p>
            <a:r>
              <a:rPr lang="zh-CN" altLang="en-US" dirty="0">
                <a:sym typeface="+mn-ea"/>
              </a:rPr>
              <a:t>研究背景</a:t>
            </a:r>
          </a:p>
        </p:txBody>
      </p:sp>
      <p:sp>
        <p:nvSpPr>
          <p:cNvPr id="2" name="灯片编号占位符 1"/>
          <p:cNvSpPr>
            <a:spLocks noGrp="1"/>
          </p:cNvSpPr>
          <p:nvPr>
            <p:ph type="sldNum" sz="quarter" idx="12"/>
          </p:nvPr>
        </p:nvSpPr>
        <p:spPr/>
        <p:txBody>
          <a:bodyPr/>
          <a:lstStyle/>
          <a:p>
            <a:fld id="{C6CB85E4-9B6E-41B6-BE28-34B8FDE32807}" type="slidenum">
              <a:rPr lang="zh-CN" altLang="en-US" smtClean="0"/>
              <a:t>4</a:t>
            </a:fld>
            <a:endParaRPr lang="zh-CN" altLang="en-US"/>
          </a:p>
        </p:txBody>
      </p:sp>
      <p:sp>
        <p:nvSpPr>
          <p:cNvPr id="38" name="文本框 37">
            <a:extLst>
              <a:ext uri="{FF2B5EF4-FFF2-40B4-BE49-F238E27FC236}">
                <a16:creationId xmlns:a16="http://schemas.microsoft.com/office/drawing/2014/main" id="{E9B74C58-60A2-9DD9-818C-71DADCE49A0B}"/>
              </a:ext>
            </a:extLst>
          </p:cNvPr>
          <p:cNvSpPr txBox="1"/>
          <p:nvPr/>
        </p:nvSpPr>
        <p:spPr>
          <a:xfrm>
            <a:off x="8166494" y="3059668"/>
            <a:ext cx="2147517" cy="369332"/>
          </a:xfrm>
          <a:prstGeom prst="rect">
            <a:avLst/>
          </a:prstGeom>
          <a:noFill/>
        </p:spPr>
        <p:txBody>
          <a:bodyPr wrap="square">
            <a:spAutoFit/>
          </a:bodyPr>
          <a:lstStyle/>
          <a:p>
            <a:r>
              <a:rPr lang="en-US" altLang="zh-CN" dirty="0">
                <a:latin typeface="Gill Sans" panose="020B0502020104020203" charset="0"/>
                <a:ea typeface="等线" panose="02010600030101010101" charset="-122"/>
              </a:rPr>
              <a:t>Serverless </a:t>
            </a:r>
            <a:r>
              <a:rPr lang="zh-CN" altLang="en-US" dirty="0">
                <a:latin typeface="Gill Sans" panose="020B0502020104020203" charset="0"/>
                <a:ea typeface="等线" panose="02010600030101010101" charset="-122"/>
              </a:rPr>
              <a:t>四大特性</a:t>
            </a:r>
            <a:endParaRPr lang="zh-CN" altLang="en-US" dirty="0"/>
          </a:p>
        </p:txBody>
      </p:sp>
      <p:pic>
        <p:nvPicPr>
          <p:cNvPr id="6" name="图片 5">
            <a:extLst>
              <a:ext uri="{FF2B5EF4-FFF2-40B4-BE49-F238E27FC236}">
                <a16:creationId xmlns:a16="http://schemas.microsoft.com/office/drawing/2014/main" id="{B1CADB86-F2FF-8ADC-AD44-EAAA9E459CF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38778" y="3429000"/>
            <a:ext cx="6174017" cy="2414892"/>
          </a:xfrm>
          <a:prstGeom prst="rect">
            <a:avLst/>
          </a:prstGeom>
        </p:spPr>
      </p:pic>
      <p:sp>
        <p:nvSpPr>
          <p:cNvPr id="11" name="文本框 10">
            <a:extLst>
              <a:ext uri="{FF2B5EF4-FFF2-40B4-BE49-F238E27FC236}">
                <a16:creationId xmlns:a16="http://schemas.microsoft.com/office/drawing/2014/main" id="{6FD0A98D-0DFA-64FA-C634-8086FED07A63}"/>
              </a:ext>
            </a:extLst>
          </p:cNvPr>
          <p:cNvSpPr txBox="1"/>
          <p:nvPr/>
        </p:nvSpPr>
        <p:spPr>
          <a:xfrm>
            <a:off x="3274107" y="5900505"/>
            <a:ext cx="3760538" cy="369332"/>
          </a:xfrm>
          <a:prstGeom prst="rect">
            <a:avLst/>
          </a:prstGeom>
          <a:noFill/>
        </p:spPr>
        <p:txBody>
          <a:bodyPr wrap="square">
            <a:spAutoFit/>
          </a:bodyPr>
          <a:lstStyle/>
          <a:p>
            <a:r>
              <a:rPr lang="zh-CN" altLang="en-US" dirty="0">
                <a:latin typeface="Gill Sans" panose="020B0502020104020203" charset="0"/>
                <a:ea typeface="等线" panose="02010600030101010101" charset="-122"/>
              </a:rPr>
              <a:t>几种云服务模式的区别比较</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advTm="4"/>
    </mc:Choice>
    <mc:Fallback>
      <p:transition spd="slow" advTm="4"/>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Content Placeholder 2"/>
          <p:cNvSpPr txBox="1"/>
          <p:nvPr/>
        </p:nvSpPr>
        <p:spPr>
          <a:xfrm>
            <a:off x="320400" y="1206000"/>
            <a:ext cx="7154857" cy="2556658"/>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342900">
              <a:lnSpc>
                <a:spcPct val="150000"/>
              </a:lnSpc>
              <a:spcBef>
                <a:spcPts val="2000"/>
              </a:spcBef>
              <a:buClr>
                <a:schemeClr val="accent4">
                  <a:lumMod val="50000"/>
                </a:schemeClr>
              </a:buClr>
              <a:buSzPct val="70000"/>
              <a:buFont typeface="Wingdings" panose="05000000000000000000" pitchFamily="2" charset="2"/>
              <a:buChar char="q"/>
            </a:pPr>
            <a:r>
              <a:rPr lang="zh-CN" altLang="en-US" sz="2400" b="1" dirty="0">
                <a:latin typeface="Gill Sans" panose="020B0502020104020203" charset="0"/>
                <a:ea typeface="等线" panose="02010600030101010101" charset="-122"/>
              </a:rPr>
              <a:t>单函数应用向多函数工作流演进</a:t>
            </a:r>
            <a:endParaRPr lang="en-US" altLang="zh-CN" sz="2400" b="1" dirty="0">
              <a:latin typeface="Gill Sans" panose="020B0502020104020203" charset="0"/>
              <a:ea typeface="等线" panose="02010600030101010101" charset="-122"/>
            </a:endParaRPr>
          </a:p>
          <a:p>
            <a:pPr marL="800100" lvl="2" indent="-342900">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复杂业务难以由单函数独立完成</a:t>
            </a:r>
            <a:endParaRPr lang="en-US" altLang="zh-CN" sz="2000" dirty="0">
              <a:latin typeface="Gill Sans" panose="020B0502020104020203" charset="0"/>
              <a:ea typeface="等线" panose="02010600030101010101" charset="-122"/>
            </a:endParaRPr>
          </a:p>
          <a:p>
            <a:pPr marL="800100" lvl="2" indent="-342900">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多个函数需通过控制流与数据流组成工作流</a:t>
            </a:r>
            <a:endParaRPr lang="en-US" altLang="zh-CN" sz="2000" dirty="0">
              <a:latin typeface="Gill Sans" panose="020B0502020104020203" charset="0"/>
              <a:ea typeface="等线" panose="02010600030101010101" charset="-122"/>
            </a:endParaRPr>
          </a:p>
          <a:p>
            <a:pPr marL="800100" lvl="2" indent="-342900">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因此，优化目标也从单函数性能转向工作流端到端性能</a:t>
            </a:r>
            <a:endParaRPr lang="en-US" altLang="zh-CN" sz="2000" dirty="0">
              <a:latin typeface="Gill Sans" panose="020B0502020104020203" charset="0"/>
              <a:ea typeface="等线" panose="02010600030101010101" charset="-122"/>
            </a:endParaRPr>
          </a:p>
          <a:p>
            <a:pPr marL="800100" lvl="2" indent="-342900">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如何降低工作流端到端延迟，成为核心问题</a:t>
            </a:r>
          </a:p>
        </p:txBody>
      </p:sp>
      <p:sp>
        <p:nvSpPr>
          <p:cNvPr id="3" name="文本占位符 2"/>
          <p:cNvSpPr>
            <a:spLocks noGrp="1"/>
          </p:cNvSpPr>
          <p:nvPr>
            <p:ph type="body" sz="quarter" idx="14"/>
          </p:nvPr>
        </p:nvSpPr>
        <p:spPr>
          <a:xfrm>
            <a:off x="1148080" y="271145"/>
            <a:ext cx="5183505" cy="436880"/>
          </a:xfrm>
        </p:spPr>
        <p:txBody>
          <a:bodyPr/>
          <a:lstStyle/>
          <a:p>
            <a:r>
              <a:rPr lang="zh-CN" altLang="en-US" dirty="0">
                <a:sym typeface="+mn-ea"/>
              </a:rPr>
              <a:t>研究背景</a:t>
            </a:r>
          </a:p>
        </p:txBody>
      </p:sp>
      <p:sp>
        <p:nvSpPr>
          <p:cNvPr id="2" name="灯片编号占位符 1"/>
          <p:cNvSpPr>
            <a:spLocks noGrp="1"/>
          </p:cNvSpPr>
          <p:nvPr>
            <p:ph type="sldNum" sz="quarter" idx="12"/>
          </p:nvPr>
        </p:nvSpPr>
        <p:spPr/>
        <p:txBody>
          <a:bodyPr/>
          <a:lstStyle/>
          <a:p>
            <a:fld id="{C6CB85E4-9B6E-41B6-BE28-34B8FDE32807}" type="slidenum">
              <a:rPr lang="zh-CN" altLang="en-US" smtClean="0"/>
              <a:t>5</a:t>
            </a:fld>
            <a:endParaRPr lang="zh-CN" altLang="en-US"/>
          </a:p>
        </p:txBody>
      </p:sp>
      <p:pic>
        <p:nvPicPr>
          <p:cNvPr id="34" name="图片 33">
            <a:extLst>
              <a:ext uri="{FF2B5EF4-FFF2-40B4-BE49-F238E27FC236}">
                <a16:creationId xmlns:a16="http://schemas.microsoft.com/office/drawing/2014/main" id="{22F71793-9217-D7CE-B7D3-065293D970EC}"/>
              </a:ext>
            </a:extLst>
          </p:cNvPr>
          <p:cNvPicPr>
            <a:picLocks noChangeAspect="1"/>
          </p:cNvPicPr>
          <p:nvPr/>
        </p:nvPicPr>
        <p:blipFill>
          <a:blip r:embed="rId3"/>
          <a:stretch>
            <a:fillRect/>
          </a:stretch>
        </p:blipFill>
        <p:spPr>
          <a:xfrm>
            <a:off x="6494890" y="3381072"/>
            <a:ext cx="4892532" cy="2261076"/>
          </a:xfrm>
          <a:prstGeom prst="rect">
            <a:avLst/>
          </a:prstGeom>
        </p:spPr>
      </p:pic>
      <p:sp>
        <p:nvSpPr>
          <p:cNvPr id="37" name="文本框 36">
            <a:extLst>
              <a:ext uri="{FF2B5EF4-FFF2-40B4-BE49-F238E27FC236}">
                <a16:creationId xmlns:a16="http://schemas.microsoft.com/office/drawing/2014/main" id="{99EC920E-0F19-DDDC-C0EC-2E887DB2CB2B}"/>
              </a:ext>
            </a:extLst>
          </p:cNvPr>
          <p:cNvSpPr txBox="1"/>
          <p:nvPr/>
        </p:nvSpPr>
        <p:spPr>
          <a:xfrm>
            <a:off x="7596368" y="5564217"/>
            <a:ext cx="2689575" cy="369332"/>
          </a:xfrm>
          <a:prstGeom prst="rect">
            <a:avLst/>
          </a:prstGeom>
          <a:noFill/>
        </p:spPr>
        <p:txBody>
          <a:bodyPr wrap="square">
            <a:spAutoFit/>
          </a:bodyPr>
          <a:lstStyle/>
          <a:p>
            <a:r>
              <a:rPr lang="zh-CN" altLang="en-US" dirty="0">
                <a:latin typeface="Gill Sans" panose="020B0502020104020203" charset="0"/>
                <a:ea typeface="等线" panose="02010600030101010101" charset="-122"/>
              </a:rPr>
              <a:t>编排式 </a:t>
            </a:r>
            <a:r>
              <a:rPr lang="en-US" altLang="zh-CN" dirty="0">
                <a:latin typeface="Gill Sans" panose="020B0502020104020203" charset="0"/>
                <a:ea typeface="等线" panose="02010600030101010101" charset="-122"/>
              </a:rPr>
              <a:t>Serverless </a:t>
            </a:r>
            <a:r>
              <a:rPr lang="zh-CN" altLang="en-US" dirty="0">
                <a:latin typeface="Gill Sans" panose="020B0502020104020203" charset="0"/>
                <a:ea typeface="等线" panose="02010600030101010101" charset="-122"/>
              </a:rPr>
              <a:t>工作流</a:t>
            </a:r>
            <a:endParaRPr lang="zh-CN" altLang="en-US" dirty="0"/>
          </a:p>
        </p:txBody>
      </p:sp>
    </p:spTree>
    <p:extLst>
      <p:ext uri="{BB962C8B-B14F-4D97-AF65-F5344CB8AC3E}">
        <p14:creationId xmlns:p14="http://schemas.microsoft.com/office/powerpoint/2010/main" val="2337406618"/>
      </p:ext>
    </p:extLst>
  </p:cSld>
  <p:clrMapOvr>
    <a:masterClrMapping/>
  </p:clrMapOvr>
  <mc:AlternateContent xmlns:mc="http://schemas.openxmlformats.org/markup-compatibility/2006">
    <mc:Choice xmlns:p14="http://schemas.microsoft.com/office/powerpoint/2010/main" Requires="p14">
      <p:transition spd="slow" p14:dur="2000" advTm="9"/>
    </mc:Choice>
    <mc:Fallback>
      <p:transition spd="slow" advTm="9"/>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F7A58EB-9B30-39FE-4072-09B2A75BFD4D}"/>
              </a:ext>
            </a:extLst>
          </p:cNvPr>
          <p:cNvSpPr>
            <a:spLocks noGrp="1"/>
          </p:cNvSpPr>
          <p:nvPr>
            <p:ph type="sldNum" sz="quarter" idx="12"/>
          </p:nvPr>
        </p:nvSpPr>
        <p:spPr>
          <a:xfrm>
            <a:off x="9257372" y="6411916"/>
            <a:ext cx="2743200" cy="359886"/>
          </a:xfrm>
        </p:spPr>
        <p:txBody>
          <a:bodyPr/>
          <a:lstStyle/>
          <a:p>
            <a:fld id="{C6CB85E4-9B6E-41B6-BE28-34B8FDE32807}" type="slidenum">
              <a:rPr lang="zh-CN" altLang="en-US" smtClean="0"/>
              <a:t>6</a:t>
            </a:fld>
            <a:endParaRPr lang="zh-CN" altLang="en-US" dirty="0"/>
          </a:p>
        </p:txBody>
      </p:sp>
      <p:sp>
        <p:nvSpPr>
          <p:cNvPr id="3" name="文本占位符 2">
            <a:extLst>
              <a:ext uri="{FF2B5EF4-FFF2-40B4-BE49-F238E27FC236}">
                <a16:creationId xmlns:a16="http://schemas.microsoft.com/office/drawing/2014/main" id="{807324FA-A749-DEDA-5EE1-E3BDCEB515FE}"/>
              </a:ext>
            </a:extLst>
          </p:cNvPr>
          <p:cNvSpPr>
            <a:spLocks noGrp="1"/>
          </p:cNvSpPr>
          <p:nvPr>
            <p:ph type="body" sz="quarter" idx="14"/>
          </p:nvPr>
        </p:nvSpPr>
        <p:spPr>
          <a:xfrm>
            <a:off x="1147779" y="270910"/>
            <a:ext cx="3599174" cy="430342"/>
          </a:xfrm>
        </p:spPr>
        <p:txBody>
          <a:bodyPr/>
          <a:lstStyle/>
          <a:p>
            <a:r>
              <a:rPr lang="zh-CN" altLang="en-US" dirty="0"/>
              <a:t>研究现状与不足</a:t>
            </a:r>
          </a:p>
        </p:txBody>
      </p:sp>
      <p:sp>
        <p:nvSpPr>
          <p:cNvPr id="4" name="Content Placeholder 2">
            <a:extLst>
              <a:ext uri="{FF2B5EF4-FFF2-40B4-BE49-F238E27FC236}">
                <a16:creationId xmlns:a16="http://schemas.microsoft.com/office/drawing/2014/main" id="{BD218B0E-C544-61D1-85FF-0F3DC069B1EC}"/>
              </a:ext>
            </a:extLst>
          </p:cNvPr>
          <p:cNvSpPr txBox="1"/>
          <p:nvPr/>
        </p:nvSpPr>
        <p:spPr>
          <a:xfrm>
            <a:off x="320400" y="1206000"/>
            <a:ext cx="8027827" cy="4698234"/>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400" b="1" dirty="0">
                <a:uFillTx/>
                <a:latin typeface="Gill Sans" panose="020B0502020104020203" charset="0"/>
                <a:ea typeface="等线" panose="02010600030101010101" charset="-122"/>
                <a:cs typeface="等线" panose="02010600030101010101" charset="-122"/>
                <a:sym typeface="+mn-ea"/>
              </a:rPr>
              <a:t>现有研究</a:t>
            </a:r>
            <a:endParaRPr lang="en-US" altLang="zh-CN" sz="2400" b="1" dirty="0">
              <a:uFillTx/>
              <a:latin typeface="Gill Sans" panose="020B0502020104020203" charset="0"/>
              <a:ea typeface="等线" panose="02010600030101010101" charset="-122"/>
              <a:cs typeface="等线" panose="02010600030101010101" charset="-122"/>
              <a:sym typeface="+mn-ea"/>
            </a:endParaRPr>
          </a:p>
          <a:p>
            <a:pPr marL="800100" lvl="2" indent="-342900">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工作流编排：流程描述、状态维护与编排运行</a:t>
            </a:r>
            <a:endParaRPr lang="en-US" altLang="zh-CN" sz="2000" dirty="0">
              <a:latin typeface="Gill Sans" panose="020B0502020104020203" charset="0"/>
              <a:ea typeface="等线" panose="02010600030101010101" charset="-122"/>
            </a:endParaRPr>
          </a:p>
          <a:p>
            <a:pPr marL="800100" lvl="2" indent="-342900">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一般性能优化：冷启动、资源供给、通信与 </a:t>
            </a:r>
            <a:r>
              <a:rPr lang="en-US" altLang="zh-CN" sz="2000" dirty="0">
                <a:latin typeface="Gill Sans" panose="020B0502020104020203" charset="0"/>
                <a:ea typeface="等线" panose="02010600030101010101" charset="-122"/>
              </a:rPr>
              <a:t>I/O </a:t>
            </a:r>
            <a:r>
              <a:rPr lang="zh-CN" altLang="en-US" sz="2000" dirty="0">
                <a:latin typeface="Gill Sans" panose="020B0502020104020203" charset="0"/>
                <a:ea typeface="等线" panose="02010600030101010101" charset="-122"/>
              </a:rPr>
              <a:t>开销</a:t>
            </a:r>
            <a:endParaRPr lang="en-US" altLang="zh-CN" sz="2000" dirty="0">
              <a:latin typeface="Gill Sans" panose="020B0502020104020203" charset="0"/>
              <a:ea typeface="等线" panose="02010600030101010101" charset="-122"/>
            </a:endParaRPr>
          </a:p>
          <a:p>
            <a:pPr marL="800100" lvl="2" indent="-342900">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投机执行研究：预测路径并提前触发后继函数</a:t>
            </a:r>
            <a:endParaRPr lang="en-US" altLang="zh-CN" sz="2000" dirty="0">
              <a:latin typeface="Gill Sans" panose="020B0502020104020203" charset="0"/>
              <a:ea typeface="等线" panose="02010600030101010101" charset="-122"/>
            </a:endParaRPr>
          </a:p>
          <a:p>
            <a:pPr marL="342900" lvl="1" indent="-342900" fontAlgn="auto">
              <a:lnSpc>
                <a:spcPct val="150000"/>
              </a:lnSpc>
              <a:spcBef>
                <a:spcPts val="0"/>
              </a:spcBef>
              <a:buClr>
                <a:schemeClr val="accent4">
                  <a:lumMod val="50000"/>
                </a:schemeClr>
              </a:buClr>
              <a:buSzPct val="70000"/>
              <a:buFont typeface="Wingdings" panose="05000000000000000000" pitchFamily="2" charset="2"/>
              <a:buChar char="q"/>
            </a:pPr>
            <a:endParaRPr lang="en-US" altLang="zh-CN" sz="2000" dirty="0">
              <a:latin typeface="Gill Sans" panose="020B0502020104020203" charset="0"/>
              <a:ea typeface="等线" panose="02010600030101010101" charset="-122"/>
            </a:endParaRPr>
          </a:p>
          <a:p>
            <a:pPr marL="342900" lvl="1"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400" b="1" dirty="0">
                <a:uFillTx/>
                <a:latin typeface="Gill Sans" panose="020B0502020104020203" charset="0"/>
                <a:ea typeface="等线" panose="02010600030101010101" charset="-122"/>
                <a:cs typeface="等线" panose="02010600030101010101" charset="-122"/>
                <a:sym typeface="+mn-ea"/>
              </a:rPr>
              <a:t>存在不足</a:t>
            </a:r>
            <a:endParaRPr lang="en-US" altLang="zh-CN" sz="2000" dirty="0">
              <a:latin typeface="Gill Sans" panose="020B0502020104020203" charset="0"/>
              <a:ea typeface="等线" panose="02010600030101010101" charset="-122"/>
            </a:endParaRPr>
          </a:p>
          <a:p>
            <a:pPr marL="800100" lvl="2"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保守触发语义为主，难以突破控制不确定性带来的等待瓶颈</a:t>
            </a:r>
            <a:endParaRPr lang="en-US" altLang="zh-CN" sz="2000" dirty="0">
              <a:latin typeface="Gill Sans" panose="020B0502020104020203" charset="0"/>
              <a:ea typeface="等线" panose="02010600030101010101" charset="-122"/>
            </a:endParaRPr>
          </a:p>
          <a:p>
            <a:pPr marL="800100" lvl="2"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投机执行提供了新的优化思路，但研究较少</a:t>
            </a:r>
            <a:endParaRPr lang="en-US" altLang="zh-CN" sz="2000" dirty="0">
              <a:latin typeface="Gill Sans" panose="020B0502020104020203" charset="0"/>
              <a:ea typeface="等线" panose="02010600030101010101" charset="-122"/>
            </a:endParaRPr>
          </a:p>
          <a:p>
            <a:pPr marL="800100" lvl="2"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现有方法在面对 </a:t>
            </a:r>
            <a:r>
              <a:rPr lang="zh-CN" altLang="en-US" sz="2000" b="1" dirty="0">
                <a:latin typeface="Gill Sans" panose="020B0502020104020203" charset="0"/>
                <a:ea typeface="等线" panose="02010600030101010101" charset="-122"/>
              </a:rPr>
              <a:t>输入相关分支 </a:t>
            </a:r>
            <a:r>
              <a:rPr lang="zh-CN" altLang="en-US" sz="2000" dirty="0">
                <a:latin typeface="Gill Sans" panose="020B0502020104020203" charset="0"/>
                <a:ea typeface="等线" panose="02010600030101010101" charset="-122"/>
              </a:rPr>
              <a:t>和 </a:t>
            </a:r>
            <a:r>
              <a:rPr lang="zh-CN" altLang="en-US" sz="2000" b="1" dirty="0">
                <a:latin typeface="Gill Sans" panose="020B0502020104020203" charset="0"/>
                <a:ea typeface="等线" panose="02010600030101010101" charset="-122"/>
              </a:rPr>
              <a:t>动态负载 </a:t>
            </a:r>
            <a:r>
              <a:rPr lang="zh-CN" altLang="en-US" sz="2000" dirty="0">
                <a:latin typeface="Gill Sans" panose="020B0502020104020203" charset="0"/>
                <a:ea typeface="等线" panose="02010600030101010101" charset="-122"/>
              </a:rPr>
              <a:t>时，稳定性不足</a:t>
            </a:r>
            <a:endParaRPr lang="en-US" altLang="zh-CN" sz="2000" dirty="0">
              <a:latin typeface="Gill Sans" panose="020B0502020104020203" charset="0"/>
              <a:ea typeface="等线" panose="02010600030101010101" charset="-122"/>
            </a:endParaRPr>
          </a:p>
          <a:p>
            <a:pPr marL="800100" lvl="2" indent="-342900">
              <a:lnSpc>
                <a:spcPct val="150000"/>
              </a:lnSpc>
              <a:spcBef>
                <a:spcPts val="0"/>
              </a:spcBef>
              <a:buClr>
                <a:schemeClr val="accent4">
                  <a:lumMod val="50000"/>
                </a:schemeClr>
              </a:buClr>
              <a:buSzPct val="70000"/>
              <a:buFont typeface="Wingdings" panose="05000000000000000000" pitchFamily="2" charset="2"/>
              <a:buChar char="q"/>
            </a:pPr>
            <a:endParaRPr lang="en-US" altLang="zh-CN" sz="2000" dirty="0">
              <a:latin typeface="Gill Sans" panose="020B0502020104020203" charset="0"/>
              <a:ea typeface="等线" panose="02010600030101010101" charset="-122"/>
            </a:endParaRPr>
          </a:p>
        </p:txBody>
      </p:sp>
    </p:spTree>
    <p:extLst>
      <p:ext uri="{BB962C8B-B14F-4D97-AF65-F5344CB8AC3E}">
        <p14:creationId xmlns:p14="http://schemas.microsoft.com/office/powerpoint/2010/main" val="3351583582"/>
      </p:ext>
    </p:extLst>
  </p:cSld>
  <p:clrMapOvr>
    <a:masterClrMapping/>
  </p:clrMapOvr>
  <mc:AlternateContent xmlns:mc="http://schemas.openxmlformats.org/markup-compatibility/2006">
    <mc:Choice xmlns:p14="http://schemas.microsoft.com/office/powerpoint/2010/main" Requires="p14">
      <p:transition spd="slow" p14:dur="2000" advTm="10"/>
    </mc:Choice>
    <mc:Fallback>
      <p:transition spd="slow" advTm="1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F7A58EB-9B30-39FE-4072-09B2A75BFD4D}"/>
              </a:ext>
            </a:extLst>
          </p:cNvPr>
          <p:cNvSpPr>
            <a:spLocks noGrp="1"/>
          </p:cNvSpPr>
          <p:nvPr>
            <p:ph type="sldNum" sz="quarter" idx="12"/>
          </p:nvPr>
        </p:nvSpPr>
        <p:spPr/>
        <p:txBody>
          <a:bodyPr/>
          <a:lstStyle/>
          <a:p>
            <a:fld id="{C6CB85E4-9B6E-41B6-BE28-34B8FDE32807}" type="slidenum">
              <a:rPr lang="zh-CN" altLang="en-US" smtClean="0"/>
              <a:t>7</a:t>
            </a:fld>
            <a:endParaRPr lang="zh-CN" altLang="en-US" dirty="0"/>
          </a:p>
        </p:txBody>
      </p:sp>
      <p:sp>
        <p:nvSpPr>
          <p:cNvPr id="3" name="文本占位符 2">
            <a:extLst>
              <a:ext uri="{FF2B5EF4-FFF2-40B4-BE49-F238E27FC236}">
                <a16:creationId xmlns:a16="http://schemas.microsoft.com/office/drawing/2014/main" id="{807324FA-A749-DEDA-5EE1-E3BDCEB515FE}"/>
              </a:ext>
            </a:extLst>
          </p:cNvPr>
          <p:cNvSpPr>
            <a:spLocks noGrp="1"/>
          </p:cNvSpPr>
          <p:nvPr>
            <p:ph type="body" sz="quarter" idx="14"/>
          </p:nvPr>
        </p:nvSpPr>
        <p:spPr>
          <a:xfrm>
            <a:off x="1147779" y="270910"/>
            <a:ext cx="3907398" cy="436606"/>
          </a:xfrm>
        </p:spPr>
        <p:txBody>
          <a:bodyPr/>
          <a:lstStyle/>
          <a:p>
            <a:r>
              <a:rPr lang="zh-CN" altLang="en-US" dirty="0"/>
              <a:t>问题定位与研究目标</a:t>
            </a:r>
          </a:p>
        </p:txBody>
      </p:sp>
      <p:sp>
        <p:nvSpPr>
          <p:cNvPr id="8" name="Content Placeholder 2">
            <a:extLst>
              <a:ext uri="{FF2B5EF4-FFF2-40B4-BE49-F238E27FC236}">
                <a16:creationId xmlns:a16="http://schemas.microsoft.com/office/drawing/2014/main" id="{7F34E9D7-1F58-AE12-E016-933C08F4B218}"/>
              </a:ext>
            </a:extLst>
          </p:cNvPr>
          <p:cNvSpPr txBox="1"/>
          <p:nvPr/>
        </p:nvSpPr>
        <p:spPr>
          <a:xfrm>
            <a:off x="320400" y="1206001"/>
            <a:ext cx="8162775" cy="4415482"/>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400" b="1" dirty="0">
                <a:uFillTx/>
                <a:latin typeface="Gill Sans" panose="020B0502020104020203" charset="0"/>
                <a:ea typeface="等线" panose="02010600030101010101" charset="-122"/>
                <a:cs typeface="等线" panose="02010600030101010101" charset="-122"/>
                <a:sym typeface="+mn-ea"/>
              </a:rPr>
              <a:t>问题定位</a:t>
            </a:r>
            <a:endParaRPr lang="en-US" altLang="zh-CN" sz="2000" dirty="0">
              <a:latin typeface="Gill Sans" panose="020B0502020104020203" charset="0"/>
              <a:ea typeface="等线" panose="02010600030101010101" charset="-122"/>
            </a:endParaRPr>
          </a:p>
          <a:p>
            <a:pPr marL="685800" lvl="2" indent="-342900">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面向输入相关与动态变化场景的 </a:t>
            </a:r>
            <a:r>
              <a:rPr lang="en-US" altLang="zh-CN" sz="2000" dirty="0">
                <a:latin typeface="Gill Sans" panose="020B0502020104020203" charset="0"/>
                <a:ea typeface="等线" panose="02010600030101010101" charset="-122"/>
              </a:rPr>
              <a:t>Serverless </a:t>
            </a:r>
            <a:r>
              <a:rPr lang="zh-CN" altLang="en-US" sz="2000" dirty="0">
                <a:latin typeface="Gill Sans" panose="020B0502020104020203" charset="0"/>
                <a:ea typeface="等线" panose="02010600030101010101" charset="-122"/>
              </a:rPr>
              <a:t>工作流投机执行优化</a:t>
            </a:r>
            <a:endParaRPr lang="en-US" altLang="zh-CN" sz="2000" dirty="0">
              <a:latin typeface="Gill Sans" panose="020B0502020104020203" charset="0"/>
              <a:ea typeface="等线" panose="02010600030101010101" charset="-122"/>
            </a:endParaRPr>
          </a:p>
          <a:p>
            <a:pPr marL="685800" lvl="2" indent="-342900">
              <a:lnSpc>
                <a:spcPct val="150000"/>
              </a:lnSpc>
              <a:spcBef>
                <a:spcPts val="0"/>
              </a:spcBef>
              <a:buClr>
                <a:schemeClr val="accent4">
                  <a:lumMod val="50000"/>
                </a:schemeClr>
              </a:buClr>
              <a:buSzPct val="70000"/>
              <a:buFont typeface="Wingdings" panose="05000000000000000000" pitchFamily="2" charset="2"/>
              <a:buChar char="q"/>
            </a:pPr>
            <a:endParaRPr lang="en-US" altLang="zh-CN" sz="2000" dirty="0">
              <a:latin typeface="Gill Sans" panose="020B0502020104020203" charset="0"/>
              <a:ea typeface="等线" panose="02010600030101010101" charset="-122"/>
            </a:endParaRPr>
          </a:p>
          <a:p>
            <a:pPr marL="342900" lvl="1" indent="-342900">
              <a:lnSpc>
                <a:spcPct val="150000"/>
              </a:lnSpc>
              <a:spcBef>
                <a:spcPts val="0"/>
              </a:spcBef>
              <a:buClr>
                <a:schemeClr val="accent4">
                  <a:lumMod val="50000"/>
                </a:schemeClr>
              </a:buClr>
              <a:buSzPct val="70000"/>
              <a:buFont typeface="Wingdings" panose="05000000000000000000" pitchFamily="2" charset="2"/>
              <a:buChar char="q"/>
            </a:pPr>
            <a:r>
              <a:rPr lang="zh-CN" altLang="en-US" sz="2400" b="1" dirty="0">
                <a:latin typeface="Gill Sans" panose="020B0502020104020203" charset="0"/>
                <a:ea typeface="等线" panose="02010600030101010101" charset="-122"/>
                <a:sym typeface="+mn-ea"/>
              </a:rPr>
              <a:t>研究目标</a:t>
            </a:r>
            <a:endParaRPr lang="en-US" altLang="zh-CN" sz="2400" b="1" dirty="0">
              <a:latin typeface="Gill Sans" panose="020B0502020104020203" charset="0"/>
              <a:ea typeface="等线" panose="02010600030101010101" charset="-122"/>
              <a:sym typeface="+mn-ea"/>
            </a:endParaRPr>
          </a:p>
          <a:p>
            <a:pPr marL="800100" lvl="2" indent="-342900">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统一描述：构建投机执行模型与支撑框架</a:t>
            </a:r>
            <a:endParaRPr lang="en-US" altLang="zh-CN" sz="2000" dirty="0">
              <a:latin typeface="Gill Sans" panose="020B0502020104020203" charset="0"/>
              <a:ea typeface="等线" panose="02010600030101010101" charset="-122"/>
            </a:endParaRPr>
          </a:p>
          <a:p>
            <a:pPr marL="800100" lvl="2" indent="-342900">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预测优化：提升分支预测准确性与适应性</a:t>
            </a:r>
            <a:endParaRPr lang="en-US" altLang="zh-CN" sz="2000" dirty="0">
              <a:latin typeface="Gill Sans" panose="020B0502020104020203" charset="0"/>
              <a:ea typeface="等线" panose="02010600030101010101" charset="-122"/>
            </a:endParaRPr>
          </a:p>
          <a:p>
            <a:pPr marL="800100" lvl="2" indent="-342900">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性能收益：在不改变语义的前提下获得稳定的端到端收益</a:t>
            </a:r>
            <a:endParaRPr lang="en-US" altLang="zh-CN" sz="2000" dirty="0">
              <a:latin typeface="Gill Sans" panose="020B0502020104020203" charset="0"/>
              <a:ea typeface="等线" panose="02010600030101010101" charset="-122"/>
            </a:endParaRPr>
          </a:p>
          <a:p>
            <a:pPr marL="800100" lvl="2" indent="-342900" fontAlgn="auto">
              <a:lnSpc>
                <a:spcPct val="150000"/>
              </a:lnSpc>
              <a:spcBef>
                <a:spcPts val="0"/>
              </a:spcBef>
              <a:buClr>
                <a:schemeClr val="accent4">
                  <a:lumMod val="50000"/>
                </a:schemeClr>
              </a:buClr>
              <a:buSzPct val="70000"/>
              <a:buFont typeface="Wingdings" panose="05000000000000000000" pitchFamily="2" charset="2"/>
              <a:buChar char="q"/>
            </a:pPr>
            <a:endParaRPr lang="en-US" altLang="zh-CN" sz="2000" dirty="0">
              <a:latin typeface="Gill Sans" panose="020B0502020104020203" charset="0"/>
              <a:ea typeface="等线" panose="02010600030101010101" charset="-122"/>
            </a:endParaRPr>
          </a:p>
        </p:txBody>
      </p:sp>
    </p:spTree>
    <p:extLst>
      <p:ext uri="{BB962C8B-B14F-4D97-AF65-F5344CB8AC3E}">
        <p14:creationId xmlns:p14="http://schemas.microsoft.com/office/powerpoint/2010/main" val="761572835"/>
      </p:ext>
    </p:extLst>
  </p:cSld>
  <p:clrMapOvr>
    <a:masterClrMapping/>
  </p:clrMapOvr>
  <mc:AlternateContent xmlns:mc="http://schemas.openxmlformats.org/markup-compatibility/2006">
    <mc:Choice xmlns:p14="http://schemas.microsoft.com/office/powerpoint/2010/main" Requires="p14">
      <p:transition spd="slow" p14:dur="2000" advTm="16"/>
    </mc:Choice>
    <mc:Fallback>
      <p:transition spd="slow" advTm="16"/>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3"/>
          </p:nvPr>
        </p:nvSpPr>
        <p:spPr/>
        <p:txBody>
          <a:bodyPr/>
          <a:lstStyle/>
          <a:p>
            <a:r>
              <a:rPr lang="zh-CN" altLang="en-US" dirty="0"/>
              <a:t>第二部分</a:t>
            </a:r>
          </a:p>
        </p:txBody>
      </p:sp>
      <p:sp>
        <p:nvSpPr>
          <p:cNvPr id="8" name="文本占位符 7"/>
          <p:cNvSpPr>
            <a:spLocks noGrp="1"/>
          </p:cNvSpPr>
          <p:nvPr>
            <p:ph type="body" sz="quarter" idx="15"/>
          </p:nvPr>
        </p:nvSpPr>
        <p:spPr>
          <a:xfrm>
            <a:off x="5197474" y="3429000"/>
            <a:ext cx="3469005" cy="512763"/>
          </a:xfrm>
        </p:spPr>
        <p:txBody>
          <a:bodyPr>
            <a:noAutofit/>
          </a:bodyPr>
          <a:lstStyle/>
          <a:p>
            <a:r>
              <a:rPr lang="zh-CN" altLang="en-US" sz="2800" b="1" dirty="0">
                <a:latin typeface="微软雅黑" panose="020B0503020204020204" pitchFamily="34" charset="-122"/>
                <a:ea typeface="微软雅黑" panose="020B0503020204020204" pitchFamily="34" charset="-122"/>
              </a:rPr>
              <a:t>方法设计</a:t>
            </a:r>
            <a:endParaRPr lang="en-US" altLang="zh-CN" sz="2800" b="1" dirty="0">
              <a:latin typeface="微软雅黑" panose="020B0503020204020204" pitchFamily="34" charset="-122"/>
              <a:ea typeface="微软雅黑" panose="020B0503020204020204" pitchFamily="34" charset="-122"/>
            </a:endParaRPr>
          </a:p>
        </p:txBody>
      </p:sp>
      <p:sp>
        <p:nvSpPr>
          <p:cNvPr id="9" name="文本占位符 8"/>
          <p:cNvSpPr>
            <a:spLocks noGrp="1"/>
          </p:cNvSpPr>
          <p:nvPr>
            <p:ph type="body" sz="quarter" idx="16"/>
          </p:nvPr>
        </p:nvSpPr>
        <p:spPr>
          <a:xfrm>
            <a:off x="5197475" y="2519680"/>
            <a:ext cx="2997200" cy="652145"/>
          </a:xfrm>
        </p:spPr>
        <p:txBody>
          <a:bodyPr>
            <a:noAutofit/>
          </a:bodyPr>
          <a:lstStyle/>
          <a:p>
            <a:r>
              <a:rPr lang="en-US" altLang="zh-CN" sz="3600" b="1" kern="0" dirty="0">
                <a:solidFill>
                  <a:srgbClr val="6A0160"/>
                </a:solidFill>
                <a:uFillTx/>
                <a:latin typeface="+mn-lt"/>
                <a:cs typeface="+mn-lt"/>
              </a:rPr>
              <a:t>Method</a:t>
            </a:r>
          </a:p>
        </p:txBody>
      </p:sp>
      <p:sp>
        <p:nvSpPr>
          <p:cNvPr id="2" name="灯片编号占位符 1"/>
          <p:cNvSpPr>
            <a:spLocks noGrp="1"/>
          </p:cNvSpPr>
          <p:nvPr>
            <p:ph type="sldNum" sz="quarter" idx="12"/>
          </p:nvPr>
        </p:nvSpPr>
        <p:spPr/>
        <p:txBody>
          <a:bodyPr/>
          <a:lstStyle/>
          <a:p>
            <a:fld id="{C6CB85E4-9B6E-41B6-BE28-34B8FDE32807}" type="slidenum">
              <a:rPr lang="zh-CN" altLang="en-US" smtClean="0"/>
              <a:t>8</a:t>
            </a:fld>
            <a:endParaRPr lang="zh-CN" altLang="en-US" dirty="0"/>
          </a:p>
        </p:txBody>
      </p:sp>
    </p:spTree>
    <p:extLst>
      <p:ext uri="{BB962C8B-B14F-4D97-AF65-F5344CB8AC3E}">
        <p14:creationId xmlns:p14="http://schemas.microsoft.com/office/powerpoint/2010/main" val="2783372767"/>
      </p:ext>
    </p:extLst>
  </p:cSld>
  <p:clrMapOvr>
    <a:masterClrMapping/>
  </p:clrMapOvr>
  <mc:AlternateContent xmlns:mc="http://schemas.openxmlformats.org/markup-compatibility/2006">
    <mc:Choice xmlns:p14="http://schemas.microsoft.com/office/powerpoint/2010/main" Requires="p14">
      <p:transition spd="slow" p14:dur="2000" advTm="20"/>
    </mc:Choice>
    <mc:Fallback>
      <p:transition spd="slow" advTm="2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F7A58EB-9B30-39FE-4072-09B2A75BFD4D}"/>
              </a:ext>
            </a:extLst>
          </p:cNvPr>
          <p:cNvSpPr>
            <a:spLocks noGrp="1"/>
          </p:cNvSpPr>
          <p:nvPr>
            <p:ph type="sldNum" sz="quarter" idx="12"/>
          </p:nvPr>
        </p:nvSpPr>
        <p:spPr/>
        <p:txBody>
          <a:bodyPr/>
          <a:lstStyle/>
          <a:p>
            <a:fld id="{C6CB85E4-9B6E-41B6-BE28-34B8FDE32807}" type="slidenum">
              <a:rPr lang="zh-CN" altLang="en-US" smtClean="0"/>
              <a:t>9</a:t>
            </a:fld>
            <a:endParaRPr lang="zh-CN" altLang="en-US" dirty="0"/>
          </a:p>
        </p:txBody>
      </p:sp>
      <p:sp>
        <p:nvSpPr>
          <p:cNvPr id="3" name="文本占位符 2">
            <a:extLst>
              <a:ext uri="{FF2B5EF4-FFF2-40B4-BE49-F238E27FC236}">
                <a16:creationId xmlns:a16="http://schemas.microsoft.com/office/drawing/2014/main" id="{807324FA-A749-DEDA-5EE1-E3BDCEB515FE}"/>
              </a:ext>
            </a:extLst>
          </p:cNvPr>
          <p:cNvSpPr>
            <a:spLocks noGrp="1"/>
          </p:cNvSpPr>
          <p:nvPr>
            <p:ph type="body" sz="quarter" idx="14"/>
          </p:nvPr>
        </p:nvSpPr>
        <p:spPr>
          <a:xfrm>
            <a:off x="1147779" y="270910"/>
            <a:ext cx="3907398" cy="436606"/>
          </a:xfrm>
        </p:spPr>
        <p:txBody>
          <a:bodyPr/>
          <a:lstStyle/>
          <a:p>
            <a:r>
              <a:rPr lang="zh-CN" altLang="en-US" dirty="0"/>
              <a:t>方法总体思路</a:t>
            </a:r>
          </a:p>
        </p:txBody>
      </p:sp>
      <p:pic>
        <p:nvPicPr>
          <p:cNvPr id="33" name="图片 32">
            <a:extLst>
              <a:ext uri="{FF2B5EF4-FFF2-40B4-BE49-F238E27FC236}">
                <a16:creationId xmlns:a16="http://schemas.microsoft.com/office/drawing/2014/main" id="{F59D4965-C0C9-4520-8CC1-5DC6B7515AF6}"/>
              </a:ext>
            </a:extLst>
          </p:cNvPr>
          <p:cNvPicPr>
            <a:picLocks noChangeAspect="1"/>
          </p:cNvPicPr>
          <p:nvPr/>
        </p:nvPicPr>
        <p:blipFill>
          <a:blip r:embed="rId3"/>
          <a:stretch>
            <a:fillRect/>
          </a:stretch>
        </p:blipFill>
        <p:spPr>
          <a:xfrm>
            <a:off x="4524313" y="1757193"/>
            <a:ext cx="7476259" cy="3457600"/>
          </a:xfrm>
          <a:prstGeom prst="rect">
            <a:avLst/>
          </a:prstGeom>
        </p:spPr>
      </p:pic>
      <p:sp>
        <p:nvSpPr>
          <p:cNvPr id="35" name="文本框 34">
            <a:extLst>
              <a:ext uri="{FF2B5EF4-FFF2-40B4-BE49-F238E27FC236}">
                <a16:creationId xmlns:a16="http://schemas.microsoft.com/office/drawing/2014/main" id="{785A5B5E-5FB7-2640-F58F-11B33DEE1264}"/>
              </a:ext>
            </a:extLst>
          </p:cNvPr>
          <p:cNvSpPr txBox="1"/>
          <p:nvPr/>
        </p:nvSpPr>
        <p:spPr>
          <a:xfrm>
            <a:off x="7232686" y="5030127"/>
            <a:ext cx="2689575" cy="369332"/>
          </a:xfrm>
          <a:prstGeom prst="rect">
            <a:avLst/>
          </a:prstGeom>
          <a:noFill/>
        </p:spPr>
        <p:txBody>
          <a:bodyPr wrap="square">
            <a:spAutoFit/>
          </a:bodyPr>
          <a:lstStyle/>
          <a:p>
            <a:r>
              <a:rPr lang="zh-CN" altLang="en-US" dirty="0">
                <a:latin typeface="Gill Sans" panose="020B0502020104020203" charset="0"/>
                <a:ea typeface="等线" panose="02010600030101010101" charset="-122"/>
              </a:rPr>
              <a:t>优化方案总示意图</a:t>
            </a:r>
            <a:endParaRPr lang="zh-CN" altLang="en-US" dirty="0"/>
          </a:p>
        </p:txBody>
      </p:sp>
      <p:sp>
        <p:nvSpPr>
          <p:cNvPr id="37" name="Content Placeholder 2">
            <a:extLst>
              <a:ext uri="{FF2B5EF4-FFF2-40B4-BE49-F238E27FC236}">
                <a16:creationId xmlns:a16="http://schemas.microsoft.com/office/drawing/2014/main" id="{4E699F25-E528-4B4A-1411-DFBB7D4B0871}"/>
              </a:ext>
            </a:extLst>
          </p:cNvPr>
          <p:cNvSpPr txBox="1"/>
          <p:nvPr/>
        </p:nvSpPr>
        <p:spPr>
          <a:xfrm>
            <a:off x="321313" y="1757193"/>
            <a:ext cx="3975327" cy="3531784"/>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三类角色：用户、</a:t>
            </a:r>
            <a:r>
              <a:rPr lang="en-US" altLang="zh-CN" sz="2000" dirty="0">
                <a:latin typeface="Gill Sans" panose="020B0502020104020203" charset="0"/>
                <a:ea typeface="等线" panose="02010600030101010101" charset="-122"/>
              </a:rPr>
              <a:t>Serverless </a:t>
            </a:r>
            <a:r>
              <a:rPr lang="zh-CN" altLang="en-US" sz="2000" dirty="0">
                <a:latin typeface="Gill Sans" panose="020B0502020104020203" charset="0"/>
                <a:ea typeface="等线" panose="02010600030101010101" charset="-122"/>
              </a:rPr>
              <a:t>平台、</a:t>
            </a:r>
            <a:r>
              <a:rPr lang="en-US" altLang="zh-CN" sz="2000" dirty="0" err="1">
                <a:latin typeface="Gill Sans" panose="020B0502020104020203" charset="0"/>
                <a:ea typeface="等线" panose="02010600030101010101" charset="-122"/>
              </a:rPr>
              <a:t>SpecSW</a:t>
            </a:r>
            <a:r>
              <a:rPr lang="en-US" altLang="zh-CN" sz="2000" dirty="0">
                <a:latin typeface="Gill Sans" panose="020B0502020104020203" charset="0"/>
                <a:ea typeface="等线" panose="02010600030101010101" charset="-122"/>
              </a:rPr>
              <a:t> </a:t>
            </a:r>
            <a:r>
              <a:rPr lang="zh-CN" altLang="en-US" sz="2000" dirty="0">
                <a:latin typeface="Gill Sans" panose="020B0502020104020203" charset="0"/>
                <a:ea typeface="等线" panose="02010600030101010101" charset="-122"/>
              </a:rPr>
              <a:t>系统</a:t>
            </a:r>
            <a:endParaRPr lang="en-US" altLang="zh-CN" sz="2000" dirty="0">
              <a:latin typeface="Gill Sans" panose="020B0502020104020203" charset="0"/>
              <a:ea typeface="等线" panose="02010600030101010101" charset="-122"/>
            </a:endParaRPr>
          </a:p>
          <a:p>
            <a:pPr marL="342900" lvl="1"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运行机制：预测、门控、缓冲、验证恢复</a:t>
            </a:r>
            <a:endParaRPr lang="en-US" altLang="zh-CN" sz="2000" dirty="0">
              <a:latin typeface="Gill Sans" panose="020B0502020104020203" charset="0"/>
              <a:ea typeface="等线" panose="02010600030101010101" charset="-122"/>
            </a:endParaRPr>
          </a:p>
          <a:p>
            <a:pPr marL="342900" lvl="1"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优化目标：在保持语义一致前提下减少关键路径等待</a:t>
            </a:r>
            <a:endParaRPr lang="en-US" altLang="zh-CN" sz="2000" dirty="0">
              <a:latin typeface="Gill Sans" panose="020B0502020104020203" charset="0"/>
              <a:ea typeface="等线" panose="02010600030101010101" charset="-122"/>
            </a:endParaRPr>
          </a:p>
        </p:txBody>
      </p:sp>
      <p:sp>
        <p:nvSpPr>
          <p:cNvPr id="6" name="文本框 5">
            <a:extLst>
              <a:ext uri="{FF2B5EF4-FFF2-40B4-BE49-F238E27FC236}">
                <a16:creationId xmlns:a16="http://schemas.microsoft.com/office/drawing/2014/main" id="{5404F578-79DC-12F6-121C-7928FC93365B}"/>
              </a:ext>
            </a:extLst>
          </p:cNvPr>
          <p:cNvSpPr txBox="1"/>
          <p:nvPr/>
        </p:nvSpPr>
        <p:spPr>
          <a:xfrm>
            <a:off x="4184253" y="978310"/>
            <a:ext cx="2969888" cy="465448"/>
          </a:xfrm>
          <a:prstGeom prst="rect">
            <a:avLst/>
          </a:prstGeom>
          <a:noFill/>
        </p:spPr>
        <p:txBody>
          <a:bodyPr wrap="square">
            <a:spAutoFit/>
          </a:bodyPr>
          <a:lstStyle/>
          <a:p>
            <a:pPr marL="0" lvl="1" fontAlgn="auto">
              <a:lnSpc>
                <a:spcPct val="150000"/>
              </a:lnSpc>
              <a:spcBef>
                <a:spcPts val="0"/>
              </a:spcBef>
              <a:buClr>
                <a:schemeClr val="accent4">
                  <a:lumMod val="50000"/>
                </a:schemeClr>
              </a:buClr>
              <a:buSzPct val="70000"/>
            </a:pPr>
            <a:r>
              <a:rPr lang="zh-CN" altLang="en-US" sz="1800" dirty="0">
                <a:latin typeface="Gill Sans" panose="020B0502020104020203" charset="0"/>
                <a:ea typeface="等线" panose="02010600030101010101" charset="-122"/>
              </a:rPr>
              <a:t>设计并实现了 </a:t>
            </a:r>
            <a:r>
              <a:rPr lang="en-US" altLang="zh-CN" sz="1800" dirty="0" err="1">
                <a:latin typeface="Gill Sans" panose="020B0502020104020203" charset="0"/>
                <a:ea typeface="等线" panose="02010600030101010101" charset="-122"/>
              </a:rPr>
              <a:t>SpecSW</a:t>
            </a:r>
            <a:r>
              <a:rPr lang="en-US" altLang="zh-CN" sz="1800" dirty="0">
                <a:latin typeface="Gill Sans" panose="020B0502020104020203" charset="0"/>
                <a:ea typeface="等线" panose="02010600030101010101" charset="-122"/>
              </a:rPr>
              <a:t> </a:t>
            </a:r>
            <a:r>
              <a:rPr lang="zh-CN" altLang="en-US" sz="1800" dirty="0">
                <a:latin typeface="Gill Sans" panose="020B0502020104020203" charset="0"/>
                <a:ea typeface="等线" panose="02010600030101010101" charset="-122"/>
              </a:rPr>
              <a:t>方案</a:t>
            </a:r>
            <a:endParaRPr lang="en-US" altLang="zh-CN" sz="1800" dirty="0">
              <a:latin typeface="Gill Sans" panose="020B0502020104020203" charset="0"/>
              <a:ea typeface="等线" panose="02010600030101010101" charset="-122"/>
            </a:endParaRPr>
          </a:p>
        </p:txBody>
      </p:sp>
    </p:spTree>
    <p:extLst>
      <p:ext uri="{BB962C8B-B14F-4D97-AF65-F5344CB8AC3E}">
        <p14:creationId xmlns:p14="http://schemas.microsoft.com/office/powerpoint/2010/main" val="2565713041"/>
      </p:ext>
    </p:extLst>
  </p:cSld>
  <p:clrMapOvr>
    <a:masterClrMapping/>
  </p:clrMapOvr>
  <mc:AlternateContent xmlns:mc="http://schemas.openxmlformats.org/markup-compatibility/2006">
    <mc:Choice xmlns:p14="http://schemas.microsoft.com/office/powerpoint/2010/main" Requires="p14">
      <p:transition spd="slow" p14:dur="2000" advTm="270"/>
    </mc:Choice>
    <mc:Fallback>
      <p:transition spd="slow" advTm="27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798F458-3C83-3491-E577-DC842C9D0110}"/>
              </a:ext>
            </a:extLst>
          </p:cNvPr>
          <p:cNvSpPr>
            <a:spLocks noGrp="1"/>
          </p:cNvSpPr>
          <p:nvPr>
            <p:ph type="sldNum" sz="quarter" idx="12"/>
          </p:nvPr>
        </p:nvSpPr>
        <p:spPr/>
        <p:txBody>
          <a:bodyPr/>
          <a:lstStyle/>
          <a:p>
            <a:fld id="{C6CB85E4-9B6E-41B6-BE28-34B8FDE32807}" type="slidenum">
              <a:rPr lang="zh-CN" altLang="en-US" smtClean="0"/>
              <a:t>10</a:t>
            </a:fld>
            <a:endParaRPr lang="zh-CN" altLang="en-US" dirty="0"/>
          </a:p>
        </p:txBody>
      </p:sp>
      <p:sp>
        <p:nvSpPr>
          <p:cNvPr id="3" name="文本占位符 2">
            <a:extLst>
              <a:ext uri="{FF2B5EF4-FFF2-40B4-BE49-F238E27FC236}">
                <a16:creationId xmlns:a16="http://schemas.microsoft.com/office/drawing/2014/main" id="{B3EF60F1-E2FF-A958-4F71-4C07DFC84DF2}"/>
              </a:ext>
            </a:extLst>
          </p:cNvPr>
          <p:cNvSpPr>
            <a:spLocks noGrp="1"/>
          </p:cNvSpPr>
          <p:nvPr>
            <p:ph type="body" sz="quarter" idx="14"/>
          </p:nvPr>
        </p:nvSpPr>
        <p:spPr/>
        <p:txBody>
          <a:bodyPr/>
          <a:lstStyle/>
          <a:p>
            <a:r>
              <a:rPr lang="zh-CN" altLang="en-US" dirty="0"/>
              <a:t>投机执行模型</a:t>
            </a:r>
          </a:p>
        </p:txBody>
      </p:sp>
      <p:sp>
        <p:nvSpPr>
          <p:cNvPr id="6" name="Content Placeholder 2">
            <a:extLst>
              <a:ext uri="{FF2B5EF4-FFF2-40B4-BE49-F238E27FC236}">
                <a16:creationId xmlns:a16="http://schemas.microsoft.com/office/drawing/2014/main" id="{E51C347A-7061-ACA2-014F-E33B7DBAF309}"/>
              </a:ext>
            </a:extLst>
          </p:cNvPr>
          <p:cNvSpPr txBox="1"/>
          <p:nvPr/>
        </p:nvSpPr>
        <p:spPr>
          <a:xfrm>
            <a:off x="191428" y="2178788"/>
            <a:ext cx="5741693" cy="2975104"/>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工作流（</a:t>
            </a:r>
            <a:r>
              <a:rPr lang="en-US" altLang="zh-CN" sz="2000" dirty="0">
                <a:latin typeface="Gill Sans" panose="020B0502020104020203" charset="0"/>
                <a:ea typeface="等线" panose="02010600030101010101" charset="-122"/>
              </a:rPr>
              <a:t>Workflow</a:t>
            </a:r>
            <a:r>
              <a:rPr lang="zh-CN" altLang="en-US" sz="2000" dirty="0">
                <a:latin typeface="Gill Sans" panose="020B0502020104020203" charset="0"/>
                <a:ea typeface="等线" panose="02010600030101010101" charset="-122"/>
              </a:rPr>
              <a:t>）</a:t>
            </a:r>
            <a:endParaRPr lang="en-US" altLang="zh-CN" sz="2000" dirty="0">
              <a:latin typeface="Gill Sans" panose="020B0502020104020203" charset="0"/>
              <a:ea typeface="等线" panose="02010600030101010101" charset="-122"/>
            </a:endParaRPr>
          </a:p>
          <a:p>
            <a:pPr marL="342900" lvl="1"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控制器（</a:t>
            </a:r>
            <a:r>
              <a:rPr lang="en-US" altLang="zh-CN" sz="2000" dirty="0">
                <a:latin typeface="Gill Sans" panose="020B0502020104020203" charset="0"/>
                <a:ea typeface="等线" panose="02010600030101010101" charset="-122"/>
              </a:rPr>
              <a:t>Controller</a:t>
            </a:r>
            <a:r>
              <a:rPr lang="zh-CN" altLang="en-US" sz="2000" dirty="0">
                <a:latin typeface="Gill Sans" panose="020B0502020104020203" charset="0"/>
                <a:ea typeface="等线" panose="02010600030101010101" charset="-122"/>
              </a:rPr>
              <a:t>）</a:t>
            </a:r>
            <a:endParaRPr lang="en-US" altLang="zh-CN" sz="2000" dirty="0">
              <a:latin typeface="Gill Sans" panose="020B0502020104020203" charset="0"/>
              <a:ea typeface="等线" panose="02010600030101010101" charset="-122"/>
            </a:endParaRPr>
          </a:p>
          <a:p>
            <a:pPr marL="342900" lvl="1"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预测器（</a:t>
            </a:r>
            <a:r>
              <a:rPr lang="en-US" altLang="zh-CN" sz="2000" dirty="0">
                <a:latin typeface="Gill Sans" panose="020B0502020104020203" charset="0"/>
                <a:ea typeface="等线" panose="02010600030101010101" charset="-122"/>
              </a:rPr>
              <a:t>Predictor</a:t>
            </a:r>
            <a:r>
              <a:rPr lang="zh-CN" altLang="en-US" sz="2000" dirty="0">
                <a:latin typeface="Gill Sans" panose="020B0502020104020203" charset="0"/>
                <a:ea typeface="等线" panose="02010600030101010101" charset="-122"/>
              </a:rPr>
              <a:t>）</a:t>
            </a:r>
            <a:endParaRPr lang="en-US" altLang="zh-CN" sz="2000" dirty="0">
              <a:latin typeface="Gill Sans" panose="020B0502020104020203" charset="0"/>
              <a:ea typeface="等线" panose="02010600030101010101" charset="-122"/>
            </a:endParaRPr>
          </a:p>
          <a:p>
            <a:pPr marL="342900" lvl="1"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门控与预算（</a:t>
            </a:r>
            <a:r>
              <a:rPr lang="en-US" altLang="zh-CN" sz="2000" dirty="0">
                <a:latin typeface="Gill Sans" panose="020B0502020104020203" charset="0"/>
                <a:ea typeface="等线" panose="02010600030101010101" charset="-122"/>
              </a:rPr>
              <a:t>Gating &amp; Budgeting</a:t>
            </a:r>
            <a:r>
              <a:rPr lang="zh-CN" altLang="en-US" sz="2000" dirty="0">
                <a:latin typeface="Gill Sans" panose="020B0502020104020203" charset="0"/>
                <a:ea typeface="等线" panose="02010600030101010101" charset="-122"/>
              </a:rPr>
              <a:t>）</a:t>
            </a:r>
            <a:endParaRPr lang="en-US" altLang="zh-CN" sz="2000" dirty="0">
              <a:latin typeface="Gill Sans" panose="020B0502020104020203" charset="0"/>
              <a:ea typeface="等线" panose="02010600030101010101" charset="-122"/>
            </a:endParaRPr>
          </a:p>
          <a:p>
            <a:pPr marL="342900" lvl="1"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状态缓冲（</a:t>
            </a:r>
            <a:r>
              <a:rPr lang="en-US" altLang="zh-CN" sz="2000" dirty="0">
                <a:latin typeface="Gill Sans" panose="020B0502020104020203" charset="0"/>
                <a:ea typeface="等线" panose="02010600030101010101" charset="-122"/>
              </a:rPr>
              <a:t>Buffer</a:t>
            </a:r>
            <a:r>
              <a:rPr lang="zh-CN" altLang="en-US" sz="2000" dirty="0">
                <a:latin typeface="Gill Sans" panose="020B0502020104020203" charset="0"/>
                <a:ea typeface="等线" panose="02010600030101010101" charset="-122"/>
              </a:rPr>
              <a:t>）</a:t>
            </a:r>
            <a:endParaRPr lang="en-US" altLang="zh-CN" sz="2000" dirty="0">
              <a:latin typeface="Gill Sans" panose="020B0502020104020203" charset="0"/>
              <a:ea typeface="等线" panose="02010600030101010101" charset="-122"/>
            </a:endParaRPr>
          </a:p>
          <a:p>
            <a:pPr marL="342900" lvl="1"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验证与恢复（</a:t>
            </a:r>
            <a:r>
              <a:rPr lang="en-US" altLang="zh-CN" sz="2000" dirty="0">
                <a:latin typeface="Gill Sans" panose="020B0502020104020203" charset="0"/>
                <a:ea typeface="等线" panose="02010600030101010101" charset="-122"/>
              </a:rPr>
              <a:t>Validation &amp; Recovery</a:t>
            </a:r>
            <a:r>
              <a:rPr lang="zh-CN" altLang="en-US" sz="2000" dirty="0">
                <a:latin typeface="Gill Sans" panose="020B0502020104020203" charset="0"/>
                <a:ea typeface="等线" panose="02010600030101010101" charset="-122"/>
              </a:rPr>
              <a:t>）</a:t>
            </a:r>
            <a:endParaRPr lang="en-US" altLang="zh-CN" sz="2000" dirty="0">
              <a:latin typeface="Gill Sans" panose="020B0502020104020203" charset="0"/>
              <a:ea typeface="等线" panose="02010600030101010101" charset="-122"/>
            </a:endParaRPr>
          </a:p>
        </p:txBody>
      </p:sp>
      <p:pic>
        <p:nvPicPr>
          <p:cNvPr id="69" name="图片 68">
            <a:extLst>
              <a:ext uri="{FF2B5EF4-FFF2-40B4-BE49-F238E27FC236}">
                <a16:creationId xmlns:a16="http://schemas.microsoft.com/office/drawing/2014/main" id="{E7B513F5-2171-98D5-870B-884B27F912EC}"/>
              </a:ext>
            </a:extLst>
          </p:cNvPr>
          <p:cNvPicPr>
            <a:picLocks noChangeAspect="1"/>
          </p:cNvPicPr>
          <p:nvPr/>
        </p:nvPicPr>
        <p:blipFill>
          <a:blip r:embed="rId3"/>
          <a:stretch>
            <a:fillRect/>
          </a:stretch>
        </p:blipFill>
        <p:spPr>
          <a:xfrm>
            <a:off x="3115113" y="1277443"/>
            <a:ext cx="8885459" cy="4385602"/>
          </a:xfrm>
          <a:prstGeom prst="rect">
            <a:avLst/>
          </a:prstGeom>
        </p:spPr>
      </p:pic>
      <p:sp>
        <p:nvSpPr>
          <p:cNvPr id="8" name="文本框 7">
            <a:extLst>
              <a:ext uri="{FF2B5EF4-FFF2-40B4-BE49-F238E27FC236}">
                <a16:creationId xmlns:a16="http://schemas.microsoft.com/office/drawing/2014/main" id="{924113F7-614D-2685-26A9-D5633C48FA28}"/>
              </a:ext>
            </a:extLst>
          </p:cNvPr>
          <p:cNvSpPr txBox="1"/>
          <p:nvPr/>
        </p:nvSpPr>
        <p:spPr>
          <a:xfrm>
            <a:off x="1184147" y="5153892"/>
            <a:ext cx="8453421" cy="465448"/>
          </a:xfrm>
          <a:prstGeom prst="rect">
            <a:avLst/>
          </a:prstGeom>
          <a:noFill/>
        </p:spPr>
        <p:txBody>
          <a:bodyPr wrap="square">
            <a:spAutoFit/>
          </a:bodyPr>
          <a:lstStyle/>
          <a:p>
            <a:pPr marL="0" lvl="1" fontAlgn="auto">
              <a:lnSpc>
                <a:spcPct val="150000"/>
              </a:lnSpc>
              <a:spcBef>
                <a:spcPts val="0"/>
              </a:spcBef>
              <a:buClr>
                <a:schemeClr val="accent4">
                  <a:lumMod val="50000"/>
                </a:schemeClr>
              </a:buClr>
              <a:buSzPct val="70000"/>
            </a:pPr>
            <a:r>
              <a:rPr lang="zh-CN" altLang="en-US" sz="1800" dirty="0">
                <a:latin typeface="Gill Sans" panose="020B0502020104020203" charset="0"/>
                <a:ea typeface="等线" panose="02010600030101010101" charset="-122"/>
              </a:rPr>
              <a:t>作用：现有工作的面向特定系统的实现 </a:t>
            </a:r>
            <a:r>
              <a:rPr lang="en-US" altLang="zh-CN" sz="1800" dirty="0">
                <a:latin typeface="Gill Sans" panose="020B0502020104020203" charset="0"/>
                <a:ea typeface="等线" panose="02010600030101010101" charset="-122"/>
              </a:rPr>
              <a:t>-&gt; </a:t>
            </a:r>
            <a:r>
              <a:rPr lang="zh-CN" altLang="en-US" sz="1800" dirty="0">
                <a:latin typeface="Gill Sans" panose="020B0502020104020203" charset="0"/>
                <a:ea typeface="等线" panose="02010600030101010101" charset="-122"/>
              </a:rPr>
              <a:t>可统一描述、可工程实现的系统方法</a:t>
            </a:r>
            <a:r>
              <a:rPr lang="en-US" altLang="zh-CN" sz="1800" dirty="0">
                <a:latin typeface="Gill Sans" panose="020B0502020104020203" charset="0"/>
                <a:ea typeface="等线" panose="02010600030101010101" charset="-122"/>
              </a:rPr>
              <a:t> </a:t>
            </a:r>
          </a:p>
        </p:txBody>
      </p:sp>
      <p:sp>
        <p:nvSpPr>
          <p:cNvPr id="9" name="文本框 8">
            <a:extLst>
              <a:ext uri="{FF2B5EF4-FFF2-40B4-BE49-F238E27FC236}">
                <a16:creationId xmlns:a16="http://schemas.microsoft.com/office/drawing/2014/main" id="{77D1BC87-279B-A5FE-068D-CBEC3C25213B}"/>
              </a:ext>
            </a:extLst>
          </p:cNvPr>
          <p:cNvSpPr txBox="1"/>
          <p:nvPr/>
        </p:nvSpPr>
        <p:spPr>
          <a:xfrm>
            <a:off x="1147779" y="5767524"/>
            <a:ext cx="8716658" cy="465448"/>
          </a:xfrm>
          <a:prstGeom prst="rect">
            <a:avLst/>
          </a:prstGeom>
          <a:noFill/>
        </p:spPr>
        <p:txBody>
          <a:bodyPr wrap="square">
            <a:spAutoFit/>
          </a:bodyPr>
          <a:lstStyle/>
          <a:p>
            <a:pPr marL="0" lvl="1">
              <a:lnSpc>
                <a:spcPct val="150000"/>
              </a:lnSpc>
              <a:buClr>
                <a:schemeClr val="accent4">
                  <a:lumMod val="50000"/>
                </a:schemeClr>
              </a:buClr>
              <a:buSzPct val="70000"/>
            </a:pPr>
            <a:r>
              <a:rPr lang="zh-CN" altLang="en-US" sz="1800" dirty="0">
                <a:latin typeface="Gill Sans" panose="020B0502020104020203" charset="0"/>
                <a:ea typeface="等线" panose="02010600030101010101" charset="-122"/>
              </a:rPr>
              <a:t>在控制器的四个模块中</a:t>
            </a:r>
            <a:r>
              <a:rPr lang="zh-CN" altLang="en-US" dirty="0">
                <a:latin typeface="Gill Sans" panose="020B0502020104020203" charset="0"/>
                <a:ea typeface="等线" panose="02010600030101010101" charset="-122"/>
              </a:rPr>
              <a:t>，对于</a:t>
            </a:r>
            <a:r>
              <a:rPr lang="zh-CN" altLang="en-US" b="1" dirty="0">
                <a:latin typeface="Gill Sans" panose="020B0502020104020203" charset="0"/>
                <a:ea typeface="等线" panose="02010600030101010101" charset="-122"/>
              </a:rPr>
              <a:t>预测器（</a:t>
            </a:r>
            <a:r>
              <a:rPr lang="en-US" altLang="zh-CN" b="1" dirty="0">
                <a:latin typeface="Gill Sans" panose="020B0502020104020203" charset="0"/>
                <a:ea typeface="等线" panose="02010600030101010101" charset="-122"/>
              </a:rPr>
              <a:t>Predictor</a:t>
            </a:r>
            <a:r>
              <a:rPr lang="zh-CN" altLang="en-US" b="1" dirty="0">
                <a:latin typeface="Gill Sans" panose="020B0502020104020203" charset="0"/>
                <a:ea typeface="等线" panose="02010600030101010101" charset="-122"/>
              </a:rPr>
              <a:t>）</a:t>
            </a:r>
            <a:r>
              <a:rPr lang="zh-CN" altLang="en-US" dirty="0">
                <a:latin typeface="Gill Sans" panose="020B0502020104020203" charset="0"/>
                <a:ea typeface="等线" panose="02010600030101010101" charset="-122"/>
              </a:rPr>
              <a:t>，</a:t>
            </a:r>
            <a:r>
              <a:rPr lang="zh-CN" altLang="en-US" sz="1800" dirty="0">
                <a:latin typeface="Gill Sans" panose="020B0502020104020203" charset="0"/>
                <a:ea typeface="等线" panose="02010600030101010101" charset="-122"/>
              </a:rPr>
              <a:t>现有工作的设计明显太过粗犷</a:t>
            </a:r>
            <a:endParaRPr lang="en-US" altLang="zh-CN" sz="1800" dirty="0">
              <a:latin typeface="Gill Sans" panose="020B0502020104020203" charset="0"/>
              <a:ea typeface="等线" panose="02010600030101010101" charset="-122"/>
            </a:endParaRPr>
          </a:p>
        </p:txBody>
      </p:sp>
    </p:spTree>
    <p:extLst>
      <p:ext uri="{BB962C8B-B14F-4D97-AF65-F5344CB8AC3E}">
        <p14:creationId xmlns:p14="http://schemas.microsoft.com/office/powerpoint/2010/main" val="293561291"/>
      </p:ext>
    </p:extLst>
  </p:cSld>
  <p:clrMapOvr>
    <a:masterClrMapping/>
  </p:clrMapOvr>
  <mc:AlternateContent xmlns:mc="http://schemas.openxmlformats.org/markup-compatibility/2006">
    <mc:Choice xmlns:p14="http://schemas.microsoft.com/office/powerpoint/2010/main" Requires="p14">
      <p:transition spd="slow" p14:dur="2000" advTm="47"/>
    </mc:Choice>
    <mc:Fallback>
      <p:transition spd="slow" advTm="4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3A1C732-50BE-0C0B-E0BD-AF690CB610AF}"/>
              </a:ext>
            </a:extLst>
          </p:cNvPr>
          <p:cNvSpPr>
            <a:spLocks noGrp="1"/>
          </p:cNvSpPr>
          <p:nvPr>
            <p:ph type="sldNum" sz="quarter" idx="12"/>
          </p:nvPr>
        </p:nvSpPr>
        <p:spPr/>
        <p:txBody>
          <a:bodyPr/>
          <a:lstStyle/>
          <a:p>
            <a:fld id="{C6CB85E4-9B6E-41B6-BE28-34B8FDE32807}" type="slidenum">
              <a:rPr lang="zh-CN" altLang="en-US" smtClean="0"/>
              <a:t>11</a:t>
            </a:fld>
            <a:endParaRPr lang="zh-CN" altLang="en-US" dirty="0"/>
          </a:p>
        </p:txBody>
      </p:sp>
      <p:sp>
        <p:nvSpPr>
          <p:cNvPr id="3" name="文本占位符 2">
            <a:extLst>
              <a:ext uri="{FF2B5EF4-FFF2-40B4-BE49-F238E27FC236}">
                <a16:creationId xmlns:a16="http://schemas.microsoft.com/office/drawing/2014/main" id="{A750CDFF-79A5-AFC5-F869-1600462E5913}"/>
              </a:ext>
            </a:extLst>
          </p:cNvPr>
          <p:cNvSpPr>
            <a:spLocks noGrp="1"/>
          </p:cNvSpPr>
          <p:nvPr>
            <p:ph type="body" sz="quarter" idx="14"/>
          </p:nvPr>
        </p:nvSpPr>
        <p:spPr>
          <a:xfrm>
            <a:off x="1147779" y="270910"/>
            <a:ext cx="4234712" cy="436606"/>
          </a:xfrm>
        </p:spPr>
        <p:txBody>
          <a:bodyPr/>
          <a:lstStyle/>
          <a:p>
            <a:r>
              <a:rPr lang="zh-CN" altLang="en-US" dirty="0"/>
              <a:t>关键优化</a:t>
            </a:r>
            <a:r>
              <a:rPr lang="en-US" altLang="zh-CN" dirty="0"/>
              <a:t>-</a:t>
            </a:r>
            <a:r>
              <a:rPr lang="zh-CN" altLang="en-US" dirty="0"/>
              <a:t>现有工作不足</a:t>
            </a:r>
          </a:p>
        </p:txBody>
      </p:sp>
      <p:sp>
        <p:nvSpPr>
          <p:cNvPr id="7" name="文本框 6">
            <a:extLst>
              <a:ext uri="{FF2B5EF4-FFF2-40B4-BE49-F238E27FC236}">
                <a16:creationId xmlns:a16="http://schemas.microsoft.com/office/drawing/2014/main" id="{814B5E6C-D98F-CBF3-E6ED-A62A74E46CEF}"/>
              </a:ext>
            </a:extLst>
          </p:cNvPr>
          <p:cNvSpPr txBox="1"/>
          <p:nvPr/>
        </p:nvSpPr>
        <p:spPr>
          <a:xfrm>
            <a:off x="2686267" y="5373282"/>
            <a:ext cx="6819465" cy="465448"/>
          </a:xfrm>
          <a:prstGeom prst="rect">
            <a:avLst/>
          </a:prstGeom>
          <a:noFill/>
        </p:spPr>
        <p:txBody>
          <a:bodyPr wrap="square">
            <a:spAutoFit/>
          </a:bodyPr>
          <a:lstStyle/>
          <a:p>
            <a:pPr marL="457200" lvl="2" fontAlgn="auto">
              <a:lnSpc>
                <a:spcPct val="150000"/>
              </a:lnSpc>
              <a:spcBef>
                <a:spcPts val="0"/>
              </a:spcBef>
              <a:buClr>
                <a:schemeClr val="accent4">
                  <a:lumMod val="50000"/>
                </a:schemeClr>
              </a:buClr>
              <a:buSzPct val="70000"/>
            </a:pPr>
            <a:r>
              <a:rPr lang="zh-CN" altLang="en-US" sz="1800" dirty="0">
                <a:latin typeface="Gill Sans" panose="020B0502020104020203" charset="0"/>
                <a:ea typeface="等线" panose="02010600030101010101" charset="-122"/>
              </a:rPr>
              <a:t>预测器在面对 </a:t>
            </a:r>
            <a:r>
              <a:rPr lang="zh-CN" altLang="en-US" sz="1800" b="1" dirty="0">
                <a:latin typeface="Gill Sans" panose="020B0502020104020203" charset="0"/>
                <a:ea typeface="等线" panose="02010600030101010101" charset="-122"/>
              </a:rPr>
              <a:t>输入相关分支 </a:t>
            </a:r>
            <a:r>
              <a:rPr lang="zh-CN" altLang="en-US" sz="1800" dirty="0">
                <a:latin typeface="Gill Sans" panose="020B0502020104020203" charset="0"/>
                <a:ea typeface="等线" panose="02010600030101010101" charset="-122"/>
              </a:rPr>
              <a:t>和 </a:t>
            </a:r>
            <a:r>
              <a:rPr lang="zh-CN" altLang="en-US" sz="1800" b="1" dirty="0">
                <a:latin typeface="Gill Sans" panose="020B0502020104020203" charset="0"/>
                <a:ea typeface="等线" panose="02010600030101010101" charset="-122"/>
              </a:rPr>
              <a:t>动态负载 </a:t>
            </a:r>
            <a:r>
              <a:rPr lang="zh-CN" altLang="en-US" sz="1800" dirty="0">
                <a:latin typeface="Gill Sans" panose="020B0502020104020203" charset="0"/>
                <a:ea typeface="等线" panose="02010600030101010101" charset="-122"/>
              </a:rPr>
              <a:t>时，稳定性不足</a:t>
            </a:r>
            <a:endParaRPr lang="en-US" altLang="zh-CN" sz="1800" dirty="0">
              <a:latin typeface="Gill Sans" panose="020B0502020104020203" charset="0"/>
              <a:ea typeface="等线" panose="02010600030101010101" charset="-122"/>
            </a:endParaRPr>
          </a:p>
        </p:txBody>
      </p:sp>
      <p:grpSp>
        <p:nvGrpSpPr>
          <p:cNvPr id="14" name="组合 13">
            <a:extLst>
              <a:ext uri="{FF2B5EF4-FFF2-40B4-BE49-F238E27FC236}">
                <a16:creationId xmlns:a16="http://schemas.microsoft.com/office/drawing/2014/main" id="{FED2CF23-0E0C-D55E-40B0-BE03D18070EC}"/>
              </a:ext>
            </a:extLst>
          </p:cNvPr>
          <p:cNvGrpSpPr/>
          <p:nvPr/>
        </p:nvGrpSpPr>
        <p:grpSpPr>
          <a:xfrm>
            <a:off x="854220" y="1060944"/>
            <a:ext cx="5241780" cy="3941458"/>
            <a:chOff x="977179" y="1622874"/>
            <a:chExt cx="5241780" cy="3941458"/>
          </a:xfrm>
        </p:grpSpPr>
        <p:sp>
          <p:nvSpPr>
            <p:cNvPr id="8" name="Content Placeholder 2">
              <a:extLst>
                <a:ext uri="{FF2B5EF4-FFF2-40B4-BE49-F238E27FC236}">
                  <a16:creationId xmlns:a16="http://schemas.microsoft.com/office/drawing/2014/main" id="{764EF8E3-D366-E43A-4575-3EED276622EC}"/>
                </a:ext>
              </a:extLst>
            </p:cNvPr>
            <p:cNvSpPr txBox="1"/>
            <p:nvPr/>
          </p:nvSpPr>
          <p:spPr>
            <a:xfrm>
              <a:off x="977179" y="1622874"/>
              <a:ext cx="5241780" cy="3941458"/>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dirty="0">
                  <a:latin typeface="Gill Sans" panose="020B0502020104020203" charset="0"/>
                  <a:ea typeface="等线" panose="02010600030101010101" charset="-122"/>
                </a:rPr>
                <a:t>基于历史调用频率结果估计候选路径概率</a:t>
              </a:r>
              <a:endParaRPr lang="en-US" altLang="zh-CN" dirty="0">
                <a:latin typeface="Gill Sans" panose="020B0502020104020203" charset="0"/>
                <a:ea typeface="等线" panose="02010600030101010101" charset="-122"/>
              </a:endParaRPr>
            </a:p>
            <a:p>
              <a:pPr marL="0" lvl="1" indent="0" fontAlgn="auto">
                <a:lnSpc>
                  <a:spcPct val="150000"/>
                </a:lnSpc>
                <a:spcBef>
                  <a:spcPts val="0"/>
                </a:spcBef>
                <a:buClr>
                  <a:schemeClr val="accent4">
                    <a:lumMod val="50000"/>
                  </a:schemeClr>
                </a:buClr>
                <a:buSzPct val="70000"/>
                <a:buNone/>
              </a:pPr>
              <a:endParaRPr lang="en-US" altLang="zh-CN" dirty="0">
                <a:latin typeface="Gill Sans" panose="020B0502020104020203" charset="0"/>
                <a:ea typeface="等线" panose="02010600030101010101" charset="-122"/>
              </a:endParaRPr>
            </a:p>
            <a:p>
              <a:pPr marL="342900" lvl="1"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dirty="0">
                  <a:latin typeface="Gill Sans" panose="020B0502020104020203" charset="0"/>
                  <a:ea typeface="等线" panose="02010600030101010101" charset="-122"/>
                </a:rPr>
                <a:t>以到达路径作为上下文增强预测精度</a:t>
              </a:r>
              <a:endParaRPr lang="en-US" altLang="zh-CN" dirty="0">
                <a:latin typeface="Gill Sans" panose="020B0502020104020203" charset="0"/>
                <a:ea typeface="等线" panose="02010600030101010101" charset="-122"/>
              </a:endParaRPr>
            </a:p>
            <a:p>
              <a:pPr marL="342900" lvl="1" indent="-342900" fontAlgn="auto">
                <a:lnSpc>
                  <a:spcPct val="150000"/>
                </a:lnSpc>
                <a:spcBef>
                  <a:spcPts val="0"/>
                </a:spcBef>
                <a:buClr>
                  <a:schemeClr val="accent4">
                    <a:lumMod val="50000"/>
                  </a:schemeClr>
                </a:buClr>
                <a:buSzPct val="70000"/>
                <a:buFont typeface="Wingdings" panose="05000000000000000000" pitchFamily="2" charset="2"/>
                <a:buChar char="q"/>
              </a:pPr>
              <a:endParaRPr lang="en-US" altLang="zh-CN" dirty="0">
                <a:latin typeface="Gill Sans" panose="020B0502020104020203" charset="0"/>
                <a:ea typeface="等线" panose="02010600030101010101" charset="-122"/>
              </a:endParaRPr>
            </a:p>
            <a:p>
              <a:pPr marL="342900" lvl="1"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dirty="0">
                  <a:latin typeface="Gill Sans" panose="020B0502020104020203" charset="0"/>
                  <a:ea typeface="等线" panose="02010600030101010101" charset="-122"/>
                </a:rPr>
                <a:t>对大于阈值提前发起投机执行</a:t>
              </a:r>
              <a:endParaRPr lang="en-US" altLang="zh-CN" dirty="0">
                <a:latin typeface="Gill Sans" panose="020B0502020104020203" charset="0"/>
                <a:ea typeface="等线" panose="02010600030101010101" charset="-122"/>
              </a:endParaRPr>
            </a:p>
            <a:p>
              <a:pPr marL="342900" lvl="1" indent="-342900" fontAlgn="auto">
                <a:lnSpc>
                  <a:spcPct val="150000"/>
                </a:lnSpc>
                <a:spcBef>
                  <a:spcPts val="0"/>
                </a:spcBef>
                <a:buClr>
                  <a:schemeClr val="accent4">
                    <a:lumMod val="50000"/>
                  </a:schemeClr>
                </a:buClr>
                <a:buSzPct val="70000"/>
                <a:buFont typeface="Wingdings" panose="05000000000000000000" pitchFamily="2" charset="2"/>
                <a:buChar char="q"/>
              </a:pPr>
              <a:endParaRPr lang="en-US" altLang="zh-CN" sz="2000" dirty="0">
                <a:latin typeface="Gill Sans" panose="020B0502020104020203" charset="0"/>
                <a:ea typeface="等线" panose="02010600030101010101" charset="-122"/>
              </a:endParaRPr>
            </a:p>
          </p:txBody>
        </p:sp>
        <p:pic>
          <p:nvPicPr>
            <p:cNvPr id="10" name="图片 9">
              <a:extLst>
                <a:ext uri="{FF2B5EF4-FFF2-40B4-BE49-F238E27FC236}">
                  <a16:creationId xmlns:a16="http://schemas.microsoft.com/office/drawing/2014/main" id="{1EB6FB75-DD83-FF6C-42FC-605F069DD168}"/>
                </a:ext>
              </a:extLst>
            </p:cNvPr>
            <p:cNvPicPr>
              <a:picLocks noChangeAspect="1"/>
            </p:cNvPicPr>
            <p:nvPr/>
          </p:nvPicPr>
          <p:blipFill>
            <a:blip r:embed="rId3"/>
            <a:stretch>
              <a:fillRect/>
            </a:stretch>
          </p:blipFill>
          <p:spPr>
            <a:xfrm>
              <a:off x="2120819" y="2165636"/>
              <a:ext cx="2202016" cy="285758"/>
            </a:xfrm>
            <a:prstGeom prst="rect">
              <a:avLst/>
            </a:prstGeom>
          </p:spPr>
        </p:pic>
        <p:pic>
          <p:nvPicPr>
            <p:cNvPr id="12" name="图片 11">
              <a:extLst>
                <a:ext uri="{FF2B5EF4-FFF2-40B4-BE49-F238E27FC236}">
                  <a16:creationId xmlns:a16="http://schemas.microsoft.com/office/drawing/2014/main" id="{76E5E107-453A-B070-7C9F-23664C816D0E}"/>
                </a:ext>
              </a:extLst>
            </p:cNvPr>
            <p:cNvPicPr>
              <a:picLocks noChangeAspect="1"/>
            </p:cNvPicPr>
            <p:nvPr/>
          </p:nvPicPr>
          <p:blipFill>
            <a:blip r:embed="rId4"/>
            <a:stretch>
              <a:fillRect/>
            </a:stretch>
          </p:blipFill>
          <p:spPr>
            <a:xfrm>
              <a:off x="1782673" y="2901875"/>
              <a:ext cx="2636945" cy="407630"/>
            </a:xfrm>
            <a:prstGeom prst="rect">
              <a:avLst/>
            </a:prstGeom>
          </p:spPr>
        </p:pic>
      </p:grpSp>
      <p:pic>
        <p:nvPicPr>
          <p:cNvPr id="13" name="图片 12">
            <a:extLst>
              <a:ext uri="{FF2B5EF4-FFF2-40B4-BE49-F238E27FC236}">
                <a16:creationId xmlns:a16="http://schemas.microsoft.com/office/drawing/2014/main" id="{4BA1B6B5-74EA-D065-9127-86DE01621A7E}"/>
              </a:ext>
            </a:extLst>
          </p:cNvPr>
          <p:cNvPicPr>
            <a:picLocks noChangeAspect="1"/>
          </p:cNvPicPr>
          <p:nvPr/>
        </p:nvPicPr>
        <p:blipFill>
          <a:blip r:embed="rId5"/>
          <a:stretch>
            <a:fillRect/>
          </a:stretch>
        </p:blipFill>
        <p:spPr>
          <a:xfrm>
            <a:off x="1857140" y="3351379"/>
            <a:ext cx="8255560" cy="1876264"/>
          </a:xfrm>
          <a:prstGeom prst="rect">
            <a:avLst/>
          </a:prstGeom>
        </p:spPr>
      </p:pic>
    </p:spTree>
    <p:extLst>
      <p:ext uri="{BB962C8B-B14F-4D97-AF65-F5344CB8AC3E}">
        <p14:creationId xmlns:p14="http://schemas.microsoft.com/office/powerpoint/2010/main" val="2530845044"/>
      </p:ext>
    </p:extLst>
  </p:cSld>
  <p:clrMapOvr>
    <a:masterClrMapping/>
  </p:clrMapOvr>
  <mc:AlternateContent xmlns:mc="http://schemas.openxmlformats.org/markup-compatibility/2006">
    <mc:Choice xmlns:p14="http://schemas.microsoft.com/office/powerpoint/2010/main" Requires="p14">
      <p:transition spd="slow" p14:dur="2000" advTm="55"/>
    </mc:Choice>
    <mc:Fallback>
      <p:transition spd="slow" advTm="5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a:extLst>
              <a:ext uri="{FF2B5EF4-FFF2-40B4-BE49-F238E27FC236}">
                <a16:creationId xmlns:a16="http://schemas.microsoft.com/office/drawing/2014/main" id="{826D17FE-5538-D300-3686-216C9181844D}"/>
              </a:ext>
            </a:extLst>
          </p:cNvPr>
          <p:cNvPicPr>
            <a:picLocks noChangeAspect="1"/>
          </p:cNvPicPr>
          <p:nvPr/>
        </p:nvPicPr>
        <p:blipFill>
          <a:blip r:embed="rId4"/>
          <a:stretch>
            <a:fillRect/>
          </a:stretch>
        </p:blipFill>
        <p:spPr>
          <a:xfrm>
            <a:off x="974122" y="4135586"/>
            <a:ext cx="6648499" cy="638180"/>
          </a:xfrm>
          <a:prstGeom prst="rect">
            <a:avLst/>
          </a:prstGeom>
        </p:spPr>
      </p:pic>
      <p:sp>
        <p:nvSpPr>
          <p:cNvPr id="2" name="灯片编号占位符 1">
            <a:extLst>
              <a:ext uri="{FF2B5EF4-FFF2-40B4-BE49-F238E27FC236}">
                <a16:creationId xmlns:a16="http://schemas.microsoft.com/office/drawing/2014/main" id="{03A1C732-50BE-0C0B-E0BD-AF690CB610AF}"/>
              </a:ext>
            </a:extLst>
          </p:cNvPr>
          <p:cNvSpPr>
            <a:spLocks noGrp="1"/>
          </p:cNvSpPr>
          <p:nvPr>
            <p:ph type="sldNum" sz="quarter" idx="12"/>
          </p:nvPr>
        </p:nvSpPr>
        <p:spPr/>
        <p:txBody>
          <a:bodyPr/>
          <a:lstStyle/>
          <a:p>
            <a:fld id="{C6CB85E4-9B6E-41B6-BE28-34B8FDE32807}" type="slidenum">
              <a:rPr lang="zh-CN" altLang="en-US" smtClean="0"/>
              <a:t>12</a:t>
            </a:fld>
            <a:endParaRPr lang="zh-CN" altLang="en-US" dirty="0"/>
          </a:p>
        </p:txBody>
      </p:sp>
      <p:sp>
        <p:nvSpPr>
          <p:cNvPr id="3" name="文本占位符 2">
            <a:extLst>
              <a:ext uri="{FF2B5EF4-FFF2-40B4-BE49-F238E27FC236}">
                <a16:creationId xmlns:a16="http://schemas.microsoft.com/office/drawing/2014/main" id="{A750CDFF-79A5-AFC5-F869-1600462E5913}"/>
              </a:ext>
            </a:extLst>
          </p:cNvPr>
          <p:cNvSpPr>
            <a:spLocks noGrp="1"/>
          </p:cNvSpPr>
          <p:nvPr>
            <p:ph type="body" sz="quarter" idx="14"/>
          </p:nvPr>
        </p:nvSpPr>
        <p:spPr>
          <a:xfrm>
            <a:off x="1147779" y="270910"/>
            <a:ext cx="4234712" cy="436606"/>
          </a:xfrm>
        </p:spPr>
        <p:txBody>
          <a:bodyPr/>
          <a:lstStyle/>
          <a:p>
            <a:r>
              <a:rPr lang="zh-CN" altLang="en-US" dirty="0"/>
              <a:t>关键优化</a:t>
            </a:r>
            <a:r>
              <a:rPr lang="en-US" altLang="zh-CN" dirty="0"/>
              <a:t>-</a:t>
            </a:r>
            <a:r>
              <a:rPr lang="zh-CN" altLang="en-US" dirty="0"/>
              <a:t>输入感知</a:t>
            </a:r>
          </a:p>
        </p:txBody>
      </p:sp>
      <p:sp>
        <p:nvSpPr>
          <p:cNvPr id="7" name="文本框 6">
            <a:extLst>
              <a:ext uri="{FF2B5EF4-FFF2-40B4-BE49-F238E27FC236}">
                <a16:creationId xmlns:a16="http://schemas.microsoft.com/office/drawing/2014/main" id="{814B5E6C-D98F-CBF3-E6ED-A62A74E46CEF}"/>
              </a:ext>
            </a:extLst>
          </p:cNvPr>
          <p:cNvSpPr txBox="1"/>
          <p:nvPr/>
        </p:nvSpPr>
        <p:spPr>
          <a:xfrm>
            <a:off x="711994" y="946755"/>
            <a:ext cx="4966638" cy="465448"/>
          </a:xfrm>
          <a:prstGeom prst="rect">
            <a:avLst/>
          </a:prstGeom>
          <a:noFill/>
        </p:spPr>
        <p:txBody>
          <a:bodyPr wrap="square">
            <a:spAutoFit/>
          </a:bodyPr>
          <a:lstStyle/>
          <a:p>
            <a:pPr marL="457200" lvl="2" fontAlgn="auto">
              <a:lnSpc>
                <a:spcPct val="150000"/>
              </a:lnSpc>
              <a:spcBef>
                <a:spcPts val="0"/>
              </a:spcBef>
              <a:buClr>
                <a:schemeClr val="accent4">
                  <a:lumMod val="50000"/>
                </a:schemeClr>
              </a:buClr>
              <a:buSzPct val="70000"/>
            </a:pPr>
            <a:r>
              <a:rPr lang="zh-CN" altLang="en-US" sz="1800" b="1" dirty="0">
                <a:latin typeface="Gill Sans" panose="020B0502020104020203" charset="0"/>
                <a:ea typeface="等线" panose="02010600030101010101" charset="-122"/>
              </a:rPr>
              <a:t>输入相关分支：</a:t>
            </a:r>
            <a:r>
              <a:rPr lang="zh-CN" altLang="en-US" sz="1800" dirty="0">
                <a:latin typeface="Gill Sans" panose="020B0502020104020203" charset="0"/>
                <a:ea typeface="等线" panose="02010600030101010101" charset="-122"/>
              </a:rPr>
              <a:t>分支走向与函数输入有关</a:t>
            </a:r>
            <a:endParaRPr lang="en-US" altLang="zh-CN" sz="1800" dirty="0">
              <a:latin typeface="Gill Sans" panose="020B0502020104020203" charset="0"/>
              <a:ea typeface="等线" panose="02010600030101010101" charset="-122"/>
            </a:endParaRPr>
          </a:p>
        </p:txBody>
      </p:sp>
      <p:sp>
        <p:nvSpPr>
          <p:cNvPr id="4" name="文本框 3">
            <a:extLst>
              <a:ext uri="{FF2B5EF4-FFF2-40B4-BE49-F238E27FC236}">
                <a16:creationId xmlns:a16="http://schemas.microsoft.com/office/drawing/2014/main" id="{92063E21-5DA3-F255-D381-B8DED8A65819}"/>
              </a:ext>
            </a:extLst>
          </p:cNvPr>
          <p:cNvSpPr txBox="1"/>
          <p:nvPr/>
        </p:nvSpPr>
        <p:spPr>
          <a:xfrm>
            <a:off x="711994" y="1412203"/>
            <a:ext cx="8645020" cy="465448"/>
          </a:xfrm>
          <a:prstGeom prst="rect">
            <a:avLst/>
          </a:prstGeom>
          <a:noFill/>
        </p:spPr>
        <p:txBody>
          <a:bodyPr wrap="square">
            <a:spAutoFit/>
          </a:bodyPr>
          <a:lstStyle/>
          <a:p>
            <a:pPr marL="457200" lvl="2" fontAlgn="auto">
              <a:lnSpc>
                <a:spcPct val="150000"/>
              </a:lnSpc>
              <a:spcBef>
                <a:spcPts val="0"/>
              </a:spcBef>
              <a:buClr>
                <a:schemeClr val="accent4">
                  <a:lumMod val="50000"/>
                </a:schemeClr>
              </a:buClr>
              <a:buSzPct val="70000"/>
            </a:pPr>
            <a:r>
              <a:rPr lang="zh-CN" altLang="en-US" sz="1800" b="1" dirty="0">
                <a:latin typeface="Gill Sans" panose="020B0502020104020203" charset="0"/>
                <a:ea typeface="等线" panose="02010600030101010101" charset="-122"/>
              </a:rPr>
              <a:t>优化核心思想：</a:t>
            </a:r>
            <a:r>
              <a:rPr lang="zh-CN" altLang="en-US" sz="1800" dirty="0">
                <a:latin typeface="Gill Sans" panose="020B0502020104020203" charset="0"/>
                <a:ea typeface="等线" panose="02010600030101010101" charset="-122"/>
              </a:rPr>
              <a:t>加入桶级统计作为参考（对输入进行分桶映射）</a:t>
            </a:r>
            <a:endParaRPr lang="en-US" altLang="zh-CN" sz="1800" dirty="0">
              <a:latin typeface="Gill Sans" panose="020B0502020104020203" charset="0"/>
              <a:ea typeface="等线" panose="02010600030101010101" charset="-122"/>
            </a:endParaRPr>
          </a:p>
        </p:txBody>
      </p:sp>
      <p:pic>
        <p:nvPicPr>
          <p:cNvPr id="11" name="图片 10">
            <a:extLst>
              <a:ext uri="{FF2B5EF4-FFF2-40B4-BE49-F238E27FC236}">
                <a16:creationId xmlns:a16="http://schemas.microsoft.com/office/drawing/2014/main" id="{029EBA35-4B0B-C019-EE8C-DA23B76EA309}"/>
              </a:ext>
            </a:extLst>
          </p:cNvPr>
          <p:cNvPicPr>
            <a:picLocks noChangeAspect="1"/>
          </p:cNvPicPr>
          <p:nvPr/>
        </p:nvPicPr>
        <p:blipFill>
          <a:blip r:embed="rId5"/>
          <a:stretch>
            <a:fillRect/>
          </a:stretch>
        </p:blipFill>
        <p:spPr>
          <a:xfrm>
            <a:off x="6483927" y="2277221"/>
            <a:ext cx="3126249" cy="687468"/>
          </a:xfrm>
          <a:prstGeom prst="rect">
            <a:avLst/>
          </a:prstGeom>
        </p:spPr>
      </p:pic>
      <p:pic>
        <p:nvPicPr>
          <p:cNvPr id="16" name="图片 15">
            <a:extLst>
              <a:ext uri="{FF2B5EF4-FFF2-40B4-BE49-F238E27FC236}">
                <a16:creationId xmlns:a16="http://schemas.microsoft.com/office/drawing/2014/main" id="{D008E292-0CB2-7FCB-B96A-BC1F25C399D9}"/>
              </a:ext>
            </a:extLst>
          </p:cNvPr>
          <p:cNvPicPr>
            <a:picLocks noChangeAspect="1"/>
          </p:cNvPicPr>
          <p:nvPr/>
        </p:nvPicPr>
        <p:blipFill>
          <a:blip r:embed="rId6"/>
          <a:stretch>
            <a:fillRect/>
          </a:stretch>
        </p:blipFill>
        <p:spPr>
          <a:xfrm>
            <a:off x="2381021" y="2321483"/>
            <a:ext cx="2767674" cy="598945"/>
          </a:xfrm>
          <a:prstGeom prst="rect">
            <a:avLst/>
          </a:prstGeom>
        </p:spPr>
      </p:pic>
      <p:cxnSp>
        <p:nvCxnSpPr>
          <p:cNvPr id="18" name="直接箭头连接符 17">
            <a:extLst>
              <a:ext uri="{FF2B5EF4-FFF2-40B4-BE49-F238E27FC236}">
                <a16:creationId xmlns:a16="http://schemas.microsoft.com/office/drawing/2014/main" id="{93498B84-38EF-45FD-B81F-F8173024188D}"/>
              </a:ext>
            </a:extLst>
          </p:cNvPr>
          <p:cNvCxnSpPr/>
          <p:nvPr/>
        </p:nvCxnSpPr>
        <p:spPr>
          <a:xfrm>
            <a:off x="5424054" y="2620956"/>
            <a:ext cx="78451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C6249154-C09B-C31A-F28D-3A47DA41C841}"/>
              </a:ext>
            </a:extLst>
          </p:cNvPr>
          <p:cNvSpPr txBox="1"/>
          <p:nvPr/>
        </p:nvSpPr>
        <p:spPr>
          <a:xfrm>
            <a:off x="711994" y="3131535"/>
            <a:ext cx="8645020" cy="465448"/>
          </a:xfrm>
          <a:prstGeom prst="rect">
            <a:avLst/>
          </a:prstGeom>
          <a:noFill/>
        </p:spPr>
        <p:txBody>
          <a:bodyPr wrap="square">
            <a:spAutoFit/>
          </a:bodyPr>
          <a:lstStyle/>
          <a:p>
            <a:pPr marL="457200" lvl="2" fontAlgn="auto">
              <a:lnSpc>
                <a:spcPct val="150000"/>
              </a:lnSpc>
              <a:spcBef>
                <a:spcPts val="0"/>
              </a:spcBef>
              <a:buClr>
                <a:schemeClr val="accent4">
                  <a:lumMod val="50000"/>
                </a:schemeClr>
              </a:buClr>
              <a:buSzPct val="70000"/>
            </a:pPr>
            <a:r>
              <a:rPr lang="zh-CN" altLang="en-US" dirty="0">
                <a:latin typeface="Gill Sans" panose="020B0502020104020203" charset="0"/>
                <a:ea typeface="等线" panose="02010600030101010101" charset="-122"/>
              </a:rPr>
              <a:t>为避免桶级统计的冷启动和数据稀疏问题，采用</a:t>
            </a:r>
            <a:r>
              <a:rPr lang="zh-CN" altLang="en-US" b="1" dirty="0">
                <a:latin typeface="Gill Sans" panose="020B0502020104020203" charset="0"/>
                <a:ea typeface="等线" panose="02010600030101010101" charset="-122"/>
              </a:rPr>
              <a:t>回退混合</a:t>
            </a:r>
            <a:r>
              <a:rPr lang="zh-CN" altLang="en-US" dirty="0">
                <a:latin typeface="Gill Sans" panose="020B0502020104020203" charset="0"/>
                <a:ea typeface="等线" panose="02010600030101010101" charset="-122"/>
              </a:rPr>
              <a:t>与</a:t>
            </a:r>
            <a:r>
              <a:rPr lang="zh-CN" altLang="en-US" b="1" dirty="0">
                <a:latin typeface="Gill Sans" panose="020B0502020104020203" charset="0"/>
                <a:ea typeface="等线" panose="02010600030101010101" charset="-122"/>
              </a:rPr>
              <a:t>自适应启用</a:t>
            </a:r>
            <a:r>
              <a:rPr lang="zh-CN" altLang="en-US" dirty="0">
                <a:latin typeface="Gill Sans" panose="020B0502020104020203" charset="0"/>
                <a:ea typeface="等线" panose="02010600030101010101" charset="-122"/>
              </a:rPr>
              <a:t>策略：</a:t>
            </a:r>
            <a:endParaRPr lang="en-US" altLang="zh-CN" sz="1800" dirty="0">
              <a:latin typeface="Gill Sans" panose="020B0502020104020203" charset="0"/>
              <a:ea typeface="等线" panose="02010600030101010101" charset="-122"/>
            </a:endParaRPr>
          </a:p>
        </p:txBody>
      </p:sp>
      <p:sp>
        <p:nvSpPr>
          <p:cNvPr id="20" name="Content Placeholder 2">
            <a:extLst>
              <a:ext uri="{FF2B5EF4-FFF2-40B4-BE49-F238E27FC236}">
                <a16:creationId xmlns:a16="http://schemas.microsoft.com/office/drawing/2014/main" id="{394D96C3-3797-2918-EC79-1B6DE4C5E547}"/>
              </a:ext>
            </a:extLst>
          </p:cNvPr>
          <p:cNvSpPr txBox="1"/>
          <p:nvPr/>
        </p:nvSpPr>
        <p:spPr>
          <a:xfrm>
            <a:off x="1485096" y="3776739"/>
            <a:ext cx="5741693" cy="2975104"/>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1" indent="0" fontAlgn="auto">
              <a:lnSpc>
                <a:spcPct val="150000"/>
              </a:lnSpc>
              <a:spcBef>
                <a:spcPts val="0"/>
              </a:spcBef>
              <a:buClr>
                <a:schemeClr val="accent4">
                  <a:lumMod val="50000"/>
                </a:schemeClr>
              </a:buClr>
              <a:buSzPct val="70000"/>
              <a:buNone/>
            </a:pPr>
            <a:endParaRPr lang="en-US" altLang="zh-CN" sz="2000" dirty="0">
              <a:latin typeface="Gill Sans" panose="020B0502020104020203" charset="0"/>
              <a:ea typeface="等线" panose="02010600030101010101" charset="-122"/>
            </a:endParaRPr>
          </a:p>
        </p:txBody>
      </p:sp>
      <p:sp>
        <p:nvSpPr>
          <p:cNvPr id="22" name="文本框 21">
            <a:extLst>
              <a:ext uri="{FF2B5EF4-FFF2-40B4-BE49-F238E27FC236}">
                <a16:creationId xmlns:a16="http://schemas.microsoft.com/office/drawing/2014/main" id="{8D17B00C-2236-4E76-C646-3344BC314A5B}"/>
              </a:ext>
            </a:extLst>
          </p:cNvPr>
          <p:cNvSpPr txBox="1"/>
          <p:nvPr/>
        </p:nvSpPr>
        <p:spPr>
          <a:xfrm>
            <a:off x="5011990" y="1961400"/>
            <a:ext cx="1333283" cy="1085810"/>
          </a:xfrm>
          <a:prstGeom prst="rect">
            <a:avLst/>
          </a:prstGeom>
          <a:noFill/>
        </p:spPr>
        <p:txBody>
          <a:bodyPr wrap="square">
            <a:spAutoFit/>
          </a:bodyPr>
          <a:lstStyle/>
          <a:p>
            <a:pPr marL="457200" lvl="2" fontAlgn="auto">
              <a:lnSpc>
                <a:spcPct val="150000"/>
              </a:lnSpc>
              <a:spcBef>
                <a:spcPts val="0"/>
              </a:spcBef>
              <a:buClr>
                <a:schemeClr val="accent4">
                  <a:lumMod val="50000"/>
                </a:schemeClr>
              </a:buClr>
              <a:buSzPct val="70000"/>
            </a:pPr>
            <a:r>
              <a:rPr lang="en-US" altLang="zh-CN" sz="4800" b="1" dirty="0">
                <a:solidFill>
                  <a:srgbClr val="C00000"/>
                </a:solidFill>
                <a:latin typeface="Gill Sans" panose="020B0502020104020203" charset="0"/>
                <a:ea typeface="等线" panose="02010600030101010101" charset="-122"/>
              </a:rPr>
              <a:t>+</a:t>
            </a:r>
            <a:endParaRPr lang="en-US" altLang="zh-CN" sz="4800" dirty="0">
              <a:solidFill>
                <a:srgbClr val="C00000"/>
              </a:solidFill>
              <a:latin typeface="Gill Sans" panose="020B0502020104020203" charset="0"/>
              <a:ea typeface="等线" panose="02010600030101010101" charset="-122"/>
            </a:endParaRPr>
          </a:p>
        </p:txBody>
      </p:sp>
      <p:sp>
        <p:nvSpPr>
          <p:cNvPr id="23" name="文本框 22">
            <a:extLst>
              <a:ext uri="{FF2B5EF4-FFF2-40B4-BE49-F238E27FC236}">
                <a16:creationId xmlns:a16="http://schemas.microsoft.com/office/drawing/2014/main" id="{42EF01A3-0152-AC5C-93BC-7AE8CCEB2036}"/>
              </a:ext>
            </a:extLst>
          </p:cNvPr>
          <p:cNvSpPr txBox="1"/>
          <p:nvPr/>
        </p:nvSpPr>
        <p:spPr>
          <a:xfrm>
            <a:off x="711994" y="3786162"/>
            <a:ext cx="7273420" cy="465448"/>
          </a:xfrm>
          <a:prstGeom prst="rect">
            <a:avLst/>
          </a:prstGeom>
          <a:noFill/>
        </p:spPr>
        <p:txBody>
          <a:bodyPr wrap="square">
            <a:spAutoFit/>
          </a:bodyPr>
          <a:lstStyle/>
          <a:p>
            <a:pPr marL="457200" lvl="2" fontAlgn="auto">
              <a:lnSpc>
                <a:spcPct val="150000"/>
              </a:lnSpc>
              <a:spcBef>
                <a:spcPts val="0"/>
              </a:spcBef>
              <a:buClr>
                <a:schemeClr val="accent4">
                  <a:lumMod val="50000"/>
                </a:schemeClr>
              </a:buClr>
              <a:buSzPct val="70000"/>
            </a:pPr>
            <a:r>
              <a:rPr lang="zh-CN" altLang="en-US" sz="1800" b="1" dirty="0">
                <a:latin typeface="Gill Sans" panose="020B0502020104020203" charset="0"/>
                <a:ea typeface="等线" panose="02010600030101010101" charset="-122"/>
              </a:rPr>
              <a:t>回退混合：</a:t>
            </a:r>
            <a:r>
              <a:rPr lang="zh-CN" altLang="en-US" sz="1800" dirty="0">
                <a:latin typeface="Gill Sans" panose="020B0502020104020203" charset="0"/>
                <a:ea typeface="等线" panose="02010600030101010101" charset="-122"/>
              </a:rPr>
              <a:t>一开始只相信路径级，后面逐渐相信桶级</a:t>
            </a:r>
            <a:endParaRPr lang="en-US" altLang="zh-CN" sz="1800" dirty="0">
              <a:latin typeface="Gill Sans" panose="020B0502020104020203" charset="0"/>
              <a:ea typeface="等线" panose="02010600030101010101" charset="-122"/>
            </a:endParaRPr>
          </a:p>
        </p:txBody>
      </p:sp>
      <p:pic>
        <p:nvPicPr>
          <p:cNvPr id="27" name="图片 26">
            <a:extLst>
              <a:ext uri="{FF2B5EF4-FFF2-40B4-BE49-F238E27FC236}">
                <a16:creationId xmlns:a16="http://schemas.microsoft.com/office/drawing/2014/main" id="{A8B79A88-0F5B-399F-661E-A87A1BA09C6F}"/>
              </a:ext>
            </a:extLst>
          </p:cNvPr>
          <p:cNvPicPr>
            <a:picLocks noChangeAspect="1"/>
          </p:cNvPicPr>
          <p:nvPr/>
        </p:nvPicPr>
        <p:blipFill>
          <a:blip r:embed="rId7"/>
          <a:stretch>
            <a:fillRect/>
          </a:stretch>
        </p:blipFill>
        <p:spPr>
          <a:xfrm>
            <a:off x="7965146" y="4251610"/>
            <a:ext cx="1524011" cy="676280"/>
          </a:xfrm>
          <a:prstGeom prst="rect">
            <a:avLst/>
          </a:prstGeom>
        </p:spPr>
      </p:pic>
      <p:sp>
        <p:nvSpPr>
          <p:cNvPr id="29" name="文本框 28">
            <a:extLst>
              <a:ext uri="{FF2B5EF4-FFF2-40B4-BE49-F238E27FC236}">
                <a16:creationId xmlns:a16="http://schemas.microsoft.com/office/drawing/2014/main" id="{2E7B8258-6C48-D3A6-4806-EA403DC581C4}"/>
              </a:ext>
            </a:extLst>
          </p:cNvPr>
          <p:cNvSpPr txBox="1"/>
          <p:nvPr/>
        </p:nvSpPr>
        <p:spPr>
          <a:xfrm>
            <a:off x="1147778" y="4953522"/>
            <a:ext cx="9009335" cy="369332"/>
          </a:xfrm>
          <a:prstGeom prst="rect">
            <a:avLst/>
          </a:prstGeom>
          <a:noFill/>
        </p:spPr>
        <p:txBody>
          <a:bodyPr wrap="square">
            <a:spAutoFit/>
          </a:bodyPr>
          <a:lstStyle/>
          <a:p>
            <a:r>
              <a:rPr lang="zh-CN" altLang="en-US" b="1" dirty="0">
                <a:latin typeface="Gill Sans" panose="020B0502020104020203" charset="0"/>
                <a:ea typeface="等线" panose="02010600030101010101" charset="-122"/>
              </a:rPr>
              <a:t>自适应启用：</a:t>
            </a:r>
            <a:r>
              <a:rPr lang="zh-CN" altLang="en-US" dirty="0">
                <a:latin typeface="Gill Sans" panose="020B0502020104020203" charset="0"/>
                <a:ea typeface="等线" panose="02010600030101010101" charset="-122"/>
              </a:rPr>
              <a:t>只有桶级比路径级更可靠一定程度时，才启用</a:t>
            </a:r>
            <a:endParaRPr lang="zh-CN" altLang="en-US" dirty="0"/>
          </a:p>
        </p:txBody>
      </p:sp>
      <p:pic>
        <p:nvPicPr>
          <p:cNvPr id="31" name="图片 30">
            <a:extLst>
              <a:ext uri="{FF2B5EF4-FFF2-40B4-BE49-F238E27FC236}">
                <a16:creationId xmlns:a16="http://schemas.microsoft.com/office/drawing/2014/main" id="{6F733D5F-4F97-92B9-5B4C-BAFD00682485}"/>
              </a:ext>
            </a:extLst>
          </p:cNvPr>
          <p:cNvPicPr>
            <a:picLocks noChangeAspect="1"/>
          </p:cNvPicPr>
          <p:nvPr/>
        </p:nvPicPr>
        <p:blipFill>
          <a:blip r:embed="rId8"/>
          <a:stretch>
            <a:fillRect/>
          </a:stretch>
        </p:blipFill>
        <p:spPr>
          <a:xfrm>
            <a:off x="1249972" y="5472312"/>
            <a:ext cx="6621142" cy="544718"/>
          </a:xfrm>
          <a:prstGeom prst="rect">
            <a:avLst/>
          </a:prstGeom>
        </p:spPr>
      </p:pic>
      <p:pic>
        <p:nvPicPr>
          <p:cNvPr id="33" name="图片 32">
            <a:extLst>
              <a:ext uri="{FF2B5EF4-FFF2-40B4-BE49-F238E27FC236}">
                <a16:creationId xmlns:a16="http://schemas.microsoft.com/office/drawing/2014/main" id="{556B95B4-DB84-7189-561B-D9E5D9A088CE}"/>
              </a:ext>
            </a:extLst>
          </p:cNvPr>
          <p:cNvPicPr>
            <a:picLocks noChangeAspect="1"/>
          </p:cNvPicPr>
          <p:nvPr/>
        </p:nvPicPr>
        <p:blipFill>
          <a:blip r:embed="rId9"/>
          <a:stretch>
            <a:fillRect/>
          </a:stretch>
        </p:blipFill>
        <p:spPr>
          <a:xfrm>
            <a:off x="7999891" y="5517645"/>
            <a:ext cx="3898415" cy="454051"/>
          </a:xfrm>
          <a:prstGeom prst="rect">
            <a:avLst/>
          </a:prstGeom>
        </p:spPr>
      </p:pic>
    </p:spTree>
    <p:custDataLst>
      <p:tags r:id="rId1"/>
    </p:custDataLst>
    <p:extLst>
      <p:ext uri="{BB962C8B-B14F-4D97-AF65-F5344CB8AC3E}">
        <p14:creationId xmlns:p14="http://schemas.microsoft.com/office/powerpoint/2010/main" val="3545999242"/>
      </p:ext>
    </p:extLst>
  </p:cSld>
  <p:clrMapOvr>
    <a:masterClrMapping/>
  </p:clrMapOvr>
  <mc:AlternateContent xmlns:mc="http://schemas.openxmlformats.org/markup-compatibility/2006">
    <mc:Choice xmlns:p14="http://schemas.microsoft.com/office/powerpoint/2010/main" Requires="p14">
      <p:transition spd="slow" p14:dur="2000" advTm="1062"/>
    </mc:Choice>
    <mc:Fallback>
      <p:transition spd="slow" advTm="106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18"/>
                                        </p:tgtEl>
                                        <p:attrNameLst>
                                          <p:attrName>style.visibility</p:attrName>
                                        </p:attrNameLst>
                                      </p:cBhvr>
                                      <p:to>
                                        <p:strVal val="hidden"/>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 grpId="0"/>
      <p:bldP spid="19" grpId="0"/>
      <p:bldP spid="22" grpId="0"/>
      <p:bldP spid="23" grpId="0"/>
      <p:bldP spid="2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3A1C732-50BE-0C0B-E0BD-AF690CB610AF}"/>
              </a:ext>
            </a:extLst>
          </p:cNvPr>
          <p:cNvSpPr>
            <a:spLocks noGrp="1"/>
          </p:cNvSpPr>
          <p:nvPr>
            <p:ph type="sldNum" sz="quarter" idx="12"/>
          </p:nvPr>
        </p:nvSpPr>
        <p:spPr/>
        <p:txBody>
          <a:bodyPr/>
          <a:lstStyle/>
          <a:p>
            <a:fld id="{C6CB85E4-9B6E-41B6-BE28-34B8FDE32807}" type="slidenum">
              <a:rPr lang="zh-CN" altLang="en-US" smtClean="0"/>
              <a:t>13</a:t>
            </a:fld>
            <a:endParaRPr lang="zh-CN" altLang="en-US" dirty="0"/>
          </a:p>
        </p:txBody>
      </p:sp>
      <p:sp>
        <p:nvSpPr>
          <p:cNvPr id="3" name="文本占位符 2">
            <a:extLst>
              <a:ext uri="{FF2B5EF4-FFF2-40B4-BE49-F238E27FC236}">
                <a16:creationId xmlns:a16="http://schemas.microsoft.com/office/drawing/2014/main" id="{A750CDFF-79A5-AFC5-F869-1600462E5913}"/>
              </a:ext>
            </a:extLst>
          </p:cNvPr>
          <p:cNvSpPr>
            <a:spLocks noGrp="1"/>
          </p:cNvSpPr>
          <p:nvPr>
            <p:ph type="body" sz="quarter" idx="14"/>
          </p:nvPr>
        </p:nvSpPr>
        <p:spPr>
          <a:xfrm>
            <a:off x="1147779" y="270910"/>
            <a:ext cx="4234712" cy="436606"/>
          </a:xfrm>
        </p:spPr>
        <p:txBody>
          <a:bodyPr/>
          <a:lstStyle/>
          <a:p>
            <a:r>
              <a:rPr lang="zh-CN" altLang="en-US" dirty="0"/>
              <a:t>关键优化</a:t>
            </a:r>
            <a:r>
              <a:rPr lang="en-US" altLang="zh-CN" dirty="0"/>
              <a:t>-</a:t>
            </a:r>
            <a:r>
              <a:rPr lang="zh-CN" altLang="en-US" dirty="0"/>
              <a:t>分布漂移适应</a:t>
            </a:r>
          </a:p>
        </p:txBody>
      </p:sp>
      <p:sp>
        <p:nvSpPr>
          <p:cNvPr id="7" name="文本框 6">
            <a:extLst>
              <a:ext uri="{FF2B5EF4-FFF2-40B4-BE49-F238E27FC236}">
                <a16:creationId xmlns:a16="http://schemas.microsoft.com/office/drawing/2014/main" id="{814B5E6C-D98F-CBF3-E6ED-A62A74E46CEF}"/>
              </a:ext>
            </a:extLst>
          </p:cNvPr>
          <p:cNvSpPr txBox="1"/>
          <p:nvPr/>
        </p:nvSpPr>
        <p:spPr>
          <a:xfrm>
            <a:off x="711993" y="946755"/>
            <a:ext cx="5771933" cy="465448"/>
          </a:xfrm>
          <a:prstGeom prst="rect">
            <a:avLst/>
          </a:prstGeom>
          <a:noFill/>
        </p:spPr>
        <p:txBody>
          <a:bodyPr wrap="square">
            <a:spAutoFit/>
          </a:bodyPr>
          <a:lstStyle/>
          <a:p>
            <a:pPr marL="457200" lvl="2" fontAlgn="auto">
              <a:lnSpc>
                <a:spcPct val="150000"/>
              </a:lnSpc>
              <a:spcBef>
                <a:spcPts val="0"/>
              </a:spcBef>
              <a:buClr>
                <a:schemeClr val="accent4">
                  <a:lumMod val="50000"/>
                </a:schemeClr>
              </a:buClr>
              <a:buSzPct val="70000"/>
            </a:pPr>
            <a:r>
              <a:rPr lang="zh-CN" altLang="en-US" sz="1800" b="1" dirty="0">
                <a:latin typeface="Gill Sans" panose="020B0502020104020203" charset="0"/>
                <a:ea typeface="等线" panose="02010600030101010101" charset="-122"/>
              </a:rPr>
              <a:t>分布漂移：</a:t>
            </a:r>
            <a:r>
              <a:rPr lang="zh-CN" altLang="en-US" sz="1800" dirty="0">
                <a:latin typeface="Gill Sans" panose="020B0502020104020203" charset="0"/>
                <a:ea typeface="等线" panose="02010600030101010101" charset="-122"/>
              </a:rPr>
              <a:t>分支行为会发生缓慢变化或突变</a:t>
            </a:r>
            <a:endParaRPr lang="en-US" altLang="zh-CN" sz="1800" dirty="0">
              <a:latin typeface="Gill Sans" panose="020B0502020104020203" charset="0"/>
              <a:ea typeface="等线" panose="02010600030101010101" charset="-122"/>
            </a:endParaRPr>
          </a:p>
        </p:txBody>
      </p:sp>
      <p:sp>
        <p:nvSpPr>
          <p:cNvPr id="4" name="文本框 3">
            <a:extLst>
              <a:ext uri="{FF2B5EF4-FFF2-40B4-BE49-F238E27FC236}">
                <a16:creationId xmlns:a16="http://schemas.microsoft.com/office/drawing/2014/main" id="{92063E21-5DA3-F255-D381-B8DED8A65819}"/>
              </a:ext>
            </a:extLst>
          </p:cNvPr>
          <p:cNvSpPr txBox="1"/>
          <p:nvPr/>
        </p:nvSpPr>
        <p:spPr>
          <a:xfrm>
            <a:off x="711994" y="1412203"/>
            <a:ext cx="8645020" cy="465448"/>
          </a:xfrm>
          <a:prstGeom prst="rect">
            <a:avLst/>
          </a:prstGeom>
          <a:noFill/>
        </p:spPr>
        <p:txBody>
          <a:bodyPr wrap="square">
            <a:spAutoFit/>
          </a:bodyPr>
          <a:lstStyle/>
          <a:p>
            <a:pPr marL="457200" lvl="2" fontAlgn="auto">
              <a:lnSpc>
                <a:spcPct val="150000"/>
              </a:lnSpc>
              <a:spcBef>
                <a:spcPts val="0"/>
              </a:spcBef>
              <a:buClr>
                <a:schemeClr val="accent4">
                  <a:lumMod val="50000"/>
                </a:schemeClr>
              </a:buClr>
              <a:buSzPct val="70000"/>
            </a:pPr>
            <a:r>
              <a:rPr lang="zh-CN" altLang="en-US" sz="1800" b="1" dirty="0">
                <a:latin typeface="Gill Sans" panose="020B0502020104020203" charset="0"/>
                <a:ea typeface="等线" panose="02010600030101010101" charset="-122"/>
              </a:rPr>
              <a:t>优化核心思想：</a:t>
            </a:r>
            <a:r>
              <a:rPr lang="zh-CN" altLang="en-US" sz="1800" dirty="0">
                <a:latin typeface="Gill Sans" panose="020B0502020104020203" charset="0"/>
                <a:ea typeface="等线" panose="02010600030101010101" charset="-122"/>
              </a:rPr>
              <a:t>使用指数衰减统计和滑动窗口统计</a:t>
            </a:r>
            <a:endParaRPr lang="en-US" altLang="zh-CN" sz="1800" dirty="0">
              <a:latin typeface="Gill Sans" panose="020B0502020104020203" charset="0"/>
              <a:ea typeface="等线" panose="02010600030101010101" charset="-122"/>
            </a:endParaRPr>
          </a:p>
        </p:txBody>
      </p:sp>
      <p:sp>
        <p:nvSpPr>
          <p:cNvPr id="20" name="Content Placeholder 2">
            <a:extLst>
              <a:ext uri="{FF2B5EF4-FFF2-40B4-BE49-F238E27FC236}">
                <a16:creationId xmlns:a16="http://schemas.microsoft.com/office/drawing/2014/main" id="{394D96C3-3797-2918-EC79-1B6DE4C5E547}"/>
              </a:ext>
            </a:extLst>
          </p:cNvPr>
          <p:cNvSpPr txBox="1"/>
          <p:nvPr/>
        </p:nvSpPr>
        <p:spPr>
          <a:xfrm>
            <a:off x="1485096" y="3776739"/>
            <a:ext cx="5741693" cy="2975104"/>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1" indent="0" fontAlgn="auto">
              <a:lnSpc>
                <a:spcPct val="150000"/>
              </a:lnSpc>
              <a:spcBef>
                <a:spcPts val="0"/>
              </a:spcBef>
              <a:buClr>
                <a:schemeClr val="accent4">
                  <a:lumMod val="50000"/>
                </a:schemeClr>
              </a:buClr>
              <a:buSzPct val="70000"/>
              <a:buNone/>
            </a:pPr>
            <a:endParaRPr lang="en-US" altLang="zh-CN" sz="2000" dirty="0">
              <a:latin typeface="Gill Sans" panose="020B0502020104020203" charset="0"/>
              <a:ea typeface="等线" panose="02010600030101010101" charset="-122"/>
            </a:endParaRPr>
          </a:p>
        </p:txBody>
      </p:sp>
      <p:sp>
        <p:nvSpPr>
          <p:cNvPr id="23" name="文本框 22">
            <a:extLst>
              <a:ext uri="{FF2B5EF4-FFF2-40B4-BE49-F238E27FC236}">
                <a16:creationId xmlns:a16="http://schemas.microsoft.com/office/drawing/2014/main" id="{42EF01A3-0152-AC5C-93BC-7AE8CCEB2036}"/>
              </a:ext>
            </a:extLst>
          </p:cNvPr>
          <p:cNvSpPr txBox="1"/>
          <p:nvPr/>
        </p:nvSpPr>
        <p:spPr>
          <a:xfrm>
            <a:off x="711993" y="2075722"/>
            <a:ext cx="3693751" cy="465448"/>
          </a:xfrm>
          <a:prstGeom prst="rect">
            <a:avLst/>
          </a:prstGeom>
          <a:noFill/>
        </p:spPr>
        <p:txBody>
          <a:bodyPr wrap="square">
            <a:spAutoFit/>
          </a:bodyPr>
          <a:lstStyle/>
          <a:p>
            <a:pPr marL="457200" lvl="2" fontAlgn="auto">
              <a:lnSpc>
                <a:spcPct val="150000"/>
              </a:lnSpc>
              <a:spcBef>
                <a:spcPts val="0"/>
              </a:spcBef>
              <a:buClr>
                <a:schemeClr val="accent4">
                  <a:lumMod val="50000"/>
                </a:schemeClr>
              </a:buClr>
              <a:buSzPct val="70000"/>
            </a:pPr>
            <a:r>
              <a:rPr lang="zh-CN" altLang="en-US" sz="1800" b="1" dirty="0">
                <a:latin typeface="Gill Sans" panose="020B0502020104020203" charset="0"/>
                <a:ea typeface="等线" panose="02010600030101010101" charset="-122"/>
              </a:rPr>
              <a:t>指数衰减统计：</a:t>
            </a:r>
            <a:r>
              <a:rPr lang="zh-CN" altLang="en-US" sz="1800" dirty="0">
                <a:latin typeface="Gill Sans" panose="020B0502020104020203" charset="0"/>
                <a:ea typeface="等线" panose="02010600030101010101" charset="-122"/>
              </a:rPr>
              <a:t>越远权重越小</a:t>
            </a:r>
            <a:endParaRPr lang="en-US" altLang="zh-CN" sz="1800" dirty="0">
              <a:latin typeface="Gill Sans" panose="020B0502020104020203" charset="0"/>
              <a:ea typeface="等线" panose="02010600030101010101" charset="-122"/>
            </a:endParaRPr>
          </a:p>
        </p:txBody>
      </p:sp>
      <p:sp>
        <p:nvSpPr>
          <p:cNvPr id="29" name="文本框 28">
            <a:extLst>
              <a:ext uri="{FF2B5EF4-FFF2-40B4-BE49-F238E27FC236}">
                <a16:creationId xmlns:a16="http://schemas.microsoft.com/office/drawing/2014/main" id="{2E7B8258-6C48-D3A6-4806-EA403DC581C4}"/>
              </a:ext>
            </a:extLst>
          </p:cNvPr>
          <p:cNvSpPr txBox="1"/>
          <p:nvPr/>
        </p:nvSpPr>
        <p:spPr>
          <a:xfrm>
            <a:off x="1147778" y="4813389"/>
            <a:ext cx="5606313" cy="774571"/>
          </a:xfrm>
          <a:prstGeom prst="rect">
            <a:avLst/>
          </a:prstGeom>
          <a:noFill/>
        </p:spPr>
        <p:txBody>
          <a:bodyPr wrap="square">
            <a:spAutoFit/>
          </a:bodyPr>
          <a:lstStyle/>
          <a:p>
            <a:r>
              <a:rPr lang="zh-CN" altLang="en-US" b="1" dirty="0">
                <a:latin typeface="Gill Sans" panose="020B0502020104020203" charset="0"/>
                <a:ea typeface="等线" panose="02010600030101010101" charset="-122"/>
              </a:rPr>
              <a:t>双阈值滞回自适应切换：</a:t>
            </a:r>
            <a:endParaRPr lang="en-US" altLang="zh-CN" b="1" dirty="0">
              <a:latin typeface="Gill Sans" panose="020B0502020104020203" charset="0"/>
              <a:ea typeface="等线" panose="02010600030101010101" charset="-122"/>
            </a:endParaRPr>
          </a:p>
          <a:p>
            <a:pPr>
              <a:spcBef>
                <a:spcPts val="1000"/>
              </a:spcBef>
            </a:pPr>
            <a:r>
              <a:rPr lang="zh-CN" altLang="en-US" dirty="0">
                <a:latin typeface="Gill Sans" panose="020B0502020104020203" charset="0"/>
                <a:ea typeface="等线" panose="02010600030101010101" charset="-122"/>
              </a:rPr>
              <a:t>两者差异很大时，优先相信滑动窗口</a:t>
            </a:r>
            <a:endParaRPr lang="zh-CN" altLang="en-US" dirty="0"/>
          </a:p>
        </p:txBody>
      </p:sp>
      <p:pic>
        <p:nvPicPr>
          <p:cNvPr id="6" name="图片 5">
            <a:extLst>
              <a:ext uri="{FF2B5EF4-FFF2-40B4-BE49-F238E27FC236}">
                <a16:creationId xmlns:a16="http://schemas.microsoft.com/office/drawing/2014/main" id="{84B9D334-CB5E-49E1-0D47-9FCA2F37E4C0}"/>
              </a:ext>
            </a:extLst>
          </p:cNvPr>
          <p:cNvPicPr>
            <a:picLocks noChangeAspect="1"/>
          </p:cNvPicPr>
          <p:nvPr/>
        </p:nvPicPr>
        <p:blipFill>
          <a:blip r:embed="rId3"/>
          <a:stretch>
            <a:fillRect/>
          </a:stretch>
        </p:blipFill>
        <p:spPr>
          <a:xfrm>
            <a:off x="7393821" y="990541"/>
            <a:ext cx="4396634" cy="3163481"/>
          </a:xfrm>
          <a:prstGeom prst="rect">
            <a:avLst/>
          </a:prstGeom>
        </p:spPr>
      </p:pic>
      <p:pic>
        <p:nvPicPr>
          <p:cNvPr id="9" name="图片 8">
            <a:extLst>
              <a:ext uri="{FF2B5EF4-FFF2-40B4-BE49-F238E27FC236}">
                <a16:creationId xmlns:a16="http://schemas.microsoft.com/office/drawing/2014/main" id="{7F5E8076-2C92-F3A2-5B3F-D050DBD1718B}"/>
              </a:ext>
            </a:extLst>
          </p:cNvPr>
          <p:cNvPicPr>
            <a:picLocks noChangeAspect="1"/>
          </p:cNvPicPr>
          <p:nvPr/>
        </p:nvPicPr>
        <p:blipFill>
          <a:blip r:embed="rId4"/>
          <a:stretch>
            <a:fillRect/>
          </a:stretch>
        </p:blipFill>
        <p:spPr>
          <a:xfrm>
            <a:off x="1147778" y="2643043"/>
            <a:ext cx="3776690" cy="400053"/>
          </a:xfrm>
          <a:prstGeom prst="rect">
            <a:avLst/>
          </a:prstGeom>
        </p:spPr>
      </p:pic>
      <p:sp>
        <p:nvSpPr>
          <p:cNvPr id="10" name="文本框 9">
            <a:extLst>
              <a:ext uri="{FF2B5EF4-FFF2-40B4-BE49-F238E27FC236}">
                <a16:creationId xmlns:a16="http://schemas.microsoft.com/office/drawing/2014/main" id="{50D34FCB-3289-DAE6-7CC3-73082E7DB405}"/>
              </a:ext>
            </a:extLst>
          </p:cNvPr>
          <p:cNvSpPr txBox="1"/>
          <p:nvPr/>
        </p:nvSpPr>
        <p:spPr>
          <a:xfrm>
            <a:off x="709502" y="3222852"/>
            <a:ext cx="3693751" cy="465448"/>
          </a:xfrm>
          <a:prstGeom prst="rect">
            <a:avLst/>
          </a:prstGeom>
          <a:noFill/>
        </p:spPr>
        <p:txBody>
          <a:bodyPr wrap="square">
            <a:spAutoFit/>
          </a:bodyPr>
          <a:lstStyle/>
          <a:p>
            <a:pPr marL="457200" lvl="2" fontAlgn="auto">
              <a:lnSpc>
                <a:spcPct val="150000"/>
              </a:lnSpc>
              <a:spcBef>
                <a:spcPts val="0"/>
              </a:spcBef>
              <a:buClr>
                <a:schemeClr val="accent4">
                  <a:lumMod val="50000"/>
                </a:schemeClr>
              </a:buClr>
              <a:buSzPct val="70000"/>
            </a:pPr>
            <a:r>
              <a:rPr lang="zh-CN" altLang="en-US" sz="1800" b="1" dirty="0">
                <a:latin typeface="Gill Sans" panose="020B0502020104020203" charset="0"/>
                <a:ea typeface="等线" panose="02010600030101010101" charset="-122"/>
              </a:rPr>
              <a:t>滑动窗口统计：</a:t>
            </a:r>
            <a:r>
              <a:rPr lang="zh-CN" altLang="en-US" sz="1800" dirty="0">
                <a:latin typeface="Gill Sans" panose="020B0502020104020203" charset="0"/>
                <a:ea typeface="等线" panose="02010600030101010101" charset="-122"/>
              </a:rPr>
              <a:t>太远的不要</a:t>
            </a:r>
            <a:endParaRPr lang="en-US" altLang="zh-CN" sz="1800" dirty="0">
              <a:latin typeface="Gill Sans" panose="020B0502020104020203" charset="0"/>
              <a:ea typeface="等线" panose="02010600030101010101" charset="-122"/>
            </a:endParaRPr>
          </a:p>
        </p:txBody>
      </p:sp>
      <p:pic>
        <p:nvPicPr>
          <p:cNvPr id="13" name="图片 12">
            <a:extLst>
              <a:ext uri="{FF2B5EF4-FFF2-40B4-BE49-F238E27FC236}">
                <a16:creationId xmlns:a16="http://schemas.microsoft.com/office/drawing/2014/main" id="{065ABBAE-D6C7-A6A4-87E7-68753FC761AE}"/>
              </a:ext>
            </a:extLst>
          </p:cNvPr>
          <p:cNvPicPr>
            <a:picLocks noChangeAspect="1"/>
          </p:cNvPicPr>
          <p:nvPr/>
        </p:nvPicPr>
        <p:blipFill>
          <a:blip r:embed="rId5"/>
          <a:stretch>
            <a:fillRect/>
          </a:stretch>
        </p:blipFill>
        <p:spPr>
          <a:xfrm>
            <a:off x="1249972" y="3765876"/>
            <a:ext cx="4329144" cy="776293"/>
          </a:xfrm>
          <a:prstGeom prst="rect">
            <a:avLst/>
          </a:prstGeom>
        </p:spPr>
      </p:pic>
      <p:pic>
        <p:nvPicPr>
          <p:cNvPr id="15" name="图片 14">
            <a:extLst>
              <a:ext uri="{FF2B5EF4-FFF2-40B4-BE49-F238E27FC236}">
                <a16:creationId xmlns:a16="http://schemas.microsoft.com/office/drawing/2014/main" id="{2ED23808-B1CC-F7D7-6A39-36DA6AC2607D}"/>
              </a:ext>
            </a:extLst>
          </p:cNvPr>
          <p:cNvPicPr>
            <a:picLocks noChangeAspect="1"/>
          </p:cNvPicPr>
          <p:nvPr/>
        </p:nvPicPr>
        <p:blipFill>
          <a:blip r:embed="rId6"/>
          <a:stretch>
            <a:fillRect/>
          </a:stretch>
        </p:blipFill>
        <p:spPr>
          <a:xfrm>
            <a:off x="5222683" y="4575684"/>
            <a:ext cx="5093400" cy="1531501"/>
          </a:xfrm>
          <a:prstGeom prst="rect">
            <a:avLst/>
          </a:prstGeom>
        </p:spPr>
      </p:pic>
    </p:spTree>
    <p:extLst>
      <p:ext uri="{BB962C8B-B14F-4D97-AF65-F5344CB8AC3E}">
        <p14:creationId xmlns:p14="http://schemas.microsoft.com/office/powerpoint/2010/main" val="4122854609"/>
      </p:ext>
    </p:extLst>
  </p:cSld>
  <p:clrMapOvr>
    <a:masterClrMapping/>
  </p:clrMapOvr>
  <mc:AlternateContent xmlns:mc="http://schemas.openxmlformats.org/markup-compatibility/2006">
    <mc:Choice xmlns:p14="http://schemas.microsoft.com/office/powerpoint/2010/main" Requires="p14">
      <p:transition spd="slow" p14:dur="2000" advTm="629"/>
    </mc:Choice>
    <mc:Fallback>
      <p:transition spd="slow" advTm="62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 grpId="0"/>
      <p:bldP spid="23" grpId="0"/>
      <p:bldP spid="29"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E87AC8D-F499-AC7E-6839-4F9E64679CC3}"/>
              </a:ext>
            </a:extLst>
          </p:cNvPr>
          <p:cNvSpPr>
            <a:spLocks noGrp="1"/>
          </p:cNvSpPr>
          <p:nvPr>
            <p:ph type="sldNum" sz="quarter" idx="12"/>
          </p:nvPr>
        </p:nvSpPr>
        <p:spPr/>
        <p:txBody>
          <a:bodyPr/>
          <a:lstStyle/>
          <a:p>
            <a:fld id="{C6CB85E4-9B6E-41B6-BE28-34B8FDE32807}" type="slidenum">
              <a:rPr lang="zh-CN" altLang="en-US" smtClean="0"/>
              <a:t>14</a:t>
            </a:fld>
            <a:endParaRPr lang="zh-CN" altLang="en-US" dirty="0"/>
          </a:p>
        </p:txBody>
      </p:sp>
      <p:sp>
        <p:nvSpPr>
          <p:cNvPr id="3" name="文本占位符 2">
            <a:extLst>
              <a:ext uri="{FF2B5EF4-FFF2-40B4-BE49-F238E27FC236}">
                <a16:creationId xmlns:a16="http://schemas.microsoft.com/office/drawing/2014/main" id="{162FC247-C1FA-64DD-21B3-3B1FC26AA504}"/>
              </a:ext>
            </a:extLst>
          </p:cNvPr>
          <p:cNvSpPr>
            <a:spLocks noGrp="1"/>
          </p:cNvSpPr>
          <p:nvPr>
            <p:ph type="body" sz="quarter" idx="14"/>
          </p:nvPr>
        </p:nvSpPr>
        <p:spPr/>
        <p:txBody>
          <a:bodyPr/>
          <a:lstStyle/>
          <a:p>
            <a:r>
              <a:rPr lang="zh-CN" altLang="en-US" dirty="0"/>
              <a:t>关键优化</a:t>
            </a:r>
            <a:r>
              <a:rPr lang="en-US" altLang="zh-CN" dirty="0"/>
              <a:t>-</a:t>
            </a:r>
            <a:r>
              <a:rPr lang="zh-CN" altLang="en-US" dirty="0"/>
              <a:t>联合使用</a:t>
            </a:r>
          </a:p>
        </p:txBody>
      </p:sp>
      <p:sp>
        <p:nvSpPr>
          <p:cNvPr id="4" name="文本框 3">
            <a:extLst>
              <a:ext uri="{FF2B5EF4-FFF2-40B4-BE49-F238E27FC236}">
                <a16:creationId xmlns:a16="http://schemas.microsoft.com/office/drawing/2014/main" id="{BC7FFF25-9A27-3182-E175-67108219CA14}"/>
              </a:ext>
            </a:extLst>
          </p:cNvPr>
          <p:cNvSpPr txBox="1"/>
          <p:nvPr/>
        </p:nvSpPr>
        <p:spPr>
          <a:xfrm>
            <a:off x="618475" y="3129394"/>
            <a:ext cx="5283562" cy="880947"/>
          </a:xfrm>
          <a:prstGeom prst="rect">
            <a:avLst/>
          </a:prstGeom>
          <a:noFill/>
        </p:spPr>
        <p:txBody>
          <a:bodyPr wrap="square">
            <a:spAutoFit/>
          </a:bodyPr>
          <a:lstStyle/>
          <a:p>
            <a:pPr marL="457200" lvl="2" fontAlgn="auto">
              <a:lnSpc>
                <a:spcPct val="150000"/>
              </a:lnSpc>
              <a:spcBef>
                <a:spcPts val="0"/>
              </a:spcBef>
              <a:buClr>
                <a:schemeClr val="accent4">
                  <a:lumMod val="50000"/>
                </a:schemeClr>
              </a:buClr>
              <a:buSzPct val="70000"/>
            </a:pPr>
            <a:r>
              <a:rPr lang="zh-CN" altLang="en-US" sz="1800" b="1" dirty="0">
                <a:latin typeface="Gill Sans" panose="020B0502020104020203" charset="0"/>
                <a:ea typeface="等线" panose="02010600030101010101" charset="-122"/>
              </a:rPr>
              <a:t>联合使用：</a:t>
            </a:r>
            <a:r>
              <a:rPr lang="zh-CN" altLang="en-US" dirty="0">
                <a:latin typeface="Gill Sans" panose="020B0502020104020203" charset="0"/>
                <a:ea typeface="等线" panose="02010600030101010101" charset="-122"/>
              </a:rPr>
              <a:t>相对</a:t>
            </a:r>
            <a:r>
              <a:rPr lang="zh-CN" altLang="en-US" sz="1800" dirty="0">
                <a:latin typeface="Gill Sans" panose="020B0502020104020203" charset="0"/>
                <a:ea typeface="等线" panose="02010600030101010101" charset="-122"/>
              </a:rPr>
              <a:t>保守，为避免样本过少，</a:t>
            </a:r>
            <a:endParaRPr lang="en-US" altLang="zh-CN" sz="1800" dirty="0">
              <a:latin typeface="Gill Sans" panose="020B0502020104020203" charset="0"/>
              <a:ea typeface="等线" panose="02010600030101010101" charset="-122"/>
            </a:endParaRPr>
          </a:p>
          <a:p>
            <a:pPr marL="457200" lvl="2" fontAlgn="auto">
              <a:lnSpc>
                <a:spcPct val="150000"/>
              </a:lnSpc>
              <a:spcBef>
                <a:spcPts val="0"/>
              </a:spcBef>
              <a:buClr>
                <a:schemeClr val="accent4">
                  <a:lumMod val="50000"/>
                </a:schemeClr>
              </a:buClr>
              <a:buSzPct val="70000"/>
            </a:pPr>
            <a:r>
              <a:rPr lang="zh-CN" altLang="en-US" sz="1800" dirty="0">
                <a:latin typeface="Gill Sans" panose="020B0502020104020203" charset="0"/>
                <a:ea typeface="等线" panose="02010600030101010101" charset="-122"/>
              </a:rPr>
              <a:t>两种策略同时启用时只启用指数衰减</a:t>
            </a:r>
            <a:endParaRPr lang="en-US" altLang="zh-CN" sz="1800" dirty="0">
              <a:latin typeface="Gill Sans" panose="020B0502020104020203" charset="0"/>
              <a:ea typeface="等线" panose="02010600030101010101" charset="-122"/>
            </a:endParaRPr>
          </a:p>
        </p:txBody>
      </p:sp>
      <p:pic>
        <p:nvPicPr>
          <p:cNvPr id="6" name="图片 5">
            <a:extLst>
              <a:ext uri="{FF2B5EF4-FFF2-40B4-BE49-F238E27FC236}">
                <a16:creationId xmlns:a16="http://schemas.microsoft.com/office/drawing/2014/main" id="{1BFB20AD-4953-6072-E0C5-5C0534F3C341}"/>
              </a:ext>
            </a:extLst>
          </p:cNvPr>
          <p:cNvPicPr>
            <a:picLocks noChangeAspect="1"/>
          </p:cNvPicPr>
          <p:nvPr/>
        </p:nvPicPr>
        <p:blipFill>
          <a:blip r:embed="rId3"/>
          <a:stretch>
            <a:fillRect/>
          </a:stretch>
        </p:blipFill>
        <p:spPr>
          <a:xfrm>
            <a:off x="6357812" y="946755"/>
            <a:ext cx="5122195" cy="5246227"/>
          </a:xfrm>
          <a:prstGeom prst="rect">
            <a:avLst/>
          </a:prstGeom>
        </p:spPr>
      </p:pic>
    </p:spTree>
    <p:extLst>
      <p:ext uri="{BB962C8B-B14F-4D97-AF65-F5344CB8AC3E}">
        <p14:creationId xmlns:p14="http://schemas.microsoft.com/office/powerpoint/2010/main" val="2894438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3"/>
          </p:nvPr>
        </p:nvSpPr>
        <p:spPr/>
        <p:txBody>
          <a:bodyPr/>
          <a:lstStyle/>
          <a:p>
            <a:r>
              <a:rPr lang="zh-CN" altLang="en-US" dirty="0"/>
              <a:t>第三部分</a:t>
            </a:r>
          </a:p>
        </p:txBody>
      </p:sp>
      <p:sp>
        <p:nvSpPr>
          <p:cNvPr id="8" name="文本占位符 7"/>
          <p:cNvSpPr>
            <a:spLocks noGrp="1"/>
          </p:cNvSpPr>
          <p:nvPr>
            <p:ph type="body" sz="quarter" idx="15"/>
          </p:nvPr>
        </p:nvSpPr>
        <p:spPr>
          <a:xfrm>
            <a:off x="5197474" y="3429000"/>
            <a:ext cx="3469005" cy="512763"/>
          </a:xfrm>
        </p:spPr>
        <p:txBody>
          <a:bodyPr>
            <a:noAutofit/>
          </a:bodyPr>
          <a:lstStyle/>
          <a:p>
            <a:r>
              <a:rPr lang="zh-CN" altLang="en-US" dirty="0"/>
              <a:t>系统实现与实验验证</a:t>
            </a:r>
          </a:p>
        </p:txBody>
      </p:sp>
      <p:sp>
        <p:nvSpPr>
          <p:cNvPr id="9" name="文本占位符 8"/>
          <p:cNvSpPr>
            <a:spLocks noGrp="1"/>
          </p:cNvSpPr>
          <p:nvPr>
            <p:ph type="body" sz="quarter" idx="16"/>
          </p:nvPr>
        </p:nvSpPr>
        <p:spPr>
          <a:xfrm>
            <a:off x="5197475" y="2519680"/>
            <a:ext cx="2997200" cy="652145"/>
          </a:xfrm>
        </p:spPr>
        <p:txBody>
          <a:bodyPr>
            <a:noAutofit/>
          </a:bodyPr>
          <a:lstStyle/>
          <a:p>
            <a:r>
              <a:rPr lang="en-US" altLang="zh-CN" sz="3600" b="1" kern="0" dirty="0">
                <a:solidFill>
                  <a:srgbClr val="6A0160"/>
                </a:solidFill>
                <a:uFillTx/>
                <a:latin typeface="+mn-lt"/>
                <a:cs typeface="+mn-lt"/>
              </a:rPr>
              <a:t>Evaluation</a:t>
            </a:r>
          </a:p>
        </p:txBody>
      </p:sp>
      <p:sp>
        <p:nvSpPr>
          <p:cNvPr id="2" name="灯片编号占位符 1"/>
          <p:cNvSpPr>
            <a:spLocks noGrp="1"/>
          </p:cNvSpPr>
          <p:nvPr>
            <p:ph type="sldNum" sz="quarter" idx="12"/>
          </p:nvPr>
        </p:nvSpPr>
        <p:spPr/>
        <p:txBody>
          <a:bodyPr/>
          <a:lstStyle/>
          <a:p>
            <a:fld id="{C6CB85E4-9B6E-41B6-BE28-34B8FDE32807}" type="slidenum">
              <a:rPr lang="zh-CN" altLang="en-US" smtClean="0"/>
              <a:t>15</a:t>
            </a:fld>
            <a:endParaRPr lang="zh-CN" altLang="en-US" dirty="0"/>
          </a:p>
        </p:txBody>
      </p:sp>
    </p:spTree>
    <p:extLst>
      <p:ext uri="{BB962C8B-B14F-4D97-AF65-F5344CB8AC3E}">
        <p14:creationId xmlns:p14="http://schemas.microsoft.com/office/powerpoint/2010/main" val="3039131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3A1C732-50BE-0C0B-E0BD-AF690CB610AF}"/>
              </a:ext>
            </a:extLst>
          </p:cNvPr>
          <p:cNvSpPr>
            <a:spLocks noGrp="1"/>
          </p:cNvSpPr>
          <p:nvPr>
            <p:ph type="sldNum" sz="quarter" idx="12"/>
          </p:nvPr>
        </p:nvSpPr>
        <p:spPr/>
        <p:txBody>
          <a:bodyPr/>
          <a:lstStyle/>
          <a:p>
            <a:fld id="{C6CB85E4-9B6E-41B6-BE28-34B8FDE32807}" type="slidenum">
              <a:rPr lang="zh-CN" altLang="en-US" smtClean="0"/>
              <a:t>16</a:t>
            </a:fld>
            <a:endParaRPr lang="zh-CN" altLang="en-US" dirty="0"/>
          </a:p>
        </p:txBody>
      </p:sp>
      <p:sp>
        <p:nvSpPr>
          <p:cNvPr id="3" name="文本占位符 2">
            <a:extLst>
              <a:ext uri="{FF2B5EF4-FFF2-40B4-BE49-F238E27FC236}">
                <a16:creationId xmlns:a16="http://schemas.microsoft.com/office/drawing/2014/main" id="{A750CDFF-79A5-AFC5-F869-1600462E5913}"/>
              </a:ext>
            </a:extLst>
          </p:cNvPr>
          <p:cNvSpPr>
            <a:spLocks noGrp="1"/>
          </p:cNvSpPr>
          <p:nvPr>
            <p:ph type="body" sz="quarter" idx="14"/>
          </p:nvPr>
        </p:nvSpPr>
        <p:spPr>
          <a:xfrm>
            <a:off x="1147779" y="270910"/>
            <a:ext cx="5705026" cy="436606"/>
          </a:xfrm>
        </p:spPr>
        <p:txBody>
          <a:bodyPr/>
          <a:lstStyle/>
          <a:p>
            <a:r>
              <a:rPr lang="zh-CN" altLang="en-US" dirty="0"/>
              <a:t>系统实现</a:t>
            </a:r>
            <a:r>
              <a:rPr lang="en-US" altLang="zh-CN" dirty="0"/>
              <a:t>-</a:t>
            </a:r>
            <a:r>
              <a:rPr lang="zh-CN" altLang="en-US" dirty="0"/>
              <a:t>总体架构与用户接口</a:t>
            </a:r>
          </a:p>
        </p:txBody>
      </p:sp>
      <p:grpSp>
        <p:nvGrpSpPr>
          <p:cNvPr id="13" name="组合 12">
            <a:extLst>
              <a:ext uri="{FF2B5EF4-FFF2-40B4-BE49-F238E27FC236}">
                <a16:creationId xmlns:a16="http://schemas.microsoft.com/office/drawing/2014/main" id="{FB76A938-2079-9B52-43C3-C64742A145D6}"/>
              </a:ext>
            </a:extLst>
          </p:cNvPr>
          <p:cNvGrpSpPr/>
          <p:nvPr/>
        </p:nvGrpSpPr>
        <p:grpSpPr>
          <a:xfrm>
            <a:off x="429028" y="1573338"/>
            <a:ext cx="5314519" cy="4010698"/>
            <a:chOff x="6388215" y="1168093"/>
            <a:chExt cx="5314519" cy="4010698"/>
          </a:xfrm>
        </p:grpSpPr>
        <p:pic>
          <p:nvPicPr>
            <p:cNvPr id="6" name="图片 5">
              <a:extLst>
                <a:ext uri="{FF2B5EF4-FFF2-40B4-BE49-F238E27FC236}">
                  <a16:creationId xmlns:a16="http://schemas.microsoft.com/office/drawing/2014/main" id="{3CF9998B-710E-DD33-EB2F-805F8F4EDECD}"/>
                </a:ext>
              </a:extLst>
            </p:cNvPr>
            <p:cNvPicPr>
              <a:picLocks noChangeAspect="1"/>
            </p:cNvPicPr>
            <p:nvPr/>
          </p:nvPicPr>
          <p:blipFill>
            <a:blip r:embed="rId3"/>
            <a:stretch>
              <a:fillRect/>
            </a:stretch>
          </p:blipFill>
          <p:spPr>
            <a:xfrm>
              <a:off x="6388215" y="1168093"/>
              <a:ext cx="5314519" cy="3570162"/>
            </a:xfrm>
            <a:prstGeom prst="rect">
              <a:avLst/>
            </a:prstGeom>
          </p:spPr>
        </p:pic>
        <p:sp>
          <p:nvSpPr>
            <p:cNvPr id="9" name="文本框 8">
              <a:extLst>
                <a:ext uri="{FF2B5EF4-FFF2-40B4-BE49-F238E27FC236}">
                  <a16:creationId xmlns:a16="http://schemas.microsoft.com/office/drawing/2014/main" id="{EEC0A6C9-F165-8BA6-46D5-56792B4F8298}"/>
                </a:ext>
              </a:extLst>
            </p:cNvPr>
            <p:cNvSpPr txBox="1"/>
            <p:nvPr/>
          </p:nvSpPr>
          <p:spPr>
            <a:xfrm>
              <a:off x="8078975" y="4809459"/>
              <a:ext cx="2280761" cy="369332"/>
            </a:xfrm>
            <a:prstGeom prst="rect">
              <a:avLst/>
            </a:prstGeom>
            <a:noFill/>
          </p:spPr>
          <p:txBody>
            <a:bodyPr wrap="square">
              <a:spAutoFit/>
            </a:bodyPr>
            <a:lstStyle/>
            <a:p>
              <a:r>
                <a:rPr lang="zh-CN" altLang="en-US" dirty="0">
                  <a:latin typeface="Gill Sans" panose="020B0502020104020203" charset="0"/>
                  <a:ea typeface="等线" panose="02010600030101010101" charset="-122"/>
                </a:rPr>
                <a:t>原型系统总体架构</a:t>
              </a:r>
              <a:endParaRPr lang="zh-CN" altLang="en-US" dirty="0"/>
            </a:p>
          </p:txBody>
        </p:sp>
      </p:grpSp>
      <p:grpSp>
        <p:nvGrpSpPr>
          <p:cNvPr id="12" name="组合 11">
            <a:extLst>
              <a:ext uri="{FF2B5EF4-FFF2-40B4-BE49-F238E27FC236}">
                <a16:creationId xmlns:a16="http://schemas.microsoft.com/office/drawing/2014/main" id="{83EE53C7-6695-DD27-D2C2-E86D6D11F3BC}"/>
              </a:ext>
            </a:extLst>
          </p:cNvPr>
          <p:cNvGrpSpPr/>
          <p:nvPr/>
        </p:nvGrpSpPr>
        <p:grpSpPr>
          <a:xfrm>
            <a:off x="6363076" y="1430852"/>
            <a:ext cx="5551833" cy="2617061"/>
            <a:chOff x="544167" y="1217839"/>
            <a:chExt cx="5551833" cy="2617061"/>
          </a:xfrm>
        </p:grpSpPr>
        <p:pic>
          <p:nvPicPr>
            <p:cNvPr id="10" name="图片 9">
              <a:extLst>
                <a:ext uri="{FF2B5EF4-FFF2-40B4-BE49-F238E27FC236}">
                  <a16:creationId xmlns:a16="http://schemas.microsoft.com/office/drawing/2014/main" id="{6E289715-88E4-538F-230C-9628451B9051}"/>
                </a:ext>
              </a:extLst>
            </p:cNvPr>
            <p:cNvPicPr>
              <a:picLocks noChangeAspect="1"/>
            </p:cNvPicPr>
            <p:nvPr/>
          </p:nvPicPr>
          <p:blipFill>
            <a:blip r:embed="rId4"/>
            <a:stretch>
              <a:fillRect/>
            </a:stretch>
          </p:blipFill>
          <p:spPr>
            <a:xfrm>
              <a:off x="544167" y="1217839"/>
              <a:ext cx="5551833" cy="2211161"/>
            </a:xfrm>
            <a:prstGeom prst="rect">
              <a:avLst/>
            </a:prstGeom>
          </p:spPr>
        </p:pic>
        <p:sp>
          <p:nvSpPr>
            <p:cNvPr id="11" name="文本框 10">
              <a:extLst>
                <a:ext uri="{FF2B5EF4-FFF2-40B4-BE49-F238E27FC236}">
                  <a16:creationId xmlns:a16="http://schemas.microsoft.com/office/drawing/2014/main" id="{5FDEB3DB-5C9F-13C4-F415-6EE34A45BAE9}"/>
                </a:ext>
              </a:extLst>
            </p:cNvPr>
            <p:cNvSpPr txBox="1"/>
            <p:nvPr/>
          </p:nvSpPr>
          <p:spPr>
            <a:xfrm>
              <a:off x="1839004" y="3465568"/>
              <a:ext cx="2686237" cy="369332"/>
            </a:xfrm>
            <a:prstGeom prst="rect">
              <a:avLst/>
            </a:prstGeom>
            <a:noFill/>
          </p:spPr>
          <p:txBody>
            <a:bodyPr wrap="square">
              <a:spAutoFit/>
            </a:bodyPr>
            <a:lstStyle/>
            <a:p>
              <a:r>
                <a:rPr lang="zh-CN" altLang="en-US" dirty="0">
                  <a:latin typeface="Gill Sans" panose="020B0502020104020203" charset="0"/>
                  <a:ea typeface="等线" panose="02010600030101010101" charset="-122"/>
                </a:rPr>
                <a:t>工作流定义与运行配置</a:t>
              </a:r>
              <a:endParaRPr lang="zh-CN" altLang="en-US" dirty="0"/>
            </a:p>
          </p:txBody>
        </p:sp>
      </p:grpSp>
      <p:pic>
        <p:nvPicPr>
          <p:cNvPr id="15" name="图片 14">
            <a:extLst>
              <a:ext uri="{FF2B5EF4-FFF2-40B4-BE49-F238E27FC236}">
                <a16:creationId xmlns:a16="http://schemas.microsoft.com/office/drawing/2014/main" id="{EC9C8893-937F-23BA-F575-ED383A247E1B}"/>
              </a:ext>
            </a:extLst>
          </p:cNvPr>
          <p:cNvPicPr>
            <a:picLocks noChangeAspect="1"/>
          </p:cNvPicPr>
          <p:nvPr/>
        </p:nvPicPr>
        <p:blipFill>
          <a:blip r:embed="rId5"/>
          <a:stretch>
            <a:fillRect/>
          </a:stretch>
        </p:blipFill>
        <p:spPr>
          <a:xfrm>
            <a:off x="6448455" y="4166884"/>
            <a:ext cx="5018193" cy="1720160"/>
          </a:xfrm>
          <a:prstGeom prst="rect">
            <a:avLst/>
          </a:prstGeom>
        </p:spPr>
      </p:pic>
      <p:sp>
        <p:nvSpPr>
          <p:cNvPr id="16" name="文本框 15">
            <a:extLst>
              <a:ext uri="{FF2B5EF4-FFF2-40B4-BE49-F238E27FC236}">
                <a16:creationId xmlns:a16="http://schemas.microsoft.com/office/drawing/2014/main" id="{E84363CD-6DDA-4F69-ACAF-8F8D552E8FE3}"/>
              </a:ext>
            </a:extLst>
          </p:cNvPr>
          <p:cNvSpPr txBox="1"/>
          <p:nvPr/>
        </p:nvSpPr>
        <p:spPr>
          <a:xfrm>
            <a:off x="8054500" y="5904561"/>
            <a:ext cx="2253282" cy="369332"/>
          </a:xfrm>
          <a:prstGeom prst="rect">
            <a:avLst/>
          </a:prstGeom>
          <a:noFill/>
        </p:spPr>
        <p:txBody>
          <a:bodyPr wrap="square">
            <a:spAutoFit/>
          </a:bodyPr>
          <a:lstStyle/>
          <a:p>
            <a:r>
              <a:rPr lang="en-US" altLang="zh-CN" dirty="0" err="1">
                <a:latin typeface="Gill Sans" panose="020B0502020104020203" charset="0"/>
                <a:ea typeface="等线" panose="02010600030101010101" charset="-122"/>
              </a:rPr>
              <a:t>specx</a:t>
            </a:r>
            <a:r>
              <a:rPr lang="en-US" altLang="zh-CN" dirty="0">
                <a:latin typeface="Gill Sans" panose="020B0502020104020203" charset="0"/>
                <a:ea typeface="等线" panose="02010600030101010101" charset="-122"/>
              </a:rPr>
              <a:t> </a:t>
            </a:r>
            <a:r>
              <a:rPr lang="zh-CN" altLang="en-US" dirty="0">
                <a:latin typeface="Gill Sans" panose="020B0502020104020203" charset="0"/>
                <a:ea typeface="等线" panose="02010600030101010101" charset="-122"/>
              </a:rPr>
              <a:t>命令行工具</a:t>
            </a:r>
            <a:endParaRPr lang="zh-CN" altLang="en-US" dirty="0"/>
          </a:p>
        </p:txBody>
      </p:sp>
    </p:spTree>
    <p:extLst>
      <p:ext uri="{BB962C8B-B14F-4D97-AF65-F5344CB8AC3E}">
        <p14:creationId xmlns:p14="http://schemas.microsoft.com/office/powerpoint/2010/main" val="18098631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62EC831-C06B-7F9F-0ACC-96A71580BD56}"/>
              </a:ext>
            </a:extLst>
          </p:cNvPr>
          <p:cNvSpPr>
            <a:spLocks noGrp="1"/>
          </p:cNvSpPr>
          <p:nvPr>
            <p:ph type="sldNum" sz="quarter" idx="12"/>
          </p:nvPr>
        </p:nvSpPr>
        <p:spPr/>
        <p:txBody>
          <a:bodyPr/>
          <a:lstStyle/>
          <a:p>
            <a:fld id="{C6CB85E4-9B6E-41B6-BE28-34B8FDE32807}" type="slidenum">
              <a:rPr lang="zh-CN" altLang="en-US" smtClean="0"/>
              <a:t>17</a:t>
            </a:fld>
            <a:endParaRPr lang="zh-CN" altLang="en-US" dirty="0"/>
          </a:p>
        </p:txBody>
      </p:sp>
      <p:sp>
        <p:nvSpPr>
          <p:cNvPr id="3" name="文本占位符 2">
            <a:extLst>
              <a:ext uri="{FF2B5EF4-FFF2-40B4-BE49-F238E27FC236}">
                <a16:creationId xmlns:a16="http://schemas.microsoft.com/office/drawing/2014/main" id="{BE499FAA-21CD-0ABD-3819-D8E62BBCB063}"/>
              </a:ext>
            </a:extLst>
          </p:cNvPr>
          <p:cNvSpPr>
            <a:spLocks noGrp="1"/>
          </p:cNvSpPr>
          <p:nvPr>
            <p:ph type="body" sz="quarter" idx="14"/>
          </p:nvPr>
        </p:nvSpPr>
        <p:spPr>
          <a:xfrm>
            <a:off x="1147779" y="270910"/>
            <a:ext cx="3964548" cy="436606"/>
          </a:xfrm>
        </p:spPr>
        <p:txBody>
          <a:bodyPr/>
          <a:lstStyle/>
          <a:p>
            <a:r>
              <a:rPr lang="zh-CN" altLang="en-US" dirty="0"/>
              <a:t>实验设计</a:t>
            </a:r>
          </a:p>
        </p:txBody>
      </p:sp>
      <p:sp>
        <p:nvSpPr>
          <p:cNvPr id="4" name="Content Placeholder 2">
            <a:extLst>
              <a:ext uri="{FF2B5EF4-FFF2-40B4-BE49-F238E27FC236}">
                <a16:creationId xmlns:a16="http://schemas.microsoft.com/office/drawing/2014/main" id="{36C62306-092D-F978-098B-F963997759CE}"/>
              </a:ext>
            </a:extLst>
          </p:cNvPr>
          <p:cNvSpPr txBox="1"/>
          <p:nvPr/>
        </p:nvSpPr>
        <p:spPr>
          <a:xfrm>
            <a:off x="485417" y="1871895"/>
            <a:ext cx="9409684" cy="4622423"/>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800100" lvl="2" indent="-342900" fontAlgn="auto">
              <a:lnSpc>
                <a:spcPct val="200000"/>
              </a:lnSpc>
              <a:spcBef>
                <a:spcPts val="0"/>
              </a:spcBef>
              <a:buClr>
                <a:schemeClr val="accent4">
                  <a:lumMod val="50000"/>
                </a:schemeClr>
              </a:buClr>
              <a:buSzPct val="70000"/>
              <a:buFont typeface="Wingdings" panose="05000000000000000000" pitchFamily="2" charset="2"/>
              <a:buChar char="q"/>
            </a:pPr>
            <a:endParaRPr lang="en-US" altLang="zh-CN" sz="2000" dirty="0">
              <a:solidFill>
                <a:schemeClr val="tx1"/>
              </a:solidFill>
              <a:uFillTx/>
              <a:latin typeface="Gill Sans" panose="020B0502020104020203" charset="0"/>
              <a:ea typeface="等线" panose="02010600030101010101" charset="-122"/>
              <a:cs typeface="等线" panose="02010600030101010101" charset="-122"/>
            </a:endParaRPr>
          </a:p>
        </p:txBody>
      </p:sp>
      <p:sp>
        <p:nvSpPr>
          <p:cNvPr id="5" name="Content Placeholder 2">
            <a:extLst>
              <a:ext uri="{FF2B5EF4-FFF2-40B4-BE49-F238E27FC236}">
                <a16:creationId xmlns:a16="http://schemas.microsoft.com/office/drawing/2014/main" id="{84BA88FC-B38D-4551-2A51-8C3D51279B29}"/>
              </a:ext>
            </a:extLst>
          </p:cNvPr>
          <p:cNvSpPr txBox="1"/>
          <p:nvPr/>
        </p:nvSpPr>
        <p:spPr>
          <a:xfrm>
            <a:off x="794459" y="1138886"/>
            <a:ext cx="8791600" cy="3298034"/>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400" b="1" dirty="0">
                <a:uFillTx/>
                <a:latin typeface="Gill Sans" panose="020B0502020104020203" charset="0"/>
                <a:ea typeface="等线" panose="02010600030101010101" charset="-122"/>
                <a:cs typeface="等线" panose="02010600030101010101" charset="-122"/>
                <a:sym typeface="+mn-ea"/>
              </a:rPr>
              <a:t>实验设计与验证逻辑</a:t>
            </a:r>
          </a:p>
          <a:p>
            <a:pPr marL="800100" lvl="2" indent="-342900">
              <a:lnSpc>
                <a:spcPct val="200000"/>
              </a:lnSpc>
              <a:spcBef>
                <a:spcPts val="0"/>
              </a:spcBef>
              <a:buClr>
                <a:schemeClr val="accent4">
                  <a:lumMod val="50000"/>
                </a:schemeClr>
              </a:buClr>
              <a:buSzPct val="70000"/>
              <a:buFont typeface="Wingdings" panose="05000000000000000000" pitchFamily="2" charset="2"/>
              <a:buChar char="q"/>
            </a:pPr>
            <a:r>
              <a:rPr lang="en-US" altLang="zh-CN" sz="2000" dirty="0">
                <a:latin typeface="Gill Sans" panose="020B0502020104020203" charset="0"/>
                <a:ea typeface="等线" panose="02010600030101010101" charset="-122"/>
              </a:rPr>
              <a:t>RQ1</a:t>
            </a:r>
            <a:r>
              <a:rPr lang="zh-CN" altLang="en-US" sz="2000" dirty="0">
                <a:latin typeface="Gill Sans" panose="020B0502020104020203" charset="0"/>
                <a:ea typeface="等线" panose="02010600030101010101" charset="-122"/>
              </a:rPr>
              <a:t>：仿真实验 </a:t>
            </a:r>
            <a:r>
              <a:rPr lang="en-US" altLang="zh-CN" sz="2000" dirty="0">
                <a:latin typeface="Gill Sans" panose="020B0502020104020203" charset="0"/>
                <a:ea typeface="等线" panose="02010600030101010101" charset="-122"/>
              </a:rPr>
              <a:t>—— </a:t>
            </a:r>
            <a:r>
              <a:rPr lang="zh-CN" altLang="en-US" sz="2000" dirty="0">
                <a:latin typeface="Gill Sans" panose="020B0502020104020203" charset="0"/>
                <a:ea typeface="等线" panose="02010600030101010101" charset="-122"/>
              </a:rPr>
              <a:t>验证核心机制是否有效</a:t>
            </a:r>
          </a:p>
          <a:p>
            <a:pPr marL="800100" lvl="2" indent="-342900">
              <a:lnSpc>
                <a:spcPct val="200000"/>
              </a:lnSpc>
              <a:spcBef>
                <a:spcPts val="0"/>
              </a:spcBef>
              <a:buClr>
                <a:schemeClr val="accent4">
                  <a:lumMod val="50000"/>
                </a:schemeClr>
              </a:buClr>
              <a:buSzPct val="70000"/>
              <a:buFont typeface="Wingdings" panose="05000000000000000000" pitchFamily="2" charset="2"/>
              <a:buChar char="q"/>
            </a:pPr>
            <a:r>
              <a:rPr lang="en-US" altLang="zh-CN" sz="2000" dirty="0">
                <a:latin typeface="Gill Sans" panose="020B0502020104020203" charset="0"/>
                <a:ea typeface="等线" panose="02010600030101010101" charset="-122"/>
              </a:rPr>
              <a:t>RQ2</a:t>
            </a:r>
            <a:r>
              <a:rPr lang="zh-CN" altLang="en-US" sz="2000" dirty="0">
                <a:latin typeface="Gill Sans" panose="020B0502020104020203" charset="0"/>
                <a:ea typeface="等线" panose="02010600030101010101" charset="-122"/>
              </a:rPr>
              <a:t>：功能实验 </a:t>
            </a:r>
            <a:r>
              <a:rPr lang="en-US" altLang="zh-CN" sz="2000" dirty="0">
                <a:latin typeface="Gill Sans" panose="020B0502020104020203" charset="0"/>
                <a:ea typeface="等线" panose="02010600030101010101" charset="-122"/>
              </a:rPr>
              <a:t>—— </a:t>
            </a:r>
            <a:r>
              <a:rPr lang="zh-CN" altLang="en-US" sz="2000" dirty="0">
                <a:latin typeface="Gill Sans" panose="020B0502020104020203" charset="0"/>
                <a:ea typeface="等线" panose="02010600030101010101" charset="-122"/>
              </a:rPr>
              <a:t>验证系统功能是否正确</a:t>
            </a:r>
            <a:endParaRPr lang="en-US" altLang="zh-CN" sz="2000" dirty="0">
              <a:latin typeface="Gill Sans" panose="020B0502020104020203" charset="0"/>
              <a:ea typeface="等线" panose="02010600030101010101" charset="-122"/>
            </a:endParaRPr>
          </a:p>
          <a:p>
            <a:pPr marL="800100" lvl="2" indent="-342900">
              <a:lnSpc>
                <a:spcPct val="200000"/>
              </a:lnSpc>
              <a:spcBef>
                <a:spcPts val="0"/>
              </a:spcBef>
              <a:buClr>
                <a:schemeClr val="accent4">
                  <a:lumMod val="50000"/>
                </a:schemeClr>
              </a:buClr>
              <a:buSzPct val="70000"/>
              <a:buFont typeface="Wingdings" panose="05000000000000000000" pitchFamily="2" charset="2"/>
              <a:buChar char="q"/>
            </a:pPr>
            <a:r>
              <a:rPr lang="en-US" altLang="zh-CN" sz="2000" dirty="0">
                <a:latin typeface="Gill Sans" panose="020B0502020104020203" charset="0"/>
                <a:ea typeface="等线" panose="02010600030101010101" charset="-122"/>
              </a:rPr>
              <a:t>RQ3</a:t>
            </a:r>
            <a:r>
              <a:rPr lang="zh-CN" altLang="en-US" sz="2000" dirty="0">
                <a:latin typeface="Gill Sans" panose="020B0502020104020203" charset="0"/>
                <a:ea typeface="等线" panose="02010600030101010101" charset="-122"/>
              </a:rPr>
              <a:t>：性能实验 </a:t>
            </a:r>
            <a:r>
              <a:rPr lang="en-US" altLang="zh-CN" sz="2000" dirty="0">
                <a:latin typeface="Gill Sans" panose="020B0502020104020203" charset="0"/>
                <a:ea typeface="等线" panose="02010600030101010101" charset="-122"/>
              </a:rPr>
              <a:t>—— </a:t>
            </a:r>
            <a:r>
              <a:rPr lang="zh-CN" altLang="en-US" sz="2000" dirty="0">
                <a:latin typeface="Gill Sans" panose="020B0502020104020203" charset="0"/>
                <a:ea typeface="等线" panose="02010600030101010101" charset="-122"/>
              </a:rPr>
              <a:t>验证真实应用的端到端是否有收益</a:t>
            </a:r>
          </a:p>
          <a:p>
            <a:pPr marL="800100" lvl="2" indent="-342900">
              <a:lnSpc>
                <a:spcPct val="200000"/>
              </a:lnSpc>
              <a:spcBef>
                <a:spcPts val="0"/>
              </a:spcBef>
              <a:buClr>
                <a:schemeClr val="accent4">
                  <a:lumMod val="50000"/>
                </a:schemeClr>
              </a:buClr>
              <a:buSzPct val="70000"/>
              <a:buFont typeface="Wingdings" panose="05000000000000000000" pitchFamily="2" charset="2"/>
              <a:buChar char="q"/>
            </a:pPr>
            <a:r>
              <a:rPr lang="en-US" altLang="zh-CN" sz="2000" dirty="0">
                <a:latin typeface="Gill Sans" panose="020B0502020104020203" charset="0"/>
                <a:ea typeface="等线" panose="02010600030101010101" charset="-122"/>
              </a:rPr>
              <a:t>RQ4</a:t>
            </a:r>
            <a:r>
              <a:rPr lang="zh-CN" altLang="en-US" sz="2000" dirty="0">
                <a:latin typeface="Gill Sans" panose="020B0502020104020203" charset="0"/>
                <a:ea typeface="等线" panose="02010600030101010101" charset="-122"/>
              </a:rPr>
              <a:t>：消融实验 </a:t>
            </a:r>
            <a:r>
              <a:rPr lang="en-US" altLang="zh-CN" sz="2000" dirty="0">
                <a:latin typeface="Gill Sans" panose="020B0502020104020203" charset="0"/>
                <a:ea typeface="等线" panose="02010600030101010101" charset="-122"/>
              </a:rPr>
              <a:t>—— </a:t>
            </a:r>
            <a:r>
              <a:rPr lang="zh-CN" altLang="en-US" sz="2000" dirty="0">
                <a:latin typeface="Gill Sans" panose="020B0502020104020203" charset="0"/>
                <a:ea typeface="等线" panose="02010600030101010101" charset="-122"/>
              </a:rPr>
              <a:t>解释关键的设计是否有必要</a:t>
            </a:r>
          </a:p>
          <a:p>
            <a:pPr marL="800100" lvl="2" indent="-342900">
              <a:lnSpc>
                <a:spcPct val="150000"/>
              </a:lnSpc>
              <a:spcBef>
                <a:spcPts val="0"/>
              </a:spcBef>
              <a:buClr>
                <a:schemeClr val="accent4">
                  <a:lumMod val="50000"/>
                </a:schemeClr>
              </a:buClr>
              <a:buSzPct val="70000"/>
              <a:buFont typeface="Wingdings" panose="05000000000000000000" pitchFamily="2" charset="2"/>
              <a:buChar char="q"/>
            </a:pPr>
            <a:endParaRPr lang="en-US" altLang="zh-CN" sz="2000" dirty="0">
              <a:latin typeface="Gill Sans" panose="020B0502020104020203" charset="0"/>
              <a:ea typeface="等线" panose="02010600030101010101" charset="-122"/>
            </a:endParaRPr>
          </a:p>
        </p:txBody>
      </p:sp>
    </p:spTree>
    <p:extLst>
      <p:ext uri="{BB962C8B-B14F-4D97-AF65-F5344CB8AC3E}">
        <p14:creationId xmlns:p14="http://schemas.microsoft.com/office/powerpoint/2010/main" val="17616941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A9A93B43-1874-439B-BE1B-5C6074A27C40}"/>
              </a:ext>
            </a:extLst>
          </p:cNvPr>
          <p:cNvPicPr>
            <a:picLocks noChangeAspect="1"/>
          </p:cNvPicPr>
          <p:nvPr/>
        </p:nvPicPr>
        <p:blipFill>
          <a:blip r:embed="rId3"/>
          <a:stretch>
            <a:fillRect/>
          </a:stretch>
        </p:blipFill>
        <p:spPr>
          <a:xfrm>
            <a:off x="1255553" y="2508178"/>
            <a:ext cx="3444037" cy="1241385"/>
          </a:xfrm>
          <a:prstGeom prst="rect">
            <a:avLst/>
          </a:prstGeom>
        </p:spPr>
      </p:pic>
      <p:sp>
        <p:nvSpPr>
          <p:cNvPr id="2" name="灯片编号占位符 1">
            <a:extLst>
              <a:ext uri="{FF2B5EF4-FFF2-40B4-BE49-F238E27FC236}">
                <a16:creationId xmlns:a16="http://schemas.microsoft.com/office/drawing/2014/main" id="{EDAC6C09-FC7D-F26A-521B-6CE99A5606BC}"/>
              </a:ext>
            </a:extLst>
          </p:cNvPr>
          <p:cNvSpPr>
            <a:spLocks noGrp="1"/>
          </p:cNvSpPr>
          <p:nvPr>
            <p:ph type="sldNum" sz="quarter" idx="12"/>
          </p:nvPr>
        </p:nvSpPr>
        <p:spPr/>
        <p:txBody>
          <a:bodyPr/>
          <a:lstStyle/>
          <a:p>
            <a:fld id="{C6CB85E4-9B6E-41B6-BE28-34B8FDE32807}" type="slidenum">
              <a:rPr lang="zh-CN" altLang="en-US" smtClean="0"/>
              <a:t>18</a:t>
            </a:fld>
            <a:endParaRPr lang="zh-CN" altLang="en-US" dirty="0"/>
          </a:p>
        </p:txBody>
      </p:sp>
      <p:sp>
        <p:nvSpPr>
          <p:cNvPr id="3" name="文本占位符 2">
            <a:extLst>
              <a:ext uri="{FF2B5EF4-FFF2-40B4-BE49-F238E27FC236}">
                <a16:creationId xmlns:a16="http://schemas.microsoft.com/office/drawing/2014/main" id="{F2615569-72BE-B0B6-A9A8-AD954E70241A}"/>
              </a:ext>
            </a:extLst>
          </p:cNvPr>
          <p:cNvSpPr>
            <a:spLocks noGrp="1"/>
          </p:cNvSpPr>
          <p:nvPr>
            <p:ph type="body" sz="quarter" idx="14"/>
          </p:nvPr>
        </p:nvSpPr>
        <p:spPr/>
        <p:txBody>
          <a:bodyPr/>
          <a:lstStyle/>
          <a:p>
            <a:r>
              <a:rPr lang="zh-CN" altLang="en-US" dirty="0"/>
              <a:t>实验验证</a:t>
            </a:r>
            <a:r>
              <a:rPr lang="en-US" altLang="zh-CN" dirty="0"/>
              <a:t>-</a:t>
            </a:r>
            <a:r>
              <a:rPr lang="zh-CN" altLang="en-US" dirty="0"/>
              <a:t>仿真实验</a:t>
            </a:r>
          </a:p>
        </p:txBody>
      </p:sp>
      <p:sp>
        <p:nvSpPr>
          <p:cNvPr id="6" name="文本框 5">
            <a:extLst>
              <a:ext uri="{FF2B5EF4-FFF2-40B4-BE49-F238E27FC236}">
                <a16:creationId xmlns:a16="http://schemas.microsoft.com/office/drawing/2014/main" id="{EC382946-7B1C-45CF-E997-4E4EF6951574}"/>
              </a:ext>
            </a:extLst>
          </p:cNvPr>
          <p:cNvSpPr txBox="1"/>
          <p:nvPr/>
        </p:nvSpPr>
        <p:spPr>
          <a:xfrm>
            <a:off x="419885" y="868061"/>
            <a:ext cx="5283562" cy="465448"/>
          </a:xfrm>
          <a:prstGeom prst="rect">
            <a:avLst/>
          </a:prstGeom>
          <a:noFill/>
        </p:spPr>
        <p:txBody>
          <a:bodyPr wrap="square">
            <a:spAutoFit/>
          </a:bodyPr>
          <a:lstStyle/>
          <a:p>
            <a:pPr marL="457200" lvl="2" fontAlgn="auto">
              <a:lnSpc>
                <a:spcPct val="150000"/>
              </a:lnSpc>
              <a:spcBef>
                <a:spcPts val="0"/>
              </a:spcBef>
              <a:buClr>
                <a:schemeClr val="accent4">
                  <a:lumMod val="50000"/>
                </a:schemeClr>
              </a:buClr>
              <a:buSzPct val="70000"/>
            </a:pPr>
            <a:r>
              <a:rPr lang="zh-CN" altLang="en-US" sz="1800" dirty="0">
                <a:latin typeface="Gill Sans" panose="020B0502020104020203" charset="0"/>
                <a:ea typeface="等线" panose="02010600030101010101" charset="-122"/>
              </a:rPr>
              <a:t>回答</a:t>
            </a:r>
            <a:r>
              <a:rPr lang="zh-CN" altLang="en-US" sz="1800" b="1" dirty="0">
                <a:latin typeface="Gill Sans" panose="020B0502020104020203" charset="0"/>
                <a:ea typeface="等线" panose="02010600030101010101" charset="-122"/>
              </a:rPr>
              <a:t>核心机制是否有效</a:t>
            </a:r>
            <a:endParaRPr lang="en-US" altLang="zh-CN" sz="1800" dirty="0">
              <a:latin typeface="Gill Sans" panose="020B0502020104020203" charset="0"/>
              <a:ea typeface="等线" panose="02010600030101010101" charset="-122"/>
            </a:endParaRPr>
          </a:p>
        </p:txBody>
      </p:sp>
      <p:sp>
        <p:nvSpPr>
          <p:cNvPr id="7" name="Content Placeholder 2">
            <a:extLst>
              <a:ext uri="{FF2B5EF4-FFF2-40B4-BE49-F238E27FC236}">
                <a16:creationId xmlns:a16="http://schemas.microsoft.com/office/drawing/2014/main" id="{35719593-9D70-5539-01B1-38197978438F}"/>
              </a:ext>
            </a:extLst>
          </p:cNvPr>
          <p:cNvSpPr txBox="1"/>
          <p:nvPr/>
        </p:nvSpPr>
        <p:spPr>
          <a:xfrm>
            <a:off x="295250" y="1478014"/>
            <a:ext cx="8791600" cy="4805141"/>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400" b="1" dirty="0">
                <a:uFillTx/>
                <a:latin typeface="Gill Sans" panose="020B0502020104020203" charset="0"/>
                <a:ea typeface="等线" panose="02010600030101010101" charset="-122"/>
                <a:cs typeface="等线" panose="02010600030101010101" charset="-122"/>
                <a:sym typeface="+mn-ea"/>
              </a:rPr>
              <a:t>实验设置</a:t>
            </a:r>
            <a:endParaRPr lang="en-US" altLang="zh-CN" sz="2400" b="1" dirty="0">
              <a:uFillTx/>
              <a:latin typeface="Gill Sans" panose="020B0502020104020203" charset="0"/>
              <a:ea typeface="等线" panose="02010600030101010101" charset="-122"/>
              <a:cs typeface="等线" panose="02010600030101010101" charset="-122"/>
              <a:sym typeface="+mn-ea"/>
            </a:endParaRPr>
          </a:p>
          <a:p>
            <a:pPr marL="800100" lvl="2" indent="-342900">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构建了代表性的工作流进行实验</a:t>
            </a:r>
            <a:endParaRPr lang="en-US" altLang="zh-CN" sz="2000" dirty="0">
              <a:latin typeface="Gill Sans" panose="020B0502020104020203" charset="0"/>
              <a:ea typeface="等线" panose="02010600030101010101" charset="-122"/>
            </a:endParaRPr>
          </a:p>
          <a:p>
            <a:pPr marL="800100" lvl="2" indent="-342900">
              <a:lnSpc>
                <a:spcPct val="150000"/>
              </a:lnSpc>
              <a:spcBef>
                <a:spcPts val="0"/>
              </a:spcBef>
              <a:buClr>
                <a:schemeClr val="accent4">
                  <a:lumMod val="50000"/>
                </a:schemeClr>
              </a:buClr>
              <a:buSzPct val="70000"/>
              <a:buFont typeface="Wingdings" panose="05000000000000000000" pitchFamily="2" charset="2"/>
              <a:buChar char="q"/>
            </a:pPr>
            <a:endParaRPr lang="en-US" altLang="zh-CN" sz="2000" dirty="0">
              <a:latin typeface="Gill Sans" panose="020B0502020104020203" charset="0"/>
              <a:ea typeface="等线" panose="02010600030101010101" charset="-122"/>
            </a:endParaRPr>
          </a:p>
          <a:p>
            <a:pPr marL="800100" lvl="2" indent="-342900">
              <a:lnSpc>
                <a:spcPct val="150000"/>
              </a:lnSpc>
              <a:spcBef>
                <a:spcPts val="0"/>
              </a:spcBef>
              <a:buClr>
                <a:schemeClr val="accent4">
                  <a:lumMod val="50000"/>
                </a:schemeClr>
              </a:buClr>
              <a:buSzPct val="70000"/>
              <a:buFont typeface="Wingdings" panose="05000000000000000000" pitchFamily="2" charset="2"/>
              <a:buChar char="q"/>
            </a:pPr>
            <a:endParaRPr lang="en-US" altLang="zh-CN" sz="2000" dirty="0">
              <a:latin typeface="Gill Sans" panose="020B0502020104020203" charset="0"/>
              <a:ea typeface="等线" panose="02010600030101010101" charset="-122"/>
            </a:endParaRPr>
          </a:p>
          <a:p>
            <a:pPr marL="342900" lvl="1" indent="-342900">
              <a:lnSpc>
                <a:spcPct val="150000"/>
              </a:lnSpc>
              <a:spcBef>
                <a:spcPts val="0"/>
              </a:spcBef>
              <a:buClr>
                <a:schemeClr val="accent4">
                  <a:lumMod val="50000"/>
                </a:schemeClr>
              </a:buClr>
              <a:buSzPct val="70000"/>
              <a:buFont typeface="Wingdings" panose="05000000000000000000" pitchFamily="2" charset="2"/>
              <a:buChar char="q"/>
            </a:pPr>
            <a:r>
              <a:rPr lang="zh-CN" altLang="en-US" sz="2400" b="1" dirty="0">
                <a:latin typeface="Gill Sans" panose="020B0502020104020203" charset="0"/>
                <a:ea typeface="等线" panose="02010600030101010101" charset="-122"/>
                <a:sym typeface="+mn-ea"/>
              </a:rPr>
              <a:t>结论</a:t>
            </a:r>
            <a:endParaRPr lang="en-US" altLang="zh-CN" sz="2400" b="1" dirty="0">
              <a:latin typeface="Gill Sans" panose="020B0502020104020203" charset="0"/>
              <a:ea typeface="等线" panose="02010600030101010101" charset="-122"/>
              <a:sym typeface="+mn-ea"/>
            </a:endParaRPr>
          </a:p>
          <a:p>
            <a:pPr marL="800100" lvl="2" indent="-342900">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两种机制在输入相关分支和动态负载场景下显著降低误预测率和浪费时间，符合预期；联合机制在复合场景下也表现出很好的综合效果</a:t>
            </a:r>
            <a:endParaRPr lang="en-US" altLang="zh-CN" sz="2000" dirty="0">
              <a:latin typeface="Gill Sans" panose="020B0502020104020203" charset="0"/>
              <a:ea typeface="等线" panose="02010600030101010101" charset="-122"/>
            </a:endParaRPr>
          </a:p>
          <a:p>
            <a:pPr marL="800100" lvl="2" indent="-342900">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输入分布越均衡，输入感知策略优化效果越好；分布突变强度越强，分布漂移适应优化效果越好</a:t>
            </a:r>
            <a:endParaRPr lang="en-US" altLang="zh-CN" sz="2000" dirty="0">
              <a:latin typeface="Gill Sans" panose="020B0502020104020203" charset="0"/>
              <a:ea typeface="等线" panose="02010600030101010101" charset="-122"/>
            </a:endParaRPr>
          </a:p>
          <a:p>
            <a:pPr marL="800100" lvl="2" indent="-342900">
              <a:lnSpc>
                <a:spcPct val="150000"/>
              </a:lnSpc>
              <a:spcBef>
                <a:spcPts val="0"/>
              </a:spcBef>
              <a:buClr>
                <a:schemeClr val="accent4">
                  <a:lumMod val="50000"/>
                </a:schemeClr>
              </a:buClr>
              <a:buSzPct val="70000"/>
              <a:buFont typeface="Wingdings" panose="05000000000000000000" pitchFamily="2" charset="2"/>
              <a:buChar char="q"/>
            </a:pPr>
            <a:endParaRPr lang="en-US" altLang="zh-CN" sz="2000" dirty="0">
              <a:latin typeface="Gill Sans" panose="020B0502020104020203" charset="0"/>
              <a:ea typeface="等线" panose="02010600030101010101" charset="-122"/>
            </a:endParaRPr>
          </a:p>
        </p:txBody>
      </p:sp>
      <p:pic>
        <p:nvPicPr>
          <p:cNvPr id="11" name="图片 10">
            <a:extLst>
              <a:ext uri="{FF2B5EF4-FFF2-40B4-BE49-F238E27FC236}">
                <a16:creationId xmlns:a16="http://schemas.microsoft.com/office/drawing/2014/main" id="{864F63D6-1909-D98A-8026-3A227A91623B}"/>
              </a:ext>
            </a:extLst>
          </p:cNvPr>
          <p:cNvPicPr>
            <a:picLocks noChangeAspect="1"/>
          </p:cNvPicPr>
          <p:nvPr/>
        </p:nvPicPr>
        <p:blipFill>
          <a:blip r:embed="rId4"/>
          <a:stretch>
            <a:fillRect/>
          </a:stretch>
        </p:blipFill>
        <p:spPr>
          <a:xfrm>
            <a:off x="5138713" y="927812"/>
            <a:ext cx="6758037" cy="2581294"/>
          </a:xfrm>
          <a:prstGeom prst="rect">
            <a:avLst/>
          </a:prstGeom>
        </p:spPr>
      </p:pic>
      <p:sp>
        <p:nvSpPr>
          <p:cNvPr id="12" name="文本框 11">
            <a:extLst>
              <a:ext uri="{FF2B5EF4-FFF2-40B4-BE49-F238E27FC236}">
                <a16:creationId xmlns:a16="http://schemas.microsoft.com/office/drawing/2014/main" id="{6D72531F-7BFF-0351-D836-75BFAD4AE058}"/>
              </a:ext>
            </a:extLst>
          </p:cNvPr>
          <p:cNvSpPr txBox="1"/>
          <p:nvPr/>
        </p:nvSpPr>
        <p:spPr>
          <a:xfrm>
            <a:off x="5762286" y="3509106"/>
            <a:ext cx="7756770" cy="369332"/>
          </a:xfrm>
          <a:prstGeom prst="rect">
            <a:avLst/>
          </a:prstGeom>
          <a:noFill/>
        </p:spPr>
        <p:txBody>
          <a:bodyPr wrap="square">
            <a:spAutoFit/>
          </a:bodyPr>
          <a:lstStyle/>
          <a:p>
            <a:r>
              <a:rPr lang="zh-CN" altLang="en-US" dirty="0">
                <a:latin typeface="Gill Sans" panose="020B0502020104020203" charset="0"/>
                <a:ea typeface="等线" panose="02010600030101010101" charset="-122"/>
              </a:rPr>
              <a:t>长记忆统计与分布漂移适应策略在分布漂移场景下的对比</a:t>
            </a:r>
            <a:endParaRPr lang="zh-CN" altLang="en-US" dirty="0"/>
          </a:p>
        </p:txBody>
      </p:sp>
    </p:spTree>
    <p:extLst>
      <p:ext uri="{BB962C8B-B14F-4D97-AF65-F5344CB8AC3E}">
        <p14:creationId xmlns:p14="http://schemas.microsoft.com/office/powerpoint/2010/main" val="20652980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DAC6C09-FC7D-F26A-521B-6CE99A5606BC}"/>
              </a:ext>
            </a:extLst>
          </p:cNvPr>
          <p:cNvSpPr>
            <a:spLocks noGrp="1"/>
          </p:cNvSpPr>
          <p:nvPr>
            <p:ph type="sldNum" sz="quarter" idx="12"/>
          </p:nvPr>
        </p:nvSpPr>
        <p:spPr/>
        <p:txBody>
          <a:bodyPr/>
          <a:lstStyle/>
          <a:p>
            <a:fld id="{C6CB85E4-9B6E-41B6-BE28-34B8FDE32807}" type="slidenum">
              <a:rPr lang="zh-CN" altLang="en-US" smtClean="0"/>
              <a:t>19</a:t>
            </a:fld>
            <a:endParaRPr lang="zh-CN" altLang="en-US" dirty="0"/>
          </a:p>
        </p:txBody>
      </p:sp>
      <p:sp>
        <p:nvSpPr>
          <p:cNvPr id="3" name="文本占位符 2">
            <a:extLst>
              <a:ext uri="{FF2B5EF4-FFF2-40B4-BE49-F238E27FC236}">
                <a16:creationId xmlns:a16="http://schemas.microsoft.com/office/drawing/2014/main" id="{F2615569-72BE-B0B6-A9A8-AD954E70241A}"/>
              </a:ext>
            </a:extLst>
          </p:cNvPr>
          <p:cNvSpPr>
            <a:spLocks noGrp="1"/>
          </p:cNvSpPr>
          <p:nvPr>
            <p:ph type="body" sz="quarter" idx="14"/>
          </p:nvPr>
        </p:nvSpPr>
        <p:spPr/>
        <p:txBody>
          <a:bodyPr/>
          <a:lstStyle/>
          <a:p>
            <a:r>
              <a:rPr lang="zh-CN" altLang="en-US" dirty="0"/>
              <a:t>实验验证</a:t>
            </a:r>
            <a:r>
              <a:rPr lang="en-US" altLang="zh-CN" dirty="0"/>
              <a:t>-</a:t>
            </a:r>
            <a:r>
              <a:rPr lang="zh-CN" altLang="en-US" dirty="0"/>
              <a:t>功能实验</a:t>
            </a:r>
          </a:p>
        </p:txBody>
      </p:sp>
      <p:sp>
        <p:nvSpPr>
          <p:cNvPr id="6" name="文本框 5">
            <a:extLst>
              <a:ext uri="{FF2B5EF4-FFF2-40B4-BE49-F238E27FC236}">
                <a16:creationId xmlns:a16="http://schemas.microsoft.com/office/drawing/2014/main" id="{EC382946-7B1C-45CF-E997-4E4EF6951574}"/>
              </a:ext>
            </a:extLst>
          </p:cNvPr>
          <p:cNvSpPr txBox="1"/>
          <p:nvPr/>
        </p:nvSpPr>
        <p:spPr>
          <a:xfrm>
            <a:off x="419885" y="868061"/>
            <a:ext cx="5283562" cy="465448"/>
          </a:xfrm>
          <a:prstGeom prst="rect">
            <a:avLst/>
          </a:prstGeom>
          <a:noFill/>
        </p:spPr>
        <p:txBody>
          <a:bodyPr wrap="square">
            <a:spAutoFit/>
          </a:bodyPr>
          <a:lstStyle/>
          <a:p>
            <a:pPr marL="457200" lvl="2" fontAlgn="auto">
              <a:lnSpc>
                <a:spcPct val="150000"/>
              </a:lnSpc>
              <a:spcBef>
                <a:spcPts val="0"/>
              </a:spcBef>
              <a:buClr>
                <a:schemeClr val="accent4">
                  <a:lumMod val="50000"/>
                </a:schemeClr>
              </a:buClr>
              <a:buSzPct val="70000"/>
            </a:pPr>
            <a:r>
              <a:rPr lang="zh-CN" altLang="en-US" sz="1800" dirty="0">
                <a:latin typeface="Gill Sans" panose="020B0502020104020203" charset="0"/>
                <a:ea typeface="等线" panose="02010600030101010101" charset="-122"/>
              </a:rPr>
              <a:t>回答</a:t>
            </a:r>
            <a:r>
              <a:rPr lang="zh-CN" altLang="en-US" sz="1800" b="1" dirty="0">
                <a:latin typeface="Gill Sans" panose="020B0502020104020203" charset="0"/>
                <a:ea typeface="等线" panose="02010600030101010101" charset="-122"/>
              </a:rPr>
              <a:t>系统功能是否完备</a:t>
            </a:r>
            <a:endParaRPr lang="en-US" altLang="zh-CN" sz="1800" dirty="0">
              <a:latin typeface="Gill Sans" panose="020B0502020104020203" charset="0"/>
              <a:ea typeface="等线" panose="02010600030101010101" charset="-122"/>
            </a:endParaRPr>
          </a:p>
        </p:txBody>
      </p:sp>
      <p:pic>
        <p:nvPicPr>
          <p:cNvPr id="8" name="图片 7">
            <a:extLst>
              <a:ext uri="{FF2B5EF4-FFF2-40B4-BE49-F238E27FC236}">
                <a16:creationId xmlns:a16="http://schemas.microsoft.com/office/drawing/2014/main" id="{8CCB538A-0E64-1CB1-BA54-4DC2E564877A}"/>
              </a:ext>
            </a:extLst>
          </p:cNvPr>
          <p:cNvPicPr>
            <a:picLocks noChangeAspect="1"/>
          </p:cNvPicPr>
          <p:nvPr/>
        </p:nvPicPr>
        <p:blipFill>
          <a:blip r:embed="rId3"/>
          <a:stretch>
            <a:fillRect/>
          </a:stretch>
        </p:blipFill>
        <p:spPr>
          <a:xfrm>
            <a:off x="6417713" y="1784523"/>
            <a:ext cx="4915869" cy="3597298"/>
          </a:xfrm>
          <a:prstGeom prst="rect">
            <a:avLst/>
          </a:prstGeom>
        </p:spPr>
      </p:pic>
      <p:sp>
        <p:nvSpPr>
          <p:cNvPr id="9" name="文本框 8">
            <a:extLst>
              <a:ext uri="{FF2B5EF4-FFF2-40B4-BE49-F238E27FC236}">
                <a16:creationId xmlns:a16="http://schemas.microsoft.com/office/drawing/2014/main" id="{CF4D03CD-73B9-C1E1-0F68-5ADB1F728A45}"/>
              </a:ext>
            </a:extLst>
          </p:cNvPr>
          <p:cNvSpPr txBox="1"/>
          <p:nvPr/>
        </p:nvSpPr>
        <p:spPr>
          <a:xfrm>
            <a:off x="7635032" y="5309331"/>
            <a:ext cx="2689575" cy="369332"/>
          </a:xfrm>
          <a:prstGeom prst="rect">
            <a:avLst/>
          </a:prstGeom>
          <a:noFill/>
        </p:spPr>
        <p:txBody>
          <a:bodyPr wrap="square">
            <a:spAutoFit/>
          </a:bodyPr>
          <a:lstStyle/>
          <a:p>
            <a:r>
              <a:rPr lang="zh-CN" altLang="en-US" dirty="0">
                <a:latin typeface="Gill Sans" panose="020B0502020104020203" charset="0"/>
                <a:ea typeface="等线" panose="02010600030101010101" charset="-122"/>
              </a:rPr>
              <a:t>功能验证测试工作流</a:t>
            </a:r>
            <a:endParaRPr lang="zh-CN" altLang="en-US" dirty="0"/>
          </a:p>
        </p:txBody>
      </p:sp>
      <p:sp>
        <p:nvSpPr>
          <p:cNvPr id="4" name="Content Placeholder 2">
            <a:extLst>
              <a:ext uri="{FF2B5EF4-FFF2-40B4-BE49-F238E27FC236}">
                <a16:creationId xmlns:a16="http://schemas.microsoft.com/office/drawing/2014/main" id="{65FB3C22-D551-9FB1-7326-796961BF3722}"/>
              </a:ext>
            </a:extLst>
          </p:cNvPr>
          <p:cNvSpPr txBox="1"/>
          <p:nvPr/>
        </p:nvSpPr>
        <p:spPr>
          <a:xfrm>
            <a:off x="121156" y="1971899"/>
            <a:ext cx="6189268" cy="4805141"/>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800100" lvl="2"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自动化差分验证：比较投机执行与非投机执行两种模式下的最终返回结果、</a:t>
            </a:r>
            <a:r>
              <a:rPr lang="en-US" altLang="zh-CN" sz="2000" dirty="0">
                <a:latin typeface="Gill Sans" panose="020B0502020104020203" charset="0"/>
                <a:ea typeface="等线" panose="02010600030101010101" charset="-122"/>
              </a:rPr>
              <a:t>DB </a:t>
            </a:r>
            <a:r>
              <a:rPr lang="zh-CN" altLang="en-US" sz="2000" dirty="0">
                <a:latin typeface="Gill Sans" panose="020B0502020104020203" charset="0"/>
                <a:ea typeface="等线" panose="02010600030101010101" charset="-122"/>
              </a:rPr>
              <a:t>状态和对外可见消息记录</a:t>
            </a:r>
            <a:endParaRPr lang="en-US" altLang="zh-CN" sz="2000" dirty="0">
              <a:latin typeface="Gill Sans" panose="020B0502020104020203" charset="0"/>
              <a:ea typeface="等线" panose="02010600030101010101" charset="-122"/>
            </a:endParaRPr>
          </a:p>
          <a:p>
            <a:pPr marL="800100" lvl="2"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在本地执行后端和 </a:t>
            </a:r>
            <a:r>
              <a:rPr lang="en-US" altLang="zh-CN" sz="2000" dirty="0">
                <a:latin typeface="Gill Sans" panose="020B0502020104020203" charset="0"/>
                <a:ea typeface="等线" panose="02010600030101010101" charset="-122"/>
              </a:rPr>
              <a:t>OpenWhisk </a:t>
            </a:r>
            <a:r>
              <a:rPr lang="zh-CN" altLang="en-US" sz="2000" dirty="0">
                <a:latin typeface="Gill Sans" panose="020B0502020104020203" charset="0"/>
                <a:ea typeface="等线" panose="02010600030101010101" charset="-122"/>
              </a:rPr>
              <a:t>执行后端，所有测试工作流均通过语义一致性与机制有效性验证</a:t>
            </a:r>
            <a:endParaRPr lang="en-US" altLang="zh-CN" sz="2000" dirty="0">
              <a:latin typeface="Gill Sans" panose="020B0502020104020203" charset="0"/>
              <a:ea typeface="等线" panose="02010600030101010101" charset="-122"/>
            </a:endParaRPr>
          </a:p>
        </p:txBody>
      </p:sp>
    </p:spTree>
    <p:extLst>
      <p:ext uri="{BB962C8B-B14F-4D97-AF65-F5344CB8AC3E}">
        <p14:creationId xmlns:p14="http://schemas.microsoft.com/office/powerpoint/2010/main" val="11938336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DAC6C09-FC7D-F26A-521B-6CE99A5606BC}"/>
              </a:ext>
            </a:extLst>
          </p:cNvPr>
          <p:cNvSpPr>
            <a:spLocks noGrp="1"/>
          </p:cNvSpPr>
          <p:nvPr>
            <p:ph type="sldNum" sz="quarter" idx="12"/>
          </p:nvPr>
        </p:nvSpPr>
        <p:spPr/>
        <p:txBody>
          <a:bodyPr/>
          <a:lstStyle/>
          <a:p>
            <a:fld id="{C6CB85E4-9B6E-41B6-BE28-34B8FDE32807}" type="slidenum">
              <a:rPr lang="zh-CN" altLang="en-US" smtClean="0"/>
              <a:t>20</a:t>
            </a:fld>
            <a:endParaRPr lang="zh-CN" altLang="en-US" dirty="0"/>
          </a:p>
        </p:txBody>
      </p:sp>
      <p:sp>
        <p:nvSpPr>
          <p:cNvPr id="3" name="文本占位符 2">
            <a:extLst>
              <a:ext uri="{FF2B5EF4-FFF2-40B4-BE49-F238E27FC236}">
                <a16:creationId xmlns:a16="http://schemas.microsoft.com/office/drawing/2014/main" id="{F2615569-72BE-B0B6-A9A8-AD954E70241A}"/>
              </a:ext>
            </a:extLst>
          </p:cNvPr>
          <p:cNvSpPr>
            <a:spLocks noGrp="1"/>
          </p:cNvSpPr>
          <p:nvPr>
            <p:ph type="body" sz="quarter" idx="14"/>
          </p:nvPr>
        </p:nvSpPr>
        <p:spPr/>
        <p:txBody>
          <a:bodyPr/>
          <a:lstStyle/>
          <a:p>
            <a:r>
              <a:rPr lang="zh-CN" altLang="en-US" dirty="0"/>
              <a:t>实验验证</a:t>
            </a:r>
            <a:r>
              <a:rPr lang="en-US" altLang="zh-CN" dirty="0"/>
              <a:t>-</a:t>
            </a:r>
            <a:r>
              <a:rPr lang="zh-CN" altLang="en-US" dirty="0"/>
              <a:t>性能实验</a:t>
            </a:r>
          </a:p>
        </p:txBody>
      </p:sp>
      <p:sp>
        <p:nvSpPr>
          <p:cNvPr id="6" name="文本框 5">
            <a:extLst>
              <a:ext uri="{FF2B5EF4-FFF2-40B4-BE49-F238E27FC236}">
                <a16:creationId xmlns:a16="http://schemas.microsoft.com/office/drawing/2014/main" id="{EC382946-7B1C-45CF-E997-4E4EF6951574}"/>
              </a:ext>
            </a:extLst>
          </p:cNvPr>
          <p:cNvSpPr txBox="1"/>
          <p:nvPr/>
        </p:nvSpPr>
        <p:spPr>
          <a:xfrm>
            <a:off x="419885" y="868061"/>
            <a:ext cx="5283562" cy="465448"/>
          </a:xfrm>
          <a:prstGeom prst="rect">
            <a:avLst/>
          </a:prstGeom>
          <a:noFill/>
        </p:spPr>
        <p:txBody>
          <a:bodyPr wrap="square">
            <a:spAutoFit/>
          </a:bodyPr>
          <a:lstStyle/>
          <a:p>
            <a:pPr marL="457200" lvl="2" fontAlgn="auto">
              <a:lnSpc>
                <a:spcPct val="150000"/>
              </a:lnSpc>
              <a:spcBef>
                <a:spcPts val="0"/>
              </a:spcBef>
              <a:buClr>
                <a:schemeClr val="accent4">
                  <a:lumMod val="50000"/>
                </a:schemeClr>
              </a:buClr>
              <a:buSzPct val="70000"/>
            </a:pPr>
            <a:r>
              <a:rPr lang="zh-CN" altLang="en-US" sz="1800" dirty="0">
                <a:latin typeface="Gill Sans" panose="020B0502020104020203" charset="0"/>
                <a:ea typeface="等线" panose="02010600030101010101" charset="-122"/>
              </a:rPr>
              <a:t>回答</a:t>
            </a:r>
            <a:r>
              <a:rPr lang="zh-CN" altLang="en-US" sz="1800" b="1" dirty="0">
                <a:latin typeface="Gill Sans" panose="020B0502020104020203" charset="0"/>
                <a:ea typeface="等线" panose="02010600030101010101" charset="-122"/>
              </a:rPr>
              <a:t>实际性能是否优越</a:t>
            </a:r>
            <a:endParaRPr lang="en-US" altLang="zh-CN" sz="1800" dirty="0">
              <a:latin typeface="Gill Sans" panose="020B0502020104020203" charset="0"/>
              <a:ea typeface="等线" panose="02010600030101010101" charset="-122"/>
            </a:endParaRPr>
          </a:p>
        </p:txBody>
      </p:sp>
      <p:sp>
        <p:nvSpPr>
          <p:cNvPr id="10" name="Content Placeholder 2">
            <a:extLst>
              <a:ext uri="{FF2B5EF4-FFF2-40B4-BE49-F238E27FC236}">
                <a16:creationId xmlns:a16="http://schemas.microsoft.com/office/drawing/2014/main" id="{F6E5649A-BD5D-95DE-AEBA-EB5D9F182685}"/>
              </a:ext>
            </a:extLst>
          </p:cNvPr>
          <p:cNvSpPr txBox="1"/>
          <p:nvPr/>
        </p:nvSpPr>
        <p:spPr>
          <a:xfrm>
            <a:off x="95179" y="1333509"/>
            <a:ext cx="6189268" cy="4805141"/>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800100" lvl="2" indent="-342900" fontAlgn="auto">
              <a:lnSpc>
                <a:spcPct val="150000"/>
              </a:lnSpc>
              <a:spcBef>
                <a:spcPts val="0"/>
              </a:spcBef>
              <a:buClr>
                <a:schemeClr val="accent4">
                  <a:lumMod val="50000"/>
                </a:schemeClr>
              </a:buClr>
              <a:buSzPct val="70000"/>
              <a:buFont typeface="Wingdings" panose="05000000000000000000" pitchFamily="2" charset="2"/>
              <a:buChar char="q"/>
            </a:pPr>
            <a:endParaRPr lang="en-US" altLang="zh-CN" sz="2000" dirty="0">
              <a:latin typeface="Gill Sans" panose="020B0502020104020203" charset="0"/>
              <a:ea typeface="等线" panose="02010600030101010101" charset="-122"/>
            </a:endParaRPr>
          </a:p>
        </p:txBody>
      </p:sp>
      <p:sp>
        <p:nvSpPr>
          <p:cNvPr id="11" name="Content Placeholder 2">
            <a:extLst>
              <a:ext uri="{FF2B5EF4-FFF2-40B4-BE49-F238E27FC236}">
                <a16:creationId xmlns:a16="http://schemas.microsoft.com/office/drawing/2014/main" id="{8E3C78C4-5262-E5EC-66AE-C6E5E115C3E4}"/>
              </a:ext>
            </a:extLst>
          </p:cNvPr>
          <p:cNvSpPr txBox="1"/>
          <p:nvPr/>
        </p:nvSpPr>
        <p:spPr>
          <a:xfrm>
            <a:off x="499606" y="1333509"/>
            <a:ext cx="5596394" cy="5321868"/>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400" b="1" dirty="0">
                <a:uFillTx/>
                <a:latin typeface="Gill Sans" panose="020B0502020104020203" charset="0"/>
                <a:ea typeface="等线" panose="02010600030101010101" charset="-122"/>
                <a:cs typeface="等线" panose="02010600030101010101" charset="-122"/>
                <a:sym typeface="+mn-ea"/>
              </a:rPr>
              <a:t>实验设计</a:t>
            </a:r>
            <a:endParaRPr lang="en-US" altLang="zh-CN" sz="2400" b="1" dirty="0">
              <a:uFillTx/>
              <a:latin typeface="Gill Sans" panose="020B0502020104020203" charset="0"/>
              <a:ea typeface="等线" panose="02010600030101010101" charset="-122"/>
              <a:cs typeface="等线" panose="02010600030101010101" charset="-122"/>
              <a:sym typeface="+mn-ea"/>
            </a:endParaRPr>
          </a:p>
          <a:p>
            <a:pPr marL="800100" lvl="2" indent="-342900">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三类工作流：请求路由与风控流、事件日志分析与告警流、内容感知媒体处理流</a:t>
            </a:r>
            <a:endParaRPr lang="en-US" altLang="zh-CN" sz="2000" dirty="0">
              <a:latin typeface="Gill Sans" panose="020B0502020104020203" charset="0"/>
              <a:ea typeface="等线" panose="02010600030101010101" charset="-122"/>
            </a:endParaRPr>
          </a:p>
          <a:p>
            <a:pPr marL="800100" lvl="2"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分布控制：</a:t>
            </a:r>
            <a:r>
              <a:rPr lang="en-US" altLang="zh-CN" sz="2000" dirty="0">
                <a:latin typeface="Gill Sans" panose="020B0502020104020203" charset="0"/>
                <a:ea typeface="等线" panose="02010600030101010101" charset="-122"/>
              </a:rPr>
              <a:t>stable</a:t>
            </a:r>
            <a:r>
              <a:rPr lang="zh-CN" altLang="en-US" sz="2000" dirty="0">
                <a:latin typeface="Gill Sans" panose="020B0502020104020203" charset="0"/>
                <a:ea typeface="等线" panose="02010600030101010101" charset="-122"/>
              </a:rPr>
              <a:t>、</a:t>
            </a:r>
            <a:r>
              <a:rPr lang="en-US" altLang="zh-CN" sz="2000" dirty="0">
                <a:latin typeface="Gill Sans" panose="020B0502020104020203" charset="0"/>
                <a:ea typeface="等线" panose="02010600030101010101" charset="-122"/>
              </a:rPr>
              <a:t>drift </a:t>
            </a:r>
            <a:r>
              <a:rPr lang="zh-CN" altLang="en-US" sz="2000" dirty="0">
                <a:latin typeface="Gill Sans" panose="020B0502020104020203" charset="0"/>
                <a:ea typeface="等线" panose="02010600030101010101" charset="-122"/>
              </a:rPr>
              <a:t>两种场景</a:t>
            </a:r>
            <a:endParaRPr lang="en-US" altLang="zh-CN" sz="2000" dirty="0">
              <a:latin typeface="Gill Sans" panose="020B0502020104020203" charset="0"/>
              <a:ea typeface="等线" panose="02010600030101010101" charset="-122"/>
            </a:endParaRPr>
          </a:p>
          <a:p>
            <a:pPr marL="800100" lvl="2"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并发控制：高、中、低</a:t>
            </a:r>
            <a:endParaRPr lang="en-US" altLang="zh-CN" sz="2000" dirty="0">
              <a:latin typeface="Gill Sans" panose="020B0502020104020203" charset="0"/>
              <a:ea typeface="等线" panose="02010600030101010101" charset="-122"/>
            </a:endParaRPr>
          </a:p>
          <a:p>
            <a:pPr marL="342900" lvl="1" indent="-342900" fontAlgn="auto">
              <a:lnSpc>
                <a:spcPct val="150000"/>
              </a:lnSpc>
              <a:spcBef>
                <a:spcPts val="0"/>
              </a:spcBef>
              <a:buClr>
                <a:schemeClr val="accent4">
                  <a:lumMod val="50000"/>
                </a:schemeClr>
              </a:buClr>
              <a:buSzPct val="70000"/>
              <a:buFont typeface="Wingdings" panose="05000000000000000000" pitchFamily="2" charset="2"/>
              <a:buChar char="q"/>
            </a:pPr>
            <a:endParaRPr lang="en-US" altLang="zh-CN" sz="2000" dirty="0">
              <a:latin typeface="Gill Sans" panose="020B0502020104020203" charset="0"/>
              <a:ea typeface="等线" panose="02010600030101010101" charset="-122"/>
            </a:endParaRPr>
          </a:p>
        </p:txBody>
      </p:sp>
      <p:pic>
        <p:nvPicPr>
          <p:cNvPr id="13" name="图片 12">
            <a:extLst>
              <a:ext uri="{FF2B5EF4-FFF2-40B4-BE49-F238E27FC236}">
                <a16:creationId xmlns:a16="http://schemas.microsoft.com/office/drawing/2014/main" id="{70E7A78F-EC83-23CC-B0F1-A3759CBE74E9}"/>
              </a:ext>
            </a:extLst>
          </p:cNvPr>
          <p:cNvPicPr>
            <a:picLocks noChangeAspect="1"/>
          </p:cNvPicPr>
          <p:nvPr/>
        </p:nvPicPr>
        <p:blipFill>
          <a:blip r:embed="rId3"/>
          <a:stretch>
            <a:fillRect/>
          </a:stretch>
        </p:blipFill>
        <p:spPr>
          <a:xfrm>
            <a:off x="1765341" y="3779435"/>
            <a:ext cx="8567800" cy="2500331"/>
          </a:xfrm>
          <a:prstGeom prst="rect">
            <a:avLst/>
          </a:prstGeom>
        </p:spPr>
      </p:pic>
      <p:sp>
        <p:nvSpPr>
          <p:cNvPr id="15" name="文本框 14">
            <a:extLst>
              <a:ext uri="{FF2B5EF4-FFF2-40B4-BE49-F238E27FC236}">
                <a16:creationId xmlns:a16="http://schemas.microsoft.com/office/drawing/2014/main" id="{37E8C96A-E0FA-23DC-019B-000240F9FB91}"/>
              </a:ext>
            </a:extLst>
          </p:cNvPr>
          <p:cNvSpPr txBox="1"/>
          <p:nvPr/>
        </p:nvSpPr>
        <p:spPr>
          <a:xfrm>
            <a:off x="5903706" y="1333509"/>
            <a:ext cx="6096866" cy="2445926"/>
          </a:xfrm>
          <a:prstGeom prst="rect">
            <a:avLst/>
          </a:prstGeom>
          <a:noFill/>
        </p:spPr>
        <p:txBody>
          <a:bodyPr wrap="square">
            <a:spAutoFit/>
          </a:bodyPr>
          <a:lstStyle/>
          <a:p>
            <a:pPr marL="342900" lvl="1"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400" b="1" dirty="0">
                <a:latin typeface="Gill Sans" panose="020B0502020104020203" charset="0"/>
                <a:ea typeface="等线" panose="02010600030101010101" charset="-122"/>
                <a:cs typeface="等线" panose="02010600030101010101" charset="-122"/>
                <a:sym typeface="+mn-ea"/>
              </a:rPr>
              <a:t>结论</a:t>
            </a:r>
            <a:endParaRPr lang="en-US" altLang="zh-CN" sz="2400" b="1" dirty="0">
              <a:uFillTx/>
              <a:latin typeface="Gill Sans" panose="020B0502020104020203" charset="0"/>
              <a:ea typeface="等线" panose="02010600030101010101" charset="-122"/>
              <a:cs typeface="等线" panose="02010600030101010101" charset="-122"/>
              <a:sym typeface="+mn-ea"/>
            </a:endParaRPr>
          </a:p>
          <a:p>
            <a:pPr marL="800100" lvl="2" indent="-342900">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平均加速比提高了 </a:t>
            </a:r>
            <a:r>
              <a:rPr lang="en-US" altLang="zh-CN" sz="2000" dirty="0">
                <a:latin typeface="Gill Sans" panose="020B0502020104020203" charset="0"/>
                <a:ea typeface="等线" panose="02010600030101010101" charset="-122"/>
              </a:rPr>
              <a:t>22.73%</a:t>
            </a:r>
            <a:r>
              <a:rPr lang="zh-CN" altLang="en-US" sz="2000" dirty="0">
                <a:latin typeface="Gill Sans" panose="020B0502020104020203" charset="0"/>
                <a:ea typeface="等线" panose="02010600030101010101" charset="-122"/>
              </a:rPr>
              <a:t>，</a:t>
            </a:r>
            <a:r>
              <a:rPr lang="en-US" altLang="zh-CN" sz="2000" dirty="0">
                <a:latin typeface="Gill Sans" panose="020B0502020104020203" charset="0"/>
                <a:ea typeface="等线" panose="02010600030101010101" charset="-122"/>
              </a:rPr>
              <a:t>P95 </a:t>
            </a:r>
            <a:r>
              <a:rPr lang="zh-CN" altLang="en-US" sz="2000" dirty="0">
                <a:latin typeface="Gill Sans" panose="020B0502020104020203" charset="0"/>
                <a:ea typeface="等线" panose="02010600030101010101" charset="-122"/>
              </a:rPr>
              <a:t>尾延迟下降了 </a:t>
            </a:r>
            <a:r>
              <a:rPr lang="en-US" altLang="zh-CN" sz="2000" dirty="0">
                <a:latin typeface="Gill Sans" panose="020B0502020104020203" charset="0"/>
                <a:ea typeface="等线" panose="02010600030101010101" charset="-122"/>
              </a:rPr>
              <a:t>10.3%</a:t>
            </a:r>
            <a:r>
              <a:rPr lang="zh-CN" altLang="en-US" sz="2000" dirty="0">
                <a:latin typeface="Gill Sans" panose="020B0502020104020203" charset="0"/>
                <a:ea typeface="等线" panose="02010600030101010101" charset="-122"/>
              </a:rPr>
              <a:t>，误预测率平均降低了 </a:t>
            </a:r>
            <a:r>
              <a:rPr lang="en-US" altLang="zh-CN" sz="2000" dirty="0">
                <a:latin typeface="Gill Sans" panose="020B0502020104020203" charset="0"/>
                <a:ea typeface="等线" panose="02010600030101010101" charset="-122"/>
              </a:rPr>
              <a:t>5.78 </a:t>
            </a:r>
            <a:r>
              <a:rPr lang="zh-CN" altLang="en-US" sz="2000" dirty="0">
                <a:latin typeface="Gill Sans" panose="020B0502020104020203" charset="0"/>
                <a:ea typeface="等线" panose="02010600030101010101" charset="-122"/>
              </a:rPr>
              <a:t>个百分点</a:t>
            </a:r>
            <a:endParaRPr lang="en-US" altLang="zh-CN" sz="2000" dirty="0">
              <a:latin typeface="Gill Sans" panose="020B0502020104020203" charset="0"/>
              <a:ea typeface="等线" panose="02010600030101010101" charset="-122"/>
            </a:endParaRPr>
          </a:p>
          <a:p>
            <a:pPr marL="800100" lvl="2" indent="-342900">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并发越高、漂移程度越高、输入相关性越强，优化效果越明显</a:t>
            </a:r>
            <a:endParaRPr lang="en-US" altLang="zh-CN" sz="2000" dirty="0">
              <a:latin typeface="Gill Sans" panose="020B0502020104020203" charset="0"/>
              <a:ea typeface="等线" panose="02010600030101010101" charset="-122"/>
            </a:endParaRPr>
          </a:p>
        </p:txBody>
      </p:sp>
    </p:spTree>
    <p:extLst>
      <p:ext uri="{BB962C8B-B14F-4D97-AF65-F5344CB8AC3E}">
        <p14:creationId xmlns:p14="http://schemas.microsoft.com/office/powerpoint/2010/main" val="41533523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62EB60D-BBA1-B806-EFD8-A7EFB9E4E1E4}"/>
              </a:ext>
            </a:extLst>
          </p:cNvPr>
          <p:cNvSpPr>
            <a:spLocks noGrp="1"/>
          </p:cNvSpPr>
          <p:nvPr>
            <p:ph type="sldNum" sz="quarter" idx="12"/>
          </p:nvPr>
        </p:nvSpPr>
        <p:spPr/>
        <p:txBody>
          <a:bodyPr/>
          <a:lstStyle/>
          <a:p>
            <a:fld id="{C6CB85E4-9B6E-41B6-BE28-34B8FDE32807}" type="slidenum">
              <a:rPr lang="zh-CN" altLang="en-US" smtClean="0"/>
              <a:t>21</a:t>
            </a:fld>
            <a:endParaRPr lang="zh-CN" altLang="en-US" dirty="0"/>
          </a:p>
        </p:txBody>
      </p:sp>
      <p:sp>
        <p:nvSpPr>
          <p:cNvPr id="3" name="文本占位符 2">
            <a:extLst>
              <a:ext uri="{FF2B5EF4-FFF2-40B4-BE49-F238E27FC236}">
                <a16:creationId xmlns:a16="http://schemas.microsoft.com/office/drawing/2014/main" id="{F2E8CD5C-0E29-F0B6-052B-FAC0454FA591}"/>
              </a:ext>
            </a:extLst>
          </p:cNvPr>
          <p:cNvSpPr>
            <a:spLocks noGrp="1"/>
          </p:cNvSpPr>
          <p:nvPr>
            <p:ph type="body" sz="quarter" idx="14"/>
          </p:nvPr>
        </p:nvSpPr>
        <p:spPr/>
        <p:txBody>
          <a:bodyPr/>
          <a:lstStyle/>
          <a:p>
            <a:r>
              <a:rPr lang="zh-CN" altLang="en-US" dirty="0"/>
              <a:t>实验验证</a:t>
            </a:r>
            <a:r>
              <a:rPr lang="en-US" altLang="zh-CN" dirty="0"/>
              <a:t>-</a:t>
            </a:r>
            <a:r>
              <a:rPr lang="zh-CN" altLang="en-US" dirty="0"/>
              <a:t>消融实验</a:t>
            </a:r>
          </a:p>
        </p:txBody>
      </p:sp>
      <p:sp>
        <p:nvSpPr>
          <p:cNvPr id="5" name="文本框 4">
            <a:extLst>
              <a:ext uri="{FF2B5EF4-FFF2-40B4-BE49-F238E27FC236}">
                <a16:creationId xmlns:a16="http://schemas.microsoft.com/office/drawing/2014/main" id="{BC3971B2-D83B-8012-20F0-8C97F22F240E}"/>
              </a:ext>
            </a:extLst>
          </p:cNvPr>
          <p:cNvSpPr txBox="1"/>
          <p:nvPr/>
        </p:nvSpPr>
        <p:spPr>
          <a:xfrm>
            <a:off x="419885" y="868061"/>
            <a:ext cx="5283562" cy="465448"/>
          </a:xfrm>
          <a:prstGeom prst="rect">
            <a:avLst/>
          </a:prstGeom>
          <a:noFill/>
        </p:spPr>
        <p:txBody>
          <a:bodyPr wrap="square">
            <a:spAutoFit/>
          </a:bodyPr>
          <a:lstStyle/>
          <a:p>
            <a:pPr marL="457200" lvl="2" fontAlgn="auto">
              <a:lnSpc>
                <a:spcPct val="150000"/>
              </a:lnSpc>
              <a:spcBef>
                <a:spcPts val="0"/>
              </a:spcBef>
              <a:buClr>
                <a:schemeClr val="accent4">
                  <a:lumMod val="50000"/>
                </a:schemeClr>
              </a:buClr>
              <a:buSzPct val="70000"/>
            </a:pPr>
            <a:r>
              <a:rPr lang="zh-CN" altLang="en-US" sz="1800" dirty="0">
                <a:latin typeface="Gill Sans" panose="020B0502020104020203" charset="0"/>
                <a:ea typeface="等线" panose="02010600030101010101" charset="-122"/>
              </a:rPr>
              <a:t>回答</a:t>
            </a:r>
            <a:r>
              <a:rPr lang="zh-CN" altLang="en-US" sz="1800" b="1" dirty="0">
                <a:latin typeface="Gill Sans" panose="020B0502020104020203" charset="0"/>
                <a:ea typeface="等线" panose="02010600030101010101" charset="-122"/>
              </a:rPr>
              <a:t>关键设计是否必要</a:t>
            </a:r>
            <a:endParaRPr lang="en-US" altLang="zh-CN" sz="1800" dirty="0">
              <a:latin typeface="Gill Sans" panose="020B0502020104020203" charset="0"/>
              <a:ea typeface="等线" panose="02010600030101010101" charset="-122"/>
            </a:endParaRPr>
          </a:p>
        </p:txBody>
      </p:sp>
      <p:pic>
        <p:nvPicPr>
          <p:cNvPr id="8" name="图片 7">
            <a:extLst>
              <a:ext uri="{FF2B5EF4-FFF2-40B4-BE49-F238E27FC236}">
                <a16:creationId xmlns:a16="http://schemas.microsoft.com/office/drawing/2014/main" id="{BCF5E1F5-B624-C41D-3873-147A61BCEA08}"/>
              </a:ext>
            </a:extLst>
          </p:cNvPr>
          <p:cNvPicPr>
            <a:picLocks noChangeAspect="1"/>
          </p:cNvPicPr>
          <p:nvPr/>
        </p:nvPicPr>
        <p:blipFill>
          <a:blip r:embed="rId3"/>
          <a:stretch>
            <a:fillRect/>
          </a:stretch>
        </p:blipFill>
        <p:spPr>
          <a:xfrm>
            <a:off x="4999517" y="1100785"/>
            <a:ext cx="6910438" cy="2471756"/>
          </a:xfrm>
          <a:prstGeom prst="rect">
            <a:avLst/>
          </a:prstGeom>
        </p:spPr>
      </p:pic>
      <p:pic>
        <p:nvPicPr>
          <p:cNvPr id="11" name="图片 10">
            <a:extLst>
              <a:ext uri="{FF2B5EF4-FFF2-40B4-BE49-F238E27FC236}">
                <a16:creationId xmlns:a16="http://schemas.microsoft.com/office/drawing/2014/main" id="{6A291287-BD39-5F67-E7FD-1D61521B9D38}"/>
              </a:ext>
            </a:extLst>
          </p:cNvPr>
          <p:cNvPicPr>
            <a:picLocks noChangeAspect="1"/>
          </p:cNvPicPr>
          <p:nvPr/>
        </p:nvPicPr>
        <p:blipFill>
          <a:blip r:embed="rId4"/>
          <a:stretch>
            <a:fillRect/>
          </a:stretch>
        </p:blipFill>
        <p:spPr>
          <a:xfrm>
            <a:off x="6480231" y="3541368"/>
            <a:ext cx="4281519" cy="152401"/>
          </a:xfrm>
          <a:prstGeom prst="rect">
            <a:avLst/>
          </a:prstGeom>
        </p:spPr>
      </p:pic>
      <p:sp>
        <p:nvSpPr>
          <p:cNvPr id="15" name="Content Placeholder 2">
            <a:extLst>
              <a:ext uri="{FF2B5EF4-FFF2-40B4-BE49-F238E27FC236}">
                <a16:creationId xmlns:a16="http://schemas.microsoft.com/office/drawing/2014/main" id="{E115FD17-5EED-992E-C749-47683375786D}"/>
              </a:ext>
            </a:extLst>
          </p:cNvPr>
          <p:cNvSpPr txBox="1"/>
          <p:nvPr/>
        </p:nvSpPr>
        <p:spPr>
          <a:xfrm>
            <a:off x="419885" y="1333509"/>
            <a:ext cx="4385910" cy="5321868"/>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400" b="1" dirty="0">
                <a:uFillTx/>
                <a:latin typeface="Gill Sans" panose="020B0502020104020203" charset="0"/>
                <a:ea typeface="等线" panose="02010600030101010101" charset="-122"/>
                <a:cs typeface="等线" panose="02010600030101010101" charset="-122"/>
                <a:sym typeface="+mn-ea"/>
              </a:rPr>
              <a:t>结论</a:t>
            </a:r>
            <a:endParaRPr lang="en-US" altLang="zh-CN" sz="2400" b="1" dirty="0">
              <a:uFillTx/>
              <a:latin typeface="Gill Sans" panose="020B0502020104020203" charset="0"/>
              <a:ea typeface="等线" panose="02010600030101010101" charset="-122"/>
              <a:cs typeface="等线" panose="02010600030101010101" charset="-122"/>
              <a:sym typeface="+mn-ea"/>
            </a:endParaRPr>
          </a:p>
          <a:p>
            <a:pPr marL="800100" lvl="2"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对于</a:t>
            </a:r>
            <a:r>
              <a:rPr lang="zh-CN" altLang="en-US" sz="2000" b="1" dirty="0">
                <a:latin typeface="Gill Sans" panose="020B0502020104020203" charset="0"/>
                <a:ea typeface="等线" panose="02010600030101010101" charset="-122"/>
              </a:rPr>
              <a:t>输入感知策略</a:t>
            </a:r>
            <a:r>
              <a:rPr lang="zh-CN" altLang="en-US" sz="2000" dirty="0">
                <a:latin typeface="Gill Sans" panose="020B0502020104020203" charset="0"/>
                <a:ea typeface="等线" panose="02010600030101010101" charset="-122"/>
              </a:rPr>
              <a:t>，在稀疏噪声场景下，自适应混合能明显降低误预测率</a:t>
            </a:r>
            <a:endParaRPr lang="en-US" altLang="zh-CN" sz="2000" dirty="0">
              <a:latin typeface="Gill Sans" panose="020B0502020104020203" charset="0"/>
              <a:ea typeface="等线" panose="02010600030101010101" charset="-122"/>
            </a:endParaRPr>
          </a:p>
          <a:p>
            <a:pPr marL="800100" lvl="2"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对于</a:t>
            </a:r>
            <a:r>
              <a:rPr lang="zh-CN" altLang="en-US" sz="2000" b="1" dirty="0">
                <a:latin typeface="Gill Sans" panose="020B0502020104020203" charset="0"/>
                <a:ea typeface="等线" panose="02010600030101010101" charset="-122"/>
              </a:rPr>
              <a:t>分布漂移适应</a:t>
            </a:r>
            <a:r>
              <a:rPr lang="zh-CN" altLang="en-US" sz="2000" dirty="0">
                <a:latin typeface="Gill Sans" panose="020B0502020104020203" charset="0"/>
                <a:ea typeface="等线" panose="02010600030101010101" charset="-122"/>
              </a:rPr>
              <a:t>，在强漂移和弱漂移的条件下，综合性能优于单独的指数衰减或滑动窗口统计</a:t>
            </a:r>
            <a:endParaRPr lang="en-US" altLang="zh-CN" sz="2000" dirty="0">
              <a:latin typeface="Gill Sans" panose="020B0502020104020203" charset="0"/>
              <a:ea typeface="等线" panose="02010600030101010101" charset="-122"/>
            </a:endParaRPr>
          </a:p>
          <a:p>
            <a:pPr marL="800100" lvl="2"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对于</a:t>
            </a:r>
            <a:r>
              <a:rPr lang="zh-CN" altLang="en-US" sz="2000" b="1" dirty="0">
                <a:latin typeface="Gill Sans" panose="020B0502020104020203" charset="0"/>
                <a:ea typeface="等线" panose="02010600030101010101" charset="-122"/>
              </a:rPr>
              <a:t>联合优化策略</a:t>
            </a:r>
            <a:r>
              <a:rPr lang="zh-CN" altLang="en-US" sz="2000" dirty="0">
                <a:latin typeface="Gill Sans" panose="020B0502020104020203" charset="0"/>
                <a:ea typeface="等线" panose="02010600030101010101" charset="-122"/>
              </a:rPr>
              <a:t>，在多场景下鲁棒性最好</a:t>
            </a:r>
            <a:endParaRPr lang="en-US" altLang="zh-CN" sz="2000" dirty="0">
              <a:latin typeface="Gill Sans" panose="020B0502020104020203" charset="0"/>
              <a:ea typeface="等线" panose="02010600030101010101" charset="-122"/>
            </a:endParaRPr>
          </a:p>
          <a:p>
            <a:pPr marL="800100" lvl="2" indent="-342900" fontAlgn="auto">
              <a:lnSpc>
                <a:spcPct val="150000"/>
              </a:lnSpc>
              <a:spcBef>
                <a:spcPts val="0"/>
              </a:spcBef>
              <a:buClr>
                <a:schemeClr val="accent4">
                  <a:lumMod val="50000"/>
                </a:schemeClr>
              </a:buClr>
              <a:buSzPct val="70000"/>
              <a:buFont typeface="Wingdings" panose="05000000000000000000" pitchFamily="2" charset="2"/>
              <a:buChar char="q"/>
            </a:pPr>
            <a:endParaRPr lang="en-US" altLang="zh-CN" sz="2000" dirty="0">
              <a:latin typeface="Gill Sans" panose="020B0502020104020203" charset="0"/>
              <a:ea typeface="等线" panose="02010600030101010101" charset="-122"/>
            </a:endParaRPr>
          </a:p>
        </p:txBody>
      </p:sp>
      <p:sp>
        <p:nvSpPr>
          <p:cNvPr id="16" name="Content Placeholder 2">
            <a:extLst>
              <a:ext uri="{FF2B5EF4-FFF2-40B4-BE49-F238E27FC236}">
                <a16:creationId xmlns:a16="http://schemas.microsoft.com/office/drawing/2014/main" id="{994B98AD-EA8D-BF79-EDB9-127AAFB9E7E9}"/>
              </a:ext>
            </a:extLst>
          </p:cNvPr>
          <p:cNvSpPr txBox="1"/>
          <p:nvPr/>
        </p:nvSpPr>
        <p:spPr>
          <a:xfrm>
            <a:off x="4746953" y="4809278"/>
            <a:ext cx="7399828" cy="568237"/>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57200" lvl="2" indent="0" fontAlgn="auto">
              <a:lnSpc>
                <a:spcPct val="150000"/>
              </a:lnSpc>
              <a:spcBef>
                <a:spcPts val="0"/>
              </a:spcBef>
              <a:buClr>
                <a:schemeClr val="accent4">
                  <a:lumMod val="50000"/>
                </a:schemeClr>
              </a:buClr>
              <a:buSzPct val="70000"/>
              <a:buNone/>
            </a:pPr>
            <a:r>
              <a:rPr lang="zh-CN" altLang="en-US" sz="2000" dirty="0">
                <a:latin typeface="Gill Sans" panose="020B0502020104020203" charset="0"/>
                <a:ea typeface="等线" panose="02010600030101010101" charset="-122"/>
              </a:rPr>
              <a:t>跨场景具有最稳健的表现，体现了系统设计的</a:t>
            </a:r>
            <a:r>
              <a:rPr lang="zh-CN" altLang="en-US" sz="2000" b="1" dirty="0">
                <a:latin typeface="Gill Sans" panose="020B0502020104020203" charset="0"/>
                <a:ea typeface="等线" panose="02010600030101010101" charset="-122"/>
              </a:rPr>
              <a:t>整体通用性</a:t>
            </a:r>
            <a:endParaRPr lang="en-US" altLang="zh-CN" sz="2000" b="1" dirty="0">
              <a:latin typeface="Gill Sans" panose="020B0502020104020203" charset="0"/>
              <a:ea typeface="等线" panose="02010600030101010101" charset="-122"/>
            </a:endParaRPr>
          </a:p>
        </p:txBody>
      </p:sp>
      <p:sp>
        <p:nvSpPr>
          <p:cNvPr id="19" name="文本框 18">
            <a:extLst>
              <a:ext uri="{FF2B5EF4-FFF2-40B4-BE49-F238E27FC236}">
                <a16:creationId xmlns:a16="http://schemas.microsoft.com/office/drawing/2014/main" id="{D0852C5C-4B8D-DEFD-C7ED-85DB969B17E5}"/>
              </a:ext>
            </a:extLst>
          </p:cNvPr>
          <p:cNvSpPr txBox="1"/>
          <p:nvPr/>
        </p:nvSpPr>
        <p:spPr>
          <a:xfrm>
            <a:off x="6189767" y="3677248"/>
            <a:ext cx="5075952" cy="369332"/>
          </a:xfrm>
          <a:prstGeom prst="rect">
            <a:avLst/>
          </a:prstGeom>
          <a:noFill/>
        </p:spPr>
        <p:txBody>
          <a:bodyPr wrap="square">
            <a:spAutoFit/>
          </a:bodyPr>
          <a:lstStyle/>
          <a:p>
            <a:r>
              <a:rPr lang="zh-CN" altLang="en-US" dirty="0">
                <a:latin typeface="Gill Sans" panose="020B0502020104020203" charset="0"/>
                <a:ea typeface="等线" panose="02010600030101010101" charset="-122"/>
              </a:rPr>
              <a:t>四种方法在无噪声、稀疏噪声场景下的误预测率</a:t>
            </a:r>
            <a:endParaRPr lang="zh-CN" altLang="en-US" dirty="0"/>
          </a:p>
        </p:txBody>
      </p:sp>
    </p:spTree>
    <p:extLst>
      <p:ext uri="{BB962C8B-B14F-4D97-AF65-F5344CB8AC3E}">
        <p14:creationId xmlns:p14="http://schemas.microsoft.com/office/powerpoint/2010/main" val="9385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3"/>
          </p:nvPr>
        </p:nvSpPr>
        <p:spPr/>
        <p:txBody>
          <a:bodyPr/>
          <a:lstStyle/>
          <a:p>
            <a:r>
              <a:rPr lang="zh-CN" altLang="en-US" dirty="0"/>
              <a:t>第四部分</a:t>
            </a:r>
          </a:p>
        </p:txBody>
      </p:sp>
      <p:sp>
        <p:nvSpPr>
          <p:cNvPr id="8" name="文本占位符 7"/>
          <p:cNvSpPr>
            <a:spLocks noGrp="1"/>
          </p:cNvSpPr>
          <p:nvPr>
            <p:ph type="body" sz="quarter" idx="15"/>
          </p:nvPr>
        </p:nvSpPr>
        <p:spPr>
          <a:xfrm>
            <a:off x="5197474" y="3429000"/>
            <a:ext cx="3469005" cy="512763"/>
          </a:xfrm>
        </p:spPr>
        <p:txBody>
          <a:bodyPr>
            <a:noAutofit/>
          </a:bodyPr>
          <a:lstStyle/>
          <a:p>
            <a:r>
              <a:rPr lang="zh-CN" altLang="en-US" dirty="0"/>
              <a:t>结论与展望</a:t>
            </a:r>
          </a:p>
        </p:txBody>
      </p:sp>
      <p:sp>
        <p:nvSpPr>
          <p:cNvPr id="9" name="文本占位符 8"/>
          <p:cNvSpPr>
            <a:spLocks noGrp="1"/>
          </p:cNvSpPr>
          <p:nvPr>
            <p:ph type="body" sz="quarter" idx="16"/>
          </p:nvPr>
        </p:nvSpPr>
        <p:spPr>
          <a:xfrm>
            <a:off x="5197475" y="2519680"/>
            <a:ext cx="2997200" cy="652145"/>
          </a:xfrm>
        </p:spPr>
        <p:txBody>
          <a:bodyPr>
            <a:noAutofit/>
          </a:bodyPr>
          <a:lstStyle/>
          <a:p>
            <a:r>
              <a:rPr lang="en-US" altLang="zh-CN" sz="3600" b="1" kern="0" dirty="0">
                <a:solidFill>
                  <a:srgbClr val="6A0160"/>
                </a:solidFill>
                <a:uFillTx/>
                <a:latin typeface="+mn-lt"/>
                <a:cs typeface="+mn-lt"/>
              </a:rPr>
              <a:t>Conclusion</a:t>
            </a:r>
          </a:p>
        </p:txBody>
      </p:sp>
      <p:sp>
        <p:nvSpPr>
          <p:cNvPr id="2" name="灯片编号占位符 1"/>
          <p:cNvSpPr>
            <a:spLocks noGrp="1"/>
          </p:cNvSpPr>
          <p:nvPr>
            <p:ph type="sldNum" sz="quarter" idx="12"/>
          </p:nvPr>
        </p:nvSpPr>
        <p:spPr/>
        <p:txBody>
          <a:bodyPr/>
          <a:lstStyle/>
          <a:p>
            <a:fld id="{C6CB85E4-9B6E-41B6-BE28-34B8FDE32807}" type="slidenum">
              <a:rPr lang="zh-CN" altLang="en-US" smtClean="0"/>
              <a:t>22</a:t>
            </a:fld>
            <a:endParaRPr lang="zh-CN" altLang="en-US" dirty="0"/>
          </a:p>
        </p:txBody>
      </p:sp>
    </p:spTree>
    <p:extLst>
      <p:ext uri="{BB962C8B-B14F-4D97-AF65-F5344CB8AC3E}">
        <p14:creationId xmlns:p14="http://schemas.microsoft.com/office/powerpoint/2010/main" val="948711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3A1C732-50BE-0C0B-E0BD-AF690CB610AF}"/>
              </a:ext>
            </a:extLst>
          </p:cNvPr>
          <p:cNvSpPr>
            <a:spLocks noGrp="1"/>
          </p:cNvSpPr>
          <p:nvPr>
            <p:ph type="sldNum" sz="quarter" idx="12"/>
          </p:nvPr>
        </p:nvSpPr>
        <p:spPr/>
        <p:txBody>
          <a:bodyPr/>
          <a:lstStyle/>
          <a:p>
            <a:fld id="{C6CB85E4-9B6E-41B6-BE28-34B8FDE32807}" type="slidenum">
              <a:rPr lang="zh-CN" altLang="en-US" smtClean="0"/>
              <a:t>23</a:t>
            </a:fld>
            <a:endParaRPr lang="zh-CN" altLang="en-US" dirty="0"/>
          </a:p>
        </p:txBody>
      </p:sp>
      <p:sp>
        <p:nvSpPr>
          <p:cNvPr id="3" name="文本占位符 2">
            <a:extLst>
              <a:ext uri="{FF2B5EF4-FFF2-40B4-BE49-F238E27FC236}">
                <a16:creationId xmlns:a16="http://schemas.microsoft.com/office/drawing/2014/main" id="{A750CDFF-79A5-AFC5-F869-1600462E5913}"/>
              </a:ext>
            </a:extLst>
          </p:cNvPr>
          <p:cNvSpPr>
            <a:spLocks noGrp="1"/>
          </p:cNvSpPr>
          <p:nvPr>
            <p:ph type="body" sz="quarter" idx="14"/>
          </p:nvPr>
        </p:nvSpPr>
        <p:spPr>
          <a:xfrm>
            <a:off x="1147779" y="270910"/>
            <a:ext cx="4234712" cy="436606"/>
          </a:xfrm>
        </p:spPr>
        <p:txBody>
          <a:bodyPr/>
          <a:lstStyle/>
          <a:p>
            <a:r>
              <a:rPr lang="zh-CN" altLang="en-US" dirty="0"/>
              <a:t>结论与展望</a:t>
            </a:r>
          </a:p>
        </p:txBody>
      </p:sp>
      <p:sp>
        <p:nvSpPr>
          <p:cNvPr id="5" name="Content Placeholder 2">
            <a:extLst>
              <a:ext uri="{FF2B5EF4-FFF2-40B4-BE49-F238E27FC236}">
                <a16:creationId xmlns:a16="http://schemas.microsoft.com/office/drawing/2014/main" id="{8B208292-44DC-2B74-824E-2B689CA716F0}"/>
              </a:ext>
            </a:extLst>
          </p:cNvPr>
          <p:cNvSpPr txBox="1"/>
          <p:nvPr/>
        </p:nvSpPr>
        <p:spPr>
          <a:xfrm>
            <a:off x="854220" y="1388258"/>
            <a:ext cx="5241780" cy="3941458"/>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342900" fontAlgn="auto">
              <a:lnSpc>
                <a:spcPct val="150000"/>
              </a:lnSpc>
              <a:spcBef>
                <a:spcPts val="0"/>
              </a:spcBef>
              <a:buClr>
                <a:schemeClr val="accent4">
                  <a:lumMod val="50000"/>
                </a:schemeClr>
              </a:buClr>
              <a:buSzPct val="70000"/>
              <a:buFont typeface="Wingdings" panose="05000000000000000000" pitchFamily="2" charset="2"/>
              <a:buChar char="q"/>
            </a:pPr>
            <a:endParaRPr lang="en-US" altLang="zh-CN" sz="2000" dirty="0">
              <a:latin typeface="Gill Sans" panose="020B0502020104020203" charset="0"/>
              <a:ea typeface="等线" panose="02010600030101010101" charset="-122"/>
            </a:endParaRPr>
          </a:p>
        </p:txBody>
      </p:sp>
      <p:sp>
        <p:nvSpPr>
          <p:cNvPr id="10" name="Content Placeholder 2">
            <a:extLst>
              <a:ext uri="{FF2B5EF4-FFF2-40B4-BE49-F238E27FC236}">
                <a16:creationId xmlns:a16="http://schemas.microsoft.com/office/drawing/2014/main" id="{0DF699B8-E81F-8EF3-E91E-2BE9ECF2AABC}"/>
              </a:ext>
            </a:extLst>
          </p:cNvPr>
          <p:cNvSpPr txBox="1"/>
          <p:nvPr/>
        </p:nvSpPr>
        <p:spPr>
          <a:xfrm>
            <a:off x="330791" y="1263150"/>
            <a:ext cx="8027827" cy="4805141"/>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400" b="1" dirty="0">
                <a:uFillTx/>
                <a:latin typeface="Gill Sans" panose="020B0502020104020203" charset="0"/>
                <a:ea typeface="等线" panose="02010600030101010101" charset="-122"/>
                <a:cs typeface="等线" panose="02010600030101010101" charset="-122"/>
                <a:sym typeface="+mn-ea"/>
              </a:rPr>
              <a:t>结论</a:t>
            </a:r>
            <a:endParaRPr lang="en-US" altLang="zh-CN" sz="2400" b="1" dirty="0">
              <a:latin typeface="Gill Sans" panose="020B0502020104020203" charset="0"/>
              <a:ea typeface="等线" panose="02010600030101010101" charset="-122"/>
              <a:cs typeface="等线" panose="02010600030101010101" charset="-122"/>
              <a:sym typeface="+mn-ea"/>
            </a:endParaRPr>
          </a:p>
          <a:p>
            <a:pPr marL="800100" lvl="2"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构建了 </a:t>
            </a:r>
            <a:r>
              <a:rPr lang="en-US" altLang="zh-CN" sz="2000" dirty="0">
                <a:latin typeface="Gill Sans" panose="020B0502020104020203" charset="0"/>
                <a:ea typeface="等线" panose="02010600030101010101" charset="-122"/>
              </a:rPr>
              <a:t>Serverless </a:t>
            </a:r>
            <a:r>
              <a:rPr lang="zh-CN" altLang="en-US" sz="2000" dirty="0">
                <a:latin typeface="Gill Sans" panose="020B0502020104020203" charset="0"/>
                <a:ea typeface="等线" panose="02010600030101010101" charset="-122"/>
              </a:rPr>
              <a:t>工作流投机执行统一框架</a:t>
            </a:r>
            <a:endParaRPr lang="en-US" altLang="zh-CN" sz="2000" dirty="0">
              <a:latin typeface="Gill Sans" panose="020B0502020104020203" charset="0"/>
              <a:ea typeface="等线" panose="02010600030101010101" charset="-122"/>
            </a:endParaRPr>
          </a:p>
          <a:p>
            <a:pPr marL="800100" lvl="2"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提出了输入感知 </a:t>
            </a:r>
            <a:r>
              <a:rPr lang="en-US" altLang="zh-CN" sz="2000" dirty="0">
                <a:latin typeface="Gill Sans" panose="020B0502020104020203" charset="0"/>
                <a:ea typeface="等线" panose="02010600030101010101" charset="-122"/>
              </a:rPr>
              <a:t>+ </a:t>
            </a:r>
            <a:r>
              <a:rPr lang="zh-CN" altLang="en-US" sz="2000" dirty="0">
                <a:latin typeface="Gill Sans" panose="020B0502020104020203" charset="0"/>
                <a:ea typeface="等线" panose="02010600030101010101" charset="-122"/>
              </a:rPr>
              <a:t>漂移适应的分支预测方法</a:t>
            </a:r>
            <a:endParaRPr lang="en-US" altLang="zh-CN" sz="2000" dirty="0">
              <a:latin typeface="Gill Sans" panose="020B0502020104020203" charset="0"/>
              <a:ea typeface="等线" panose="02010600030101010101" charset="-122"/>
            </a:endParaRPr>
          </a:p>
          <a:p>
            <a:pPr marL="800100" lvl="2"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显著改善特定场景的端到端时延与投机稳定性</a:t>
            </a:r>
            <a:endParaRPr lang="en-US" altLang="zh-CN" sz="2000" dirty="0">
              <a:latin typeface="Gill Sans" panose="020B0502020104020203" charset="0"/>
              <a:ea typeface="等线" panose="02010600030101010101" charset="-122"/>
            </a:endParaRPr>
          </a:p>
          <a:p>
            <a:pPr marL="342900" lvl="1"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400" b="1" dirty="0">
                <a:uFillTx/>
                <a:latin typeface="Gill Sans" panose="020B0502020104020203" charset="0"/>
                <a:ea typeface="等线" panose="02010600030101010101" charset="-122"/>
                <a:cs typeface="等线" panose="02010600030101010101" charset="-122"/>
                <a:sym typeface="+mn-ea"/>
              </a:rPr>
              <a:t>展望</a:t>
            </a:r>
            <a:endParaRPr lang="en-US" altLang="zh-CN" sz="2000" dirty="0">
              <a:latin typeface="Gill Sans" panose="020B0502020104020203" charset="0"/>
              <a:ea typeface="等线" panose="02010600030101010101" charset="-122"/>
            </a:endParaRPr>
          </a:p>
          <a:p>
            <a:pPr marL="800100" lvl="2"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参数自适应配置</a:t>
            </a:r>
            <a:endParaRPr lang="en-US" altLang="zh-CN" sz="2000" dirty="0">
              <a:latin typeface="Gill Sans" panose="020B0502020104020203" charset="0"/>
              <a:ea typeface="等线" panose="02010600030101010101" charset="-122"/>
            </a:endParaRPr>
          </a:p>
          <a:p>
            <a:pPr marL="800100" lvl="2"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扩展对复杂工作流和多平台支持</a:t>
            </a:r>
            <a:endParaRPr lang="en-US" altLang="zh-CN" sz="2000" dirty="0">
              <a:latin typeface="Gill Sans" panose="020B0502020104020203" charset="0"/>
              <a:ea typeface="等线" panose="02010600030101010101" charset="-122"/>
            </a:endParaRPr>
          </a:p>
          <a:p>
            <a:pPr marL="800100" lvl="2"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引入更多工作流和负载，进行大规模实验验证</a:t>
            </a:r>
            <a:endParaRPr lang="en-US" altLang="zh-CN" sz="2000" dirty="0">
              <a:latin typeface="Gill Sans" panose="020B0502020104020203" charset="0"/>
              <a:ea typeface="等线" panose="02010600030101010101" charset="-122"/>
            </a:endParaRPr>
          </a:p>
          <a:p>
            <a:pPr marL="800100" lvl="2" indent="-342900" fontAlgn="auto">
              <a:lnSpc>
                <a:spcPct val="150000"/>
              </a:lnSpc>
              <a:spcBef>
                <a:spcPts val="0"/>
              </a:spcBef>
              <a:buClr>
                <a:schemeClr val="accent4">
                  <a:lumMod val="50000"/>
                </a:schemeClr>
              </a:buClr>
              <a:buSzPct val="70000"/>
              <a:buFont typeface="Wingdings" panose="05000000000000000000" pitchFamily="2" charset="2"/>
              <a:buChar char="q"/>
            </a:pPr>
            <a:r>
              <a:rPr lang="zh-CN" altLang="en-US" sz="2000" dirty="0">
                <a:latin typeface="Gill Sans" panose="020B0502020104020203" charset="0"/>
                <a:ea typeface="等线" panose="02010600030101010101" charset="-122"/>
              </a:rPr>
              <a:t>开展面向性能与成本协同优化研究</a:t>
            </a:r>
            <a:endParaRPr lang="en-US" altLang="zh-CN" sz="2000" dirty="0">
              <a:latin typeface="Gill Sans" panose="020B0502020104020203" charset="0"/>
              <a:ea typeface="等线" panose="02010600030101010101" charset="-122"/>
            </a:endParaRPr>
          </a:p>
        </p:txBody>
      </p:sp>
    </p:spTree>
    <p:extLst>
      <p:ext uri="{BB962C8B-B14F-4D97-AF65-F5344CB8AC3E}">
        <p14:creationId xmlns:p14="http://schemas.microsoft.com/office/powerpoint/2010/main" val="13511589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0717B3F-9E7D-47F0-E837-08EAB8CC7EC1}"/>
              </a:ext>
            </a:extLst>
          </p:cNvPr>
          <p:cNvSpPr>
            <a:spLocks noGrp="1"/>
          </p:cNvSpPr>
          <p:nvPr>
            <p:ph type="sldNum" sz="quarter" idx="12"/>
          </p:nvPr>
        </p:nvSpPr>
        <p:spPr/>
        <p:txBody>
          <a:bodyPr/>
          <a:lstStyle/>
          <a:p>
            <a:fld id="{C6CB85E4-9B6E-41B6-BE28-34B8FDE32807}" type="slidenum">
              <a:rPr lang="zh-CN" altLang="en-US" smtClean="0"/>
              <a:t>24</a:t>
            </a:fld>
            <a:endParaRPr lang="zh-CN" altLang="en-US" dirty="0"/>
          </a:p>
        </p:txBody>
      </p:sp>
      <p:sp>
        <p:nvSpPr>
          <p:cNvPr id="9" name="文本占位符 8">
            <a:extLst>
              <a:ext uri="{FF2B5EF4-FFF2-40B4-BE49-F238E27FC236}">
                <a16:creationId xmlns:a16="http://schemas.microsoft.com/office/drawing/2014/main" id="{5235A475-CCDD-43FD-617F-F1FAEDD6CED1}"/>
              </a:ext>
            </a:extLst>
          </p:cNvPr>
          <p:cNvSpPr txBox="1">
            <a:spLocks/>
          </p:cNvSpPr>
          <p:nvPr/>
        </p:nvSpPr>
        <p:spPr>
          <a:xfrm>
            <a:off x="5364330" y="2856628"/>
            <a:ext cx="3042758" cy="652145"/>
          </a:xfrm>
          <a:prstGeom prst="rect">
            <a:avLst/>
          </a:prstGeom>
        </p:spPr>
        <p:txBody>
          <a:bodyPr vert="horz" lIns="91440" tIns="45720" rIns="91440" bIns="45720" rtlCol="0" anchor="ctr">
            <a:noAutofit/>
          </a:bodyPr>
          <a:lstStyle>
            <a:lvl1pPr marL="0" indent="0" algn="l" defTabSz="685800" rtl="0" eaLnBrk="1" fontAlgn="auto" latinLnBrk="0" hangingPunct="1">
              <a:lnSpc>
                <a:spcPct val="100000"/>
              </a:lnSpc>
              <a:spcBef>
                <a:spcPts val="750"/>
              </a:spcBef>
              <a:buFont typeface="Arial" panose="020B0604020202020204" pitchFamily="34" charset="0"/>
              <a:buNone/>
              <a:defRPr sz="3200" kern="1200">
                <a:solidFill>
                  <a:srgbClr val="6A0160"/>
                </a:solidFill>
                <a:latin typeface="Impact" panose="020B0806030902050204" pitchFamily="34" charset="0"/>
                <a:ea typeface="等线" panose="02010600030101010101" charset="-122"/>
                <a:cs typeface="+mn-cs"/>
              </a:defRPr>
            </a:lvl1pPr>
            <a:lvl2pPr marL="514350" indent="-171450" algn="l" defTabSz="685800" rtl="0" eaLnBrk="1" fontAlgn="auto" latinLnBrk="0" hangingPunct="1">
              <a:lnSpc>
                <a:spcPct val="150000"/>
              </a:lnSpc>
              <a:spcBef>
                <a:spcPts val="375"/>
              </a:spcBef>
              <a:buFont typeface="Arial" panose="020B0604020202020204" pitchFamily="34" charset="0"/>
              <a:buChar char="•"/>
              <a:defRPr sz="2400" kern="1200">
                <a:solidFill>
                  <a:schemeClr val="tx1"/>
                </a:solidFill>
                <a:latin typeface="等线" panose="02010600030101010101" charset="-122"/>
                <a:ea typeface="等线" panose="02010600030101010101" charset="-122"/>
                <a:cs typeface="+mn-cs"/>
              </a:defRPr>
            </a:lvl2pPr>
            <a:lvl3pPr marL="857250" indent="-171450" algn="l" defTabSz="685800" rtl="0" eaLnBrk="1" fontAlgn="auto" latinLnBrk="0" hangingPunct="1">
              <a:lnSpc>
                <a:spcPct val="150000"/>
              </a:lnSpc>
              <a:spcBef>
                <a:spcPts val="375"/>
              </a:spcBef>
              <a:buFont typeface="Arial" panose="020B0604020202020204" pitchFamily="34" charset="0"/>
              <a:buChar char="•"/>
              <a:defRPr sz="2400" kern="1200">
                <a:solidFill>
                  <a:schemeClr val="tx1"/>
                </a:solidFill>
                <a:latin typeface="等线" panose="02010600030101010101" charset="-122"/>
                <a:ea typeface="等线" panose="02010600030101010101" charset="-122"/>
                <a:cs typeface="+mn-cs"/>
              </a:defRPr>
            </a:lvl3pPr>
            <a:lvl4pPr marL="1200150" indent="-171450" algn="l" defTabSz="685800" rtl="0" eaLnBrk="1" fontAlgn="auto" latinLnBrk="0" hangingPunct="1">
              <a:lnSpc>
                <a:spcPct val="150000"/>
              </a:lnSpc>
              <a:spcBef>
                <a:spcPts val="375"/>
              </a:spcBef>
              <a:buFont typeface="Arial" panose="020B0604020202020204" pitchFamily="34" charset="0"/>
              <a:buChar char="•"/>
              <a:defRPr sz="2400" kern="1200">
                <a:solidFill>
                  <a:schemeClr val="tx1"/>
                </a:solidFill>
                <a:latin typeface="等线" panose="02010600030101010101" charset="-122"/>
                <a:ea typeface="等线" panose="02010600030101010101" charset="-122"/>
                <a:cs typeface="+mn-cs"/>
              </a:defRPr>
            </a:lvl4pPr>
            <a:lvl5pPr marL="1543050" indent="-171450" algn="l" defTabSz="685800" rtl="0" eaLnBrk="1" fontAlgn="auto" latinLnBrk="0" hangingPunct="1">
              <a:lnSpc>
                <a:spcPct val="150000"/>
              </a:lnSpc>
              <a:spcBef>
                <a:spcPts val="375"/>
              </a:spcBef>
              <a:buFont typeface="Arial" panose="020B0604020202020204" pitchFamily="34" charset="0"/>
              <a:buChar char="•"/>
              <a:defRPr sz="2400" kern="1200">
                <a:solidFill>
                  <a:schemeClr val="tx1"/>
                </a:solidFill>
                <a:latin typeface="等线" panose="02010600030101010101" charset="-122"/>
                <a:ea typeface="等线" panose="02010600030101010101"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sz="4800" b="1" kern="0" dirty="0">
                <a:latin typeface="+mn-lt"/>
                <a:cs typeface="+mn-lt"/>
              </a:rPr>
              <a:t>Thank you!</a:t>
            </a:r>
          </a:p>
        </p:txBody>
      </p:sp>
    </p:spTree>
    <p:extLst>
      <p:ext uri="{BB962C8B-B14F-4D97-AF65-F5344CB8AC3E}">
        <p14:creationId xmlns:p14="http://schemas.microsoft.com/office/powerpoint/2010/main" val="5481965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DRlOTE3MDEyMTIzMmRmMzkxYmJiYTZmODEyZjRkNTUifQ=="/>
</p:tagLst>
</file>

<file path=ppt/tags/tag2.xml><?xml version="1.0" encoding="utf-8"?>
<p:tagLst xmlns:a="http://schemas.openxmlformats.org/drawingml/2006/main" xmlns:r="http://schemas.openxmlformats.org/officeDocument/2006/relationships" xmlns:p="http://schemas.openxmlformats.org/presentationml/2006/main">
  <p:tag name="TIMING" val="|0.1|0.1|0.2"/>
</p:tagLst>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主题1">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2">
      <a:majorFont>
        <a:latin typeface="Calibri"/>
        <a:ea typeface="微软雅黑"/>
        <a:cs typeface=""/>
      </a:majorFont>
      <a:minorFont>
        <a:latin typeface="Calibri"/>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707</TotalTime>
  <Words>1925</Words>
  <Application>Microsoft Office PowerPoint</Application>
  <PresentationFormat>宽屏</PresentationFormat>
  <Paragraphs>218</Paragraphs>
  <Slides>24</Slides>
  <Notes>24</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24</vt:i4>
      </vt:variant>
    </vt:vector>
  </HeadingPairs>
  <TitlesOfParts>
    <vt:vector size="35" baseType="lpstr">
      <vt:lpstr>Gill Sans</vt:lpstr>
      <vt:lpstr>等线</vt:lpstr>
      <vt:lpstr>微软雅黑</vt:lpstr>
      <vt:lpstr>Arial</vt:lpstr>
      <vt:lpstr>Calibri</vt:lpstr>
      <vt:lpstr>Calibri Light</vt:lpstr>
      <vt:lpstr>Impact</vt:lpstr>
      <vt:lpstr>Wingdings</vt:lpstr>
      <vt:lpstr>Wingdings 2</vt:lpstr>
      <vt:lpstr>HDOfficeLightV0</vt:lpstr>
      <vt:lpstr>主题1</vt:lpstr>
      <vt:lpstr>面向 Serverless 工作流 的投机执行优化研究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Faasit: 服务器无感知计算运营模式与标准化的技术研究与系统设计</dc:title>
  <dc:creator/>
  <cp:lastModifiedBy>cd w</cp:lastModifiedBy>
  <cp:revision>28</cp:revision>
  <dcterms:created xsi:type="dcterms:W3CDTF">2023-10-16T10:12:51Z</dcterms:created>
  <dcterms:modified xsi:type="dcterms:W3CDTF">2026-04-20T17:06:28Z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2D9ED81DE72A483CA5FF2865A1925582_43</vt:lpwstr>
  </property>
  <property fmtid="{D5CDD505-2E9C-101B-9397-08002B2CF9AE}" pid="3" name="KSOProductBuildVer">
    <vt:lpwstr>2052-0.0.0.0</vt:lpwstr>
  </property>
  <property fmtid="{D5CDD505-2E9C-101B-9397-08002B2CF9AE}" pid="4" name="e04242b7-d752-4081-b5b7-9aad2bb55b7e">
    <vt:lpwstr>{"isAdvancePlay":0,"isLoopPlay":0,"time":3000,"userId":""}</vt:lpwstr>
  </property>
</Properties>
</file>