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C"/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6" autoAdjust="0"/>
    <p:restoredTop sz="70995" autoAdjust="0"/>
  </p:normalViewPr>
  <p:slideViewPr>
    <p:cSldViewPr snapToGrid="0" showGuides="1">
      <p:cViewPr varScale="1">
        <p:scale>
          <a:sx n="80" d="100"/>
          <a:sy n="80" d="100"/>
        </p:scale>
        <p:origin x="1017" y="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πₜ(vᵢ)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v₁</c:v>
                </c:pt>
                <c:pt idx="1">
                  <c:v>v₂</c:v>
                </c:pt>
                <c:pt idx="2">
                  <c:v>v₃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0.46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42-44F3-978F-88D8758FB2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 marL="0" algn="ctr" defTabSz="914400" rtl="0" eaLnBrk="1" latinLnBrk="0" hangingPunct="1">
        <a:defRPr lang="en-US" altLang="zh-CN" sz="1800" kern="1200">
          <a:solidFill>
            <a:schemeClr val="dk1"/>
          </a:solidFill>
          <a:latin typeface="+mn-lt"/>
          <a:ea typeface="+mn-ea"/>
          <a:cs typeface="+mn-cs"/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5AD5B5-6CBB-4946-BB99-91A038EC83D0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D1D49-895D-4F5A-ABF8-27223E77D4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345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我现在绘制了这张图，现在请把它添加到原文的相关位置，要求：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告诉我添加到哪个位置；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将图片和原文中的一两句描述文字告诉我，使用</a:t>
            </a:r>
            <a:r>
              <a:rPr lang="en-US" altLang="zh-CN" dirty="0"/>
              <a:t>latex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1624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2026/3/11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E0D148-94B8-55FF-18EC-A0F39AE49578}"/>
              </a:ext>
            </a:extLst>
          </p:cNvPr>
          <p:cNvSpPr txBox="1"/>
          <p:nvPr/>
        </p:nvSpPr>
        <p:spPr>
          <a:xfrm>
            <a:off x="671805" y="251574"/>
            <a:ext cx="1603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Sequence</a:t>
            </a: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D40169-8D9E-BF8D-A85A-BF0B9DDCF193}"/>
              </a:ext>
            </a:extLst>
          </p:cNvPr>
          <p:cNvSpPr txBox="1"/>
          <p:nvPr/>
        </p:nvSpPr>
        <p:spPr>
          <a:xfrm>
            <a:off x="3429085" y="251574"/>
            <a:ext cx="248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Branch / Choice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E1D509-043B-526E-30B3-FEEA4E0B6FA0}"/>
              </a:ext>
            </a:extLst>
          </p:cNvPr>
          <p:cNvSpPr txBox="1"/>
          <p:nvPr/>
        </p:nvSpPr>
        <p:spPr>
          <a:xfrm>
            <a:off x="7012143" y="251574"/>
            <a:ext cx="1246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Parallel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B43834-24D1-8DDD-9F55-39E041927058}"/>
              </a:ext>
            </a:extLst>
          </p:cNvPr>
          <p:cNvSpPr txBox="1"/>
          <p:nvPr/>
        </p:nvSpPr>
        <p:spPr>
          <a:xfrm>
            <a:off x="9572009" y="251574"/>
            <a:ext cx="2519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Loop/Iteration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673A92-1F71-77E5-D533-2A10DCA50700}"/>
              </a:ext>
            </a:extLst>
          </p:cNvPr>
          <p:cNvCxnSpPr>
            <a:cxnSpLocks/>
          </p:cNvCxnSpPr>
          <p:nvPr/>
        </p:nvCxnSpPr>
        <p:spPr>
          <a:xfrm>
            <a:off x="0" y="989045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28B67EA-7BB8-766E-B18F-ED45B119207C}"/>
              </a:ext>
            </a:extLst>
          </p:cNvPr>
          <p:cNvCxnSpPr>
            <a:cxnSpLocks/>
          </p:cNvCxnSpPr>
          <p:nvPr/>
        </p:nvCxnSpPr>
        <p:spPr>
          <a:xfrm>
            <a:off x="612710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75D9A44-9941-FE1D-0F76-1BB8CDCDCB80}"/>
              </a:ext>
            </a:extLst>
          </p:cNvPr>
          <p:cNvCxnSpPr>
            <a:cxnSpLocks/>
          </p:cNvCxnSpPr>
          <p:nvPr/>
        </p:nvCxnSpPr>
        <p:spPr>
          <a:xfrm>
            <a:off x="308843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BE664A0-71D6-EB64-BBF4-680EB9297A82}"/>
              </a:ext>
            </a:extLst>
          </p:cNvPr>
          <p:cNvCxnSpPr>
            <a:cxnSpLocks/>
          </p:cNvCxnSpPr>
          <p:nvPr/>
        </p:nvCxnSpPr>
        <p:spPr>
          <a:xfrm>
            <a:off x="9144000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500E40D-0BE0-95E9-A3C1-B396319D9758}"/>
              </a:ext>
            </a:extLst>
          </p:cNvPr>
          <p:cNvSpPr/>
          <p:nvPr/>
        </p:nvSpPr>
        <p:spPr>
          <a:xfrm>
            <a:off x="884263" y="1750094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31AE622-1300-2289-6107-CD3367373D4E}"/>
              </a:ext>
            </a:extLst>
          </p:cNvPr>
          <p:cNvSpPr/>
          <p:nvPr/>
        </p:nvSpPr>
        <p:spPr>
          <a:xfrm>
            <a:off x="884263" y="298484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C3B650-55FD-054E-B91A-D8211B25D7F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478652" y="2353359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B4B17E0-F23F-D83C-19B9-FA2993EF1833}"/>
              </a:ext>
            </a:extLst>
          </p:cNvPr>
          <p:cNvSpPr/>
          <p:nvPr/>
        </p:nvSpPr>
        <p:spPr>
          <a:xfrm>
            <a:off x="920030" y="421867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797092A-3D67-139F-48B9-A900ADAA453D}"/>
              </a:ext>
            </a:extLst>
          </p:cNvPr>
          <p:cNvSpPr/>
          <p:nvPr/>
        </p:nvSpPr>
        <p:spPr>
          <a:xfrm>
            <a:off x="909144" y="545169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F7D638E-BC67-6EE0-3DB5-1BEF3B8280D7}"/>
              </a:ext>
            </a:extLst>
          </p:cNvPr>
          <p:cNvCxnSpPr>
            <a:cxnSpLocks/>
          </p:cNvCxnSpPr>
          <p:nvPr/>
        </p:nvCxnSpPr>
        <p:spPr>
          <a:xfrm>
            <a:off x="1503533" y="358811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DBFD16A-53E0-BFCB-D97D-AA2E5F34980B}"/>
              </a:ext>
            </a:extLst>
          </p:cNvPr>
          <p:cNvCxnSpPr>
            <a:cxnSpLocks/>
          </p:cNvCxnSpPr>
          <p:nvPr/>
        </p:nvCxnSpPr>
        <p:spPr>
          <a:xfrm>
            <a:off x="1514418" y="48202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9FB5A05-2134-AEE9-3C19-B444330CF146}"/>
              </a:ext>
            </a:extLst>
          </p:cNvPr>
          <p:cNvSpPr/>
          <p:nvPr/>
        </p:nvSpPr>
        <p:spPr>
          <a:xfrm>
            <a:off x="3998602" y="175009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29CA8C-438D-39F5-7859-2861C14E5525}"/>
              </a:ext>
            </a:extLst>
          </p:cNvPr>
          <p:cNvSpPr/>
          <p:nvPr/>
        </p:nvSpPr>
        <p:spPr>
          <a:xfrm>
            <a:off x="3998602" y="29848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05BC7-F290-4F01-6C80-5BA4EC4F3DCE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>
            <a:off x="4592991" y="235336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2BECAE0-C8A6-E732-344A-CF6418BF2B19}"/>
              </a:ext>
            </a:extLst>
          </p:cNvPr>
          <p:cNvSpPr/>
          <p:nvPr/>
        </p:nvSpPr>
        <p:spPr>
          <a:xfrm>
            <a:off x="3195435" y="5467432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C930259-9AB3-73B1-AF82-E433486F1D68}"/>
              </a:ext>
            </a:extLst>
          </p:cNvPr>
          <p:cNvSpPr/>
          <p:nvPr/>
        </p:nvSpPr>
        <p:spPr>
          <a:xfrm>
            <a:off x="4831323" y="5467431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E7C5C1C-2EC8-CA4F-F4C7-C5CB3E0C0E00}"/>
              </a:ext>
            </a:extLst>
          </p:cNvPr>
          <p:cNvCxnSpPr>
            <a:cxnSpLocks/>
          </p:cNvCxnSpPr>
          <p:nvPr/>
        </p:nvCxnSpPr>
        <p:spPr>
          <a:xfrm>
            <a:off x="4617872" y="35881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F3907EF-5C64-0D84-DBDF-F65F9452E92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5212260" y="4527772"/>
            <a:ext cx="213452" cy="93965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9173624-1168-1502-9115-863F57E88EE8}"/>
              </a:ext>
            </a:extLst>
          </p:cNvPr>
          <p:cNvCxnSpPr>
            <a:cxnSpLocks/>
            <a:endCxn id="33" idx="0"/>
          </p:cNvCxnSpPr>
          <p:nvPr/>
        </p:nvCxnSpPr>
        <p:spPr>
          <a:xfrm rot="10800000" flipV="1">
            <a:off x="3789825" y="4527772"/>
            <a:ext cx="233659" cy="93966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B7A55E15-81B9-B5BD-7803-22C95E8C663F}"/>
              </a:ext>
            </a:extLst>
          </p:cNvPr>
          <p:cNvSpPr/>
          <p:nvPr/>
        </p:nvSpPr>
        <p:spPr>
          <a:xfrm>
            <a:off x="7035362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EC40E1D-0E48-85A4-B876-5E43A86D0B32}"/>
              </a:ext>
            </a:extLst>
          </p:cNvPr>
          <p:cNvSpPr/>
          <p:nvPr/>
        </p:nvSpPr>
        <p:spPr>
          <a:xfrm>
            <a:off x="6314393" y="299155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2BC7F1E-F714-CD44-944A-90615DB5C327}"/>
              </a:ext>
            </a:extLst>
          </p:cNvPr>
          <p:cNvSpPr/>
          <p:nvPr/>
        </p:nvSpPr>
        <p:spPr>
          <a:xfrm>
            <a:off x="7746446" y="298484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3C839F4-486A-CC35-9612-EB9F6423BEAB}"/>
              </a:ext>
            </a:extLst>
          </p:cNvPr>
          <p:cNvSpPr/>
          <p:nvPr/>
        </p:nvSpPr>
        <p:spPr>
          <a:xfrm>
            <a:off x="7041945" y="42169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B03E9484-4DB5-90C2-AE68-8EE4E27E62F3}"/>
              </a:ext>
            </a:extLst>
          </p:cNvPr>
          <p:cNvCxnSpPr>
            <a:stCxn id="42" idx="3"/>
            <a:endCxn id="44" idx="0"/>
          </p:cNvCxnSpPr>
          <p:nvPr/>
        </p:nvCxnSpPr>
        <p:spPr>
          <a:xfrm>
            <a:off x="8224139" y="1999853"/>
            <a:ext cx="116696" cy="9849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8B39E9D3-0208-717E-C0FB-89D7717E3098}"/>
              </a:ext>
            </a:extLst>
          </p:cNvPr>
          <p:cNvCxnSpPr>
            <a:stCxn id="42" idx="1"/>
            <a:endCxn id="43" idx="0"/>
          </p:cNvCxnSpPr>
          <p:nvPr/>
        </p:nvCxnSpPr>
        <p:spPr>
          <a:xfrm rot="10800000" flipV="1">
            <a:off x="6908782" y="1999853"/>
            <a:ext cx="126580" cy="991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D8EAC4A-463D-6B30-A0BF-294F3083C056}"/>
              </a:ext>
            </a:extLst>
          </p:cNvPr>
          <p:cNvSpPr/>
          <p:nvPr/>
        </p:nvSpPr>
        <p:spPr>
          <a:xfrm>
            <a:off x="7035361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AA58A1BA-B96F-A864-1A23-A7EF6DF1DA60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 rot="5400000">
            <a:off x="7674166" y="3550277"/>
            <a:ext cx="628838" cy="70450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4B282CF-92CB-9B9A-6EAF-B5306A1B73E9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rot="16200000" flipH="1">
            <a:off x="6961494" y="3542106"/>
            <a:ext cx="622128" cy="72755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10A8BCA5-47A4-43BF-5F12-C7422003269E}"/>
              </a:ext>
            </a:extLst>
          </p:cNvPr>
          <p:cNvCxnSpPr>
            <a:stCxn id="45" idx="2"/>
            <a:endCxn id="52" idx="0"/>
          </p:cNvCxnSpPr>
          <p:nvPr/>
        </p:nvCxnSpPr>
        <p:spPr>
          <a:xfrm flipH="1">
            <a:off x="7629750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菱形 58">
            <a:extLst>
              <a:ext uri="{FF2B5EF4-FFF2-40B4-BE49-F238E27FC236}">
                <a16:creationId xmlns:a16="http://schemas.microsoft.com/office/drawing/2014/main" id="{DDD27C46-21F8-0F44-D44B-70094C475E49}"/>
              </a:ext>
            </a:extLst>
          </p:cNvPr>
          <p:cNvSpPr/>
          <p:nvPr/>
        </p:nvSpPr>
        <p:spPr>
          <a:xfrm>
            <a:off x="4030485" y="4216945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0A525A4-E3C9-CDDF-F77B-101F0DF0335B}"/>
              </a:ext>
            </a:extLst>
          </p:cNvPr>
          <p:cNvSpPr txBox="1"/>
          <p:nvPr/>
        </p:nvSpPr>
        <p:spPr>
          <a:xfrm>
            <a:off x="1558990" y="4316414"/>
            <a:ext cx="6106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decision</a:t>
            </a:r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8E96D18-0E50-0549-48DF-57744664AA77}"/>
              </a:ext>
            </a:extLst>
          </p:cNvPr>
          <p:cNvSpPr/>
          <p:nvPr/>
        </p:nvSpPr>
        <p:spPr>
          <a:xfrm>
            <a:off x="10107566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E37ED528-F93B-142E-3D01-B8A9E3A82E2D}"/>
              </a:ext>
            </a:extLst>
          </p:cNvPr>
          <p:cNvSpPr/>
          <p:nvPr/>
        </p:nvSpPr>
        <p:spPr>
          <a:xfrm>
            <a:off x="10107565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284061C-1F00-4581-DD2E-0DF672004C85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701954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CA527B55-9B72-E9A6-424E-260796C5975E}"/>
              </a:ext>
            </a:extLst>
          </p:cNvPr>
          <p:cNvSpPr/>
          <p:nvPr/>
        </p:nvSpPr>
        <p:spPr>
          <a:xfrm>
            <a:off x="10107565" y="294803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75" name="菱形 74">
            <a:extLst>
              <a:ext uri="{FF2B5EF4-FFF2-40B4-BE49-F238E27FC236}">
                <a16:creationId xmlns:a16="http://schemas.microsoft.com/office/drawing/2014/main" id="{8DDD6B80-A9E8-4626-5CE9-62B07270CFE5}"/>
              </a:ext>
            </a:extLst>
          </p:cNvPr>
          <p:cNvSpPr/>
          <p:nvPr/>
        </p:nvSpPr>
        <p:spPr>
          <a:xfrm>
            <a:off x="10141541" y="4242210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E7AD0C4-6372-8C21-7B9C-C3A957A86E4A}"/>
              </a:ext>
            </a:extLst>
          </p:cNvPr>
          <p:cNvSpPr txBox="1"/>
          <p:nvPr/>
        </p:nvSpPr>
        <p:spPr>
          <a:xfrm>
            <a:off x="7672875" y="4265762"/>
            <a:ext cx="6106884" cy="54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/>
              <a:t>exit</a:t>
            </a:r>
          </a:p>
          <a:p>
            <a:pPr algn="ctr">
              <a:lnSpc>
                <a:spcPct val="80000"/>
              </a:lnSpc>
            </a:pPr>
            <a:r>
              <a:rPr lang="en-US" altLang="zh-CN" dirty="0"/>
              <a:t>loop?</a:t>
            </a:r>
            <a:endParaRPr lang="zh-CN" altLang="en-US" dirty="0"/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A39258CA-FC49-8D33-320C-5565E64D6D4B}"/>
              </a:ext>
            </a:extLst>
          </p:cNvPr>
          <p:cNvCxnSpPr>
            <a:cxnSpLocks/>
          </p:cNvCxnSpPr>
          <p:nvPr/>
        </p:nvCxnSpPr>
        <p:spPr>
          <a:xfrm flipH="1">
            <a:off x="10716904" y="354544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BF2834C-D73F-D9ED-CCD5-76BB0FFF8971}"/>
              </a:ext>
            </a:extLst>
          </p:cNvPr>
          <p:cNvCxnSpPr>
            <a:cxnSpLocks/>
            <a:stCxn id="62" idx="2"/>
            <a:endCxn id="72" idx="0"/>
          </p:cNvCxnSpPr>
          <p:nvPr/>
        </p:nvCxnSpPr>
        <p:spPr>
          <a:xfrm flipH="1">
            <a:off x="10701954" y="2301485"/>
            <a:ext cx="1" cy="6465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FF9EF056-6AED-979B-CBED-C96C16B370DD}"/>
              </a:ext>
            </a:extLst>
          </p:cNvPr>
          <p:cNvCxnSpPr>
            <a:endCxn id="72" idx="3"/>
          </p:cNvCxnSpPr>
          <p:nvPr/>
        </p:nvCxnSpPr>
        <p:spPr>
          <a:xfrm rot="5400000" flipH="1" flipV="1">
            <a:off x="10649252" y="3896753"/>
            <a:ext cx="1294180" cy="12700"/>
          </a:xfrm>
          <a:prstGeom prst="bentConnector4">
            <a:avLst>
              <a:gd name="adj1" fmla="val 857"/>
              <a:gd name="adj2" fmla="val 292857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5233C6BF-735E-A6E0-BF98-8D9E7108E061}"/>
              </a:ext>
            </a:extLst>
          </p:cNvPr>
          <p:cNvSpPr txBox="1"/>
          <p:nvPr/>
        </p:nvSpPr>
        <p:spPr>
          <a:xfrm>
            <a:off x="10994780" y="3717861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7C6CE10-7082-6C67-27D6-CAC4017D3A96}"/>
              </a:ext>
            </a:extLst>
          </p:cNvPr>
          <p:cNvSpPr txBox="1"/>
          <p:nvPr/>
        </p:nvSpPr>
        <p:spPr>
          <a:xfrm>
            <a:off x="10066141" y="4910848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412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B12FCA1-630B-E66C-92F1-7C468530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743"/>
            <a:ext cx="12192000" cy="59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3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CE19A88-6D4D-479B-184D-B8C7638C9EB8}"/>
              </a:ext>
            </a:extLst>
          </p:cNvPr>
          <p:cNvSpPr/>
          <p:nvPr/>
        </p:nvSpPr>
        <p:spPr>
          <a:xfrm>
            <a:off x="2265182" y="3465558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036C7D-9371-2C0B-B4D9-A05C90C003D9}"/>
              </a:ext>
            </a:extLst>
          </p:cNvPr>
          <p:cNvSpPr/>
          <p:nvPr/>
        </p:nvSpPr>
        <p:spPr>
          <a:xfrm>
            <a:off x="4907223" y="406270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A6A687C-8DBE-0F25-ECD4-597727E18114}"/>
              </a:ext>
            </a:extLst>
          </p:cNvPr>
          <p:cNvSpPr/>
          <p:nvPr/>
        </p:nvSpPr>
        <p:spPr>
          <a:xfrm>
            <a:off x="4907222" y="285617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F6A07C-121E-CCB2-EDDF-B7001B16D4F9}"/>
              </a:ext>
            </a:extLst>
          </p:cNvPr>
          <p:cNvSpPr/>
          <p:nvPr/>
        </p:nvSpPr>
        <p:spPr>
          <a:xfrm>
            <a:off x="7494214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D3EFD3B-9FEE-4DEB-7819-5DF99123AA8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3453959" y="3157810"/>
            <a:ext cx="1453263" cy="60938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68B98ED1-1F52-F565-6D16-00CA4631A66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53959" y="3767191"/>
            <a:ext cx="1453264" cy="59714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9B576D-8A77-A32A-801E-C9FEB8B06BF2}"/>
              </a:ext>
            </a:extLst>
          </p:cNvPr>
          <p:cNvSpPr/>
          <p:nvPr/>
        </p:nvSpPr>
        <p:spPr>
          <a:xfrm>
            <a:off x="9515310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85931A43-166F-F639-011D-B7CD0B62C19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95999" y="3157810"/>
            <a:ext cx="1398215" cy="59950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EDDE7AA3-946C-2CAC-CA21-CAF83729B40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6096000" y="3757318"/>
            <a:ext cx="1398214" cy="60702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0F15DC8-BA86-D30C-58BB-7FD1590D9EA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8682991" y="3757318"/>
            <a:ext cx="8323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3325FC-9767-39C8-983D-5172C0BA342C}"/>
              </a:ext>
            </a:extLst>
          </p:cNvPr>
          <p:cNvSpPr/>
          <p:nvPr/>
        </p:nvSpPr>
        <p:spPr>
          <a:xfrm>
            <a:off x="4998721" y="1391952"/>
            <a:ext cx="2377439" cy="775062"/>
          </a:xfrm>
          <a:prstGeom prst="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Orchestrator</a:t>
            </a:r>
            <a:endParaRPr lang="zh-CN" altLang="en-US" dirty="0">
              <a:solidFill>
                <a:schemeClr val="dk1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195100B-8471-A09B-EE5E-134613F3C5D5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2859571" y="2206906"/>
            <a:ext cx="2921149" cy="1258652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56A4481-C9FB-637B-A657-26EDC0EB8B98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501611" y="2167014"/>
            <a:ext cx="516012" cy="68916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C7A7301-F8D2-812A-4EE2-845FFD9CD773}"/>
              </a:ext>
            </a:extLst>
          </p:cNvPr>
          <p:cNvCxnSpPr>
            <a:cxnSpLocks/>
            <a:stCxn id="59" idx="2"/>
            <a:endCxn id="5" idx="0"/>
          </p:cNvCxnSpPr>
          <p:nvPr/>
        </p:nvCxnSpPr>
        <p:spPr>
          <a:xfrm flipH="1">
            <a:off x="5501612" y="2167014"/>
            <a:ext cx="685829" cy="189569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35403653-A98E-E42A-D831-987037012D8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332902" y="2206906"/>
            <a:ext cx="1755701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56E2107-22B4-5646-AB0E-3735CAE3D3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612010" y="2206906"/>
            <a:ext cx="3497689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A54B276-3F52-FA4B-C5F1-ABC92E5A0E4D}"/>
              </a:ext>
            </a:extLst>
          </p:cNvPr>
          <p:cNvCxnSpPr>
            <a:cxnSpLocks/>
          </p:cNvCxnSpPr>
          <p:nvPr/>
        </p:nvCxnSpPr>
        <p:spPr>
          <a:xfrm>
            <a:off x="6831094" y="4634072"/>
            <a:ext cx="1275806" cy="0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0D95E66-1EC7-6D4C-DAB5-726E179AB8BB}"/>
              </a:ext>
            </a:extLst>
          </p:cNvPr>
          <p:cNvCxnSpPr>
            <a:cxnSpLocks/>
          </p:cNvCxnSpPr>
          <p:nvPr/>
        </p:nvCxnSpPr>
        <p:spPr>
          <a:xfrm>
            <a:off x="6831094" y="5001016"/>
            <a:ext cx="12758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BAD6D2D-5C04-0CC3-4686-45D230CA3C52}"/>
              </a:ext>
            </a:extLst>
          </p:cNvPr>
          <p:cNvSpPr txBox="1"/>
          <p:nvPr/>
        </p:nvSpPr>
        <p:spPr>
          <a:xfrm>
            <a:off x="7833057" y="4815143"/>
            <a:ext cx="2631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Control Dependency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EE9D403-6611-F6E6-00A8-3611B51E7F4A}"/>
              </a:ext>
            </a:extLst>
          </p:cNvPr>
          <p:cNvSpPr txBox="1"/>
          <p:nvPr/>
        </p:nvSpPr>
        <p:spPr>
          <a:xfrm>
            <a:off x="7985457" y="4439522"/>
            <a:ext cx="189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Invoke / Return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6599D6C-C09A-4A15-A3A0-3FE66377AA6D}"/>
              </a:ext>
            </a:extLst>
          </p:cNvPr>
          <p:cNvSpPr txBox="1"/>
          <p:nvPr/>
        </p:nvSpPr>
        <p:spPr>
          <a:xfrm>
            <a:off x="2653206" y="3462500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fork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4DAF87D-732B-9C5D-A57B-9859FBAD8DB9}"/>
              </a:ext>
            </a:extLst>
          </p:cNvPr>
          <p:cNvSpPr txBox="1"/>
          <p:nvPr/>
        </p:nvSpPr>
        <p:spPr>
          <a:xfrm>
            <a:off x="5977306" y="3412476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join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21B6F11-307D-EA7F-3FE7-8B26A06FABCA}"/>
              </a:ext>
            </a:extLst>
          </p:cNvPr>
          <p:cNvSpPr txBox="1"/>
          <p:nvPr/>
        </p:nvSpPr>
        <p:spPr>
          <a:xfrm>
            <a:off x="5994723" y="3790125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wait-all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49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318567" y="2009470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467010" y="2546478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627132" y="2549175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359136" y="2733927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627132" y="3586068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564077" y="4192513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467009" y="3587277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822597" y="4375195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988901" y="5002933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735887" y="504805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805852" y="1639757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101781" y="2286457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862334" y="2880332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692251" y="4999200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838450" y="3243583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2005291" y="2864118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9031389" y="2864118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948327" y="2482806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FCF79A1-7DA1-5629-A007-2E76AF2B5991}"/>
              </a:ext>
            </a:extLst>
          </p:cNvPr>
          <p:cNvSpPr txBox="1"/>
          <p:nvPr/>
        </p:nvSpPr>
        <p:spPr>
          <a:xfrm>
            <a:off x="3171610" y="2496222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S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AB3782F-7773-7961-AF8B-4870515DA63A}"/>
              </a:ext>
            </a:extLst>
          </p:cNvPr>
          <p:cNvSpPr txBox="1"/>
          <p:nvPr/>
        </p:nvSpPr>
        <p:spPr>
          <a:xfrm>
            <a:off x="8810873" y="2801262"/>
            <a:ext cx="1252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B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9031389" y="4013817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768504" y="3604016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650614" y="4268353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650614" y="4463690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773099" y="3946851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532655" y="4486210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862334" y="3919922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709678" y="3579699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651407" y="1268250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 2">
            <a:extLst>
              <a:ext uri="{FF2B5EF4-FFF2-40B4-BE49-F238E27FC236}">
                <a16:creationId xmlns:a16="http://schemas.microsoft.com/office/drawing/2014/main" id="{26FE387D-B03C-CD93-71BF-8DDB721E723D}"/>
              </a:ext>
            </a:extLst>
          </p:cNvPr>
          <p:cNvSpPr/>
          <p:nvPr/>
        </p:nvSpPr>
        <p:spPr>
          <a:xfrm>
            <a:off x="7231660" y="5472186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events</a:t>
            </a:r>
          </a:p>
        </p:txBody>
      </p: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2F4DC391-A4D0-5704-7E40-FF4310CA44F6}"/>
              </a:ext>
            </a:extLst>
          </p:cNvPr>
          <p:cNvCxnSpPr>
            <a:cxnSpLocks/>
          </p:cNvCxnSpPr>
          <p:nvPr/>
        </p:nvCxnSpPr>
        <p:spPr>
          <a:xfrm>
            <a:off x="4410931" y="4281934"/>
            <a:ext cx="6893572" cy="313810"/>
          </a:xfrm>
          <a:prstGeom prst="bentConnector4">
            <a:avLst>
              <a:gd name="adj1" fmla="val 234"/>
              <a:gd name="adj2" fmla="val 608539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 2">
            <a:extLst>
              <a:ext uri="{FF2B5EF4-FFF2-40B4-BE49-F238E27FC236}">
                <a16:creationId xmlns:a16="http://schemas.microsoft.com/office/drawing/2014/main" id="{10257C9B-6124-6ABB-FF34-A6307B8E7807}"/>
              </a:ext>
            </a:extLst>
          </p:cNvPr>
          <p:cNvSpPr/>
          <p:nvPr/>
        </p:nvSpPr>
        <p:spPr>
          <a:xfrm>
            <a:off x="7405181" y="6139445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squash</a:t>
            </a:r>
          </a:p>
        </p:txBody>
      </p:sp>
    </p:spTree>
    <p:extLst>
      <p:ext uri="{BB962C8B-B14F-4D97-AF65-F5344CB8AC3E}">
        <p14:creationId xmlns:p14="http://schemas.microsoft.com/office/powerpoint/2010/main" val="3842935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>
            <a:extLst>
              <a:ext uri="{FF2B5EF4-FFF2-40B4-BE49-F238E27FC236}">
                <a16:creationId xmlns:a16="http://schemas.microsoft.com/office/drawing/2014/main" id="{61A01840-B520-69D3-44DD-1446CCDD15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5114330"/>
              </p:ext>
            </p:extLst>
          </p:nvPr>
        </p:nvGraphicFramePr>
        <p:xfrm>
          <a:off x="822960" y="1417320"/>
          <a:ext cx="55321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hape 5">
            <a:extLst>
              <a:ext uri="{FF2B5EF4-FFF2-40B4-BE49-F238E27FC236}">
                <a16:creationId xmlns:a16="http://schemas.microsoft.com/office/drawing/2014/main" id="{1EB9378F-EA02-191C-D076-250E6C6C726B}"/>
              </a:ext>
            </a:extLst>
          </p:cNvPr>
          <p:cNvSpPr/>
          <p:nvPr/>
        </p:nvSpPr>
        <p:spPr>
          <a:xfrm>
            <a:off x="4871369" y="1554480"/>
            <a:ext cx="0" cy="2971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90B8D69-79BD-8A3B-42E1-7B343668CBBA}"/>
              </a:ext>
            </a:extLst>
          </p:cNvPr>
          <p:cNvSpPr/>
          <p:nvPr/>
        </p:nvSpPr>
        <p:spPr>
          <a:xfrm>
            <a:off x="4569811" y="1211580"/>
            <a:ext cx="13997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τ = 0.45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3EB4318-34CB-5560-6707-1F30F530D923}"/>
              </a:ext>
            </a:extLst>
          </p:cNvPr>
          <p:cNvSpPr/>
          <p:nvPr/>
        </p:nvSpPr>
        <p:spPr>
          <a:xfrm>
            <a:off x="7526968" y="1534053"/>
            <a:ext cx="2895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vs </a:t>
            </a:r>
            <a:r>
              <a:rPr lang="en-US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N-way（τ-</a:t>
            </a:r>
            <a:r>
              <a:rPr lang="en-US" altLang="zh-CN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gating</a:t>
            </a: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9" name="Shape 16">
            <a:extLst>
              <a:ext uri="{FF2B5EF4-FFF2-40B4-BE49-F238E27FC236}">
                <a16:creationId xmlns:a16="http://schemas.microsoft.com/office/drawing/2014/main" id="{2BAB625A-72E3-EFB5-CE20-55062E23DEEF}"/>
              </a:ext>
            </a:extLst>
          </p:cNvPr>
          <p:cNvSpPr/>
          <p:nvPr/>
        </p:nvSpPr>
        <p:spPr>
          <a:xfrm>
            <a:off x="6277256" y="2962697"/>
            <a:ext cx="914400" cy="5029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D35F8255-C4AB-0E0D-4BFB-A8F50E282D64}"/>
              </a:ext>
            </a:extLst>
          </p:cNvPr>
          <p:cNvSpPr/>
          <p:nvPr/>
        </p:nvSpPr>
        <p:spPr>
          <a:xfrm>
            <a:off x="6277256" y="3001413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30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Shape 18">
            <a:extLst>
              <a:ext uri="{FF2B5EF4-FFF2-40B4-BE49-F238E27FC236}">
                <a16:creationId xmlns:a16="http://schemas.microsoft.com/office/drawing/2014/main" id="{42471E2C-3D6B-178C-FC89-307413106237}"/>
              </a:ext>
            </a:extLst>
          </p:cNvPr>
          <p:cNvSpPr/>
          <p:nvPr/>
        </p:nvSpPr>
        <p:spPr>
          <a:xfrm flipV="1">
            <a:off x="7234458" y="2249465"/>
            <a:ext cx="2288918" cy="934194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9">
            <a:extLst>
              <a:ext uri="{FF2B5EF4-FFF2-40B4-BE49-F238E27FC236}">
                <a16:creationId xmlns:a16="http://schemas.microsoft.com/office/drawing/2014/main" id="{A668AEC9-416B-581E-E9A7-BF8B8F1D1061}"/>
              </a:ext>
            </a:extLst>
          </p:cNvPr>
          <p:cNvSpPr/>
          <p:nvPr/>
        </p:nvSpPr>
        <p:spPr>
          <a:xfrm>
            <a:off x="10568322" y="2297129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πₜ(v₁)=0.51</a:t>
            </a:r>
            <a:endParaRPr lang="en-US" sz="1200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E7A1E536-6BA5-184E-02CB-94B8EAA610C9}"/>
              </a:ext>
            </a:extLst>
          </p:cNvPr>
          <p:cNvGrpSpPr/>
          <p:nvPr/>
        </p:nvGrpSpPr>
        <p:grpSpPr>
          <a:xfrm>
            <a:off x="9523376" y="2237693"/>
            <a:ext cx="1051560" cy="424905"/>
            <a:chOff x="10241280" y="1852146"/>
            <a:chExt cx="1051560" cy="424905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93F5E2FC-D010-1B55-C85B-011E54A8C1D1}"/>
                </a:ext>
              </a:extLst>
            </p:cNvPr>
            <p:cNvSpPr/>
            <p:nvPr/>
          </p:nvSpPr>
          <p:spPr>
            <a:xfrm>
              <a:off x="10241280" y="1865571"/>
              <a:ext cx="1051560" cy="411480"/>
            </a:xfrm>
            <a:prstGeom prst="roundRect">
              <a:avLst/>
            </a:prstGeom>
            <a:solidFill>
              <a:srgbClr val="ECFDF5"/>
            </a:solidFill>
            <a:ln w="31750">
              <a:solidFill>
                <a:srgbClr val="16A34A"/>
              </a:solidFill>
              <a:prstDash val="solid"/>
            </a:ln>
          </p:spPr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9558FC31-DB3F-9AAD-04A0-05292E4C9E0D}"/>
                </a:ext>
              </a:extLst>
            </p:cNvPr>
            <p:cNvSpPr/>
            <p:nvPr/>
          </p:nvSpPr>
          <p:spPr>
            <a:xfrm>
              <a:off x="10241280" y="1852146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v₁</a:t>
              </a:r>
            </a:p>
          </p:txBody>
        </p:sp>
      </p:grpSp>
      <p:sp>
        <p:nvSpPr>
          <p:cNvPr id="15" name="Shape 22">
            <a:extLst>
              <a:ext uri="{FF2B5EF4-FFF2-40B4-BE49-F238E27FC236}">
                <a16:creationId xmlns:a16="http://schemas.microsoft.com/office/drawing/2014/main" id="{6D6386BE-E599-8E59-9174-4E36254C1A58}"/>
              </a:ext>
            </a:extLst>
          </p:cNvPr>
          <p:cNvSpPr/>
          <p:nvPr/>
        </p:nvSpPr>
        <p:spPr>
          <a:xfrm>
            <a:off x="7213058" y="3209585"/>
            <a:ext cx="2288918" cy="10166"/>
          </a:xfrm>
          <a:prstGeom prst="line">
            <a:avLst/>
          </a:prstGeom>
          <a:noFill/>
          <a:ln w="3175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B082E8E0-1E47-567D-EB59-CFC6007D8FAB}"/>
              </a:ext>
            </a:extLst>
          </p:cNvPr>
          <p:cNvSpPr/>
          <p:nvPr/>
        </p:nvSpPr>
        <p:spPr>
          <a:xfrm>
            <a:off x="10568322" y="3072425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πₜ(v₂)=0.46</a:t>
            </a:r>
            <a:endParaRPr lang="en-US" sz="1200" dirty="0"/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B3ED9389-CEDB-9041-16BE-07823BAC202B}"/>
              </a:ext>
            </a:extLst>
          </p:cNvPr>
          <p:cNvGrpSpPr/>
          <p:nvPr/>
        </p:nvGrpSpPr>
        <p:grpSpPr>
          <a:xfrm>
            <a:off x="9523376" y="3003845"/>
            <a:ext cx="1051560" cy="411480"/>
            <a:chOff x="10241280" y="2514600"/>
            <a:chExt cx="1051560" cy="411480"/>
          </a:xfrm>
        </p:grpSpPr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98A1732A-DD8E-2E57-B27D-709D8DBD511F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0">
              <a:solidFill>
                <a:schemeClr val="accent2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8B343EC6-4016-4410-F6BD-8D74C3F67BA6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v₂</a:t>
              </a:r>
            </a:p>
          </p:txBody>
        </p:sp>
      </p:grpSp>
      <p:sp>
        <p:nvSpPr>
          <p:cNvPr id="30" name="Text 27">
            <a:extLst>
              <a:ext uri="{FF2B5EF4-FFF2-40B4-BE49-F238E27FC236}">
                <a16:creationId xmlns:a16="http://schemas.microsoft.com/office/drawing/2014/main" id="{00D0601B-36EC-8A59-54B9-A6B446249EFD}"/>
              </a:ext>
            </a:extLst>
          </p:cNvPr>
          <p:cNvSpPr/>
          <p:nvPr/>
        </p:nvSpPr>
        <p:spPr>
          <a:xfrm>
            <a:off x="10565404" y="389275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πₜ(v₃)=0.03</a:t>
            </a:r>
            <a:endParaRPr lang="en-US" sz="12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ACF1E5E6-8446-66B3-D38A-E87B24336944}"/>
              </a:ext>
            </a:extLst>
          </p:cNvPr>
          <p:cNvSpPr/>
          <p:nvPr/>
        </p:nvSpPr>
        <p:spPr>
          <a:xfrm>
            <a:off x="9537920" y="3852462"/>
            <a:ext cx="1051560" cy="4114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58245C-8AEF-2963-F4CE-E52EB90312A0}"/>
              </a:ext>
            </a:extLst>
          </p:cNvPr>
          <p:cNvSpPr/>
          <p:nvPr/>
        </p:nvSpPr>
        <p:spPr>
          <a:xfrm>
            <a:off x="9523376" y="3838577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v₃</a:t>
            </a:r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1BFA93D7-DCFB-DE84-B3FD-ACD60F9B4E69}"/>
              </a:ext>
            </a:extLst>
          </p:cNvPr>
          <p:cNvSpPr/>
          <p:nvPr/>
        </p:nvSpPr>
        <p:spPr>
          <a:xfrm>
            <a:off x="7234457" y="3245677"/>
            <a:ext cx="2267518" cy="80486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</a:ln>
        </p:spPr>
      </p:sp>
      <p:sp>
        <p:nvSpPr>
          <p:cNvPr id="59" name="Text 21">
            <a:extLst>
              <a:ext uri="{FF2B5EF4-FFF2-40B4-BE49-F238E27FC236}">
                <a16:creationId xmlns:a16="http://schemas.microsoft.com/office/drawing/2014/main" id="{E5EDB913-CE7C-1CC8-57DB-F2893009304D}"/>
              </a:ext>
            </a:extLst>
          </p:cNvPr>
          <p:cNvSpPr/>
          <p:nvPr/>
        </p:nvSpPr>
        <p:spPr>
          <a:xfrm>
            <a:off x="7762086" y="2312102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</a:t>
            </a:r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37C606FB-9B11-C0E3-8F1A-E96E4A01EF50}"/>
              </a:ext>
            </a:extLst>
          </p:cNvPr>
          <p:cNvSpPr/>
          <p:nvPr/>
        </p:nvSpPr>
        <p:spPr>
          <a:xfrm>
            <a:off x="7760966" y="2856687"/>
            <a:ext cx="1638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 in N-way </a:t>
            </a: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3724E856-AA55-786A-10BC-BFE96B808830}"/>
              </a:ext>
            </a:extLst>
          </p:cNvPr>
          <p:cNvSpPr/>
          <p:nvPr/>
        </p:nvSpPr>
        <p:spPr>
          <a:xfrm>
            <a:off x="7705131" y="3664987"/>
            <a:ext cx="116546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not taken</a:t>
            </a:r>
          </a:p>
        </p:txBody>
      </p:sp>
    </p:spTree>
    <p:extLst>
      <p:ext uri="{BB962C8B-B14F-4D97-AF65-F5344CB8AC3E}">
        <p14:creationId xmlns:p14="http://schemas.microsoft.com/office/powerpoint/2010/main" val="850857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09FD5F8-9E4F-DF52-A856-E466740DB398}"/>
              </a:ext>
            </a:extLst>
          </p:cNvPr>
          <p:cNvGrpSpPr/>
          <p:nvPr/>
        </p:nvGrpSpPr>
        <p:grpSpPr>
          <a:xfrm>
            <a:off x="2828593" y="1845856"/>
            <a:ext cx="7127567" cy="4479308"/>
            <a:chOff x="2828593" y="1845856"/>
            <a:chExt cx="7127567" cy="4479308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0538AEBF-12CF-8662-2EA4-E23026788482}"/>
                </a:ext>
              </a:extLst>
            </p:cNvPr>
            <p:cNvGrpSpPr/>
            <p:nvPr/>
          </p:nvGrpSpPr>
          <p:grpSpPr>
            <a:xfrm>
              <a:off x="4663440" y="1845856"/>
              <a:ext cx="2743200" cy="1350791"/>
              <a:chOff x="914400" y="1903212"/>
              <a:chExt cx="2743200" cy="1350791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AF4AAB5F-98AE-8C26-7DA0-0FBD14359798}"/>
                  </a:ext>
                </a:extLst>
              </p:cNvPr>
              <p:cNvSpPr/>
              <p:nvPr/>
            </p:nvSpPr>
            <p:spPr>
              <a:xfrm>
                <a:off x="1611000" y="1903212"/>
                <a:ext cx="1350000" cy="1350791"/>
              </a:xfrm>
              <a:prstGeom prst="ellipse">
                <a:avLst/>
              </a:prstGeom>
              <a:solidFill>
                <a:srgbClr val="E8F1FF"/>
              </a:solidFill>
              <a:ln w="25400">
                <a:solidFill>
                  <a:srgbClr val="2563EB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" name="Text 3">
                <a:extLst>
                  <a:ext uri="{FF2B5EF4-FFF2-40B4-BE49-F238E27FC236}">
                    <a16:creationId xmlns:a16="http://schemas.microsoft.com/office/drawing/2014/main" id="{A1AA3030-D158-D69C-1828-5214E8A737F6}"/>
                  </a:ext>
                </a:extLst>
              </p:cNvPr>
              <p:cNvSpPr/>
              <p:nvPr/>
            </p:nvSpPr>
            <p:spPr>
              <a:xfrm>
                <a:off x="914400" y="230428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</a:t>
                </a:r>
                <a:endParaRPr lang="en-US" sz="2200" dirty="0"/>
              </a:p>
            </p:txBody>
          </p: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8F5DBFDF-AA26-73C2-450D-F9AEC3D2FE05}"/>
                </a:ext>
              </a:extLst>
            </p:cNvPr>
            <p:cNvGrpSpPr/>
            <p:nvPr/>
          </p:nvGrpSpPr>
          <p:grpSpPr>
            <a:xfrm>
              <a:off x="4663440" y="3460712"/>
              <a:ext cx="2743200" cy="1350791"/>
              <a:chOff x="4663440" y="3460712"/>
              <a:chExt cx="2743200" cy="1350791"/>
            </a:xfrm>
          </p:grpSpPr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34EC5890-C0F2-A9E5-394F-CADF81CAA2AB}"/>
                  </a:ext>
                </a:extLst>
              </p:cNvPr>
              <p:cNvSpPr/>
              <p:nvPr/>
            </p:nvSpPr>
            <p:spPr>
              <a:xfrm>
                <a:off x="5360040" y="3460712"/>
                <a:ext cx="1350000" cy="1350791"/>
              </a:xfrm>
              <a:prstGeom prst="ellipse">
                <a:avLst/>
              </a:prstGeom>
              <a:solidFill>
                <a:srgbClr val="ECFDF5"/>
              </a:solidFill>
              <a:ln w="25400">
                <a:solidFill>
                  <a:srgbClr val="10B981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Text 5">
                <a:extLst>
                  <a:ext uri="{FF2B5EF4-FFF2-40B4-BE49-F238E27FC236}">
                    <a16:creationId xmlns:a16="http://schemas.microsoft.com/office/drawing/2014/main" id="{BC45E475-DBD1-6FC6-C437-660A7A40DAF7}"/>
                  </a:ext>
                </a:extLst>
              </p:cNvPr>
              <p:cNvSpPr/>
              <p:nvPr/>
            </p:nvSpPr>
            <p:spPr>
              <a:xfrm>
                <a:off x="4663440" y="385876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Spec</a:t>
                </a:r>
                <a:endParaRPr lang="en-US" sz="2200" dirty="0"/>
              </a:p>
            </p:txBody>
          </p: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1548E3-D23B-7805-0435-6DCB2481788A}"/>
                </a:ext>
              </a:extLst>
            </p:cNvPr>
            <p:cNvGrpSpPr/>
            <p:nvPr/>
          </p:nvGrpSpPr>
          <p:grpSpPr>
            <a:xfrm>
              <a:off x="8606160" y="1920239"/>
              <a:ext cx="1350000" cy="1350791"/>
              <a:chOff x="9109080" y="1985061"/>
              <a:chExt cx="1350000" cy="1350791"/>
            </a:xfrm>
          </p:grpSpPr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7B27A3B2-9C8D-0F18-F12C-3A5409E35009}"/>
                  </a:ext>
                </a:extLst>
              </p:cNvPr>
              <p:cNvSpPr/>
              <p:nvPr/>
            </p:nvSpPr>
            <p:spPr>
              <a:xfrm>
                <a:off x="9109080" y="1985061"/>
                <a:ext cx="1350000" cy="1350791"/>
              </a:xfrm>
              <a:prstGeom prst="ellipse">
                <a:avLst/>
              </a:prstGeom>
              <a:solidFill>
                <a:srgbClr val="FFF7ED"/>
              </a:solidFill>
              <a:ln w="25400">
                <a:solidFill>
                  <a:srgbClr val="F9731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F4B2144E-6122-EEBE-7A72-A750DF78F4C9}"/>
                  </a:ext>
                </a:extLst>
              </p:cNvPr>
              <p:cNvSpPr/>
              <p:nvPr/>
            </p:nvSpPr>
            <p:spPr>
              <a:xfrm>
                <a:off x="9227171" y="2382595"/>
                <a:ext cx="1113817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zh-CN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Commit</a:t>
                </a:r>
                <a:endParaRPr lang="en-US" altLang="zh-CN" sz="2200" dirty="0"/>
              </a:p>
            </p:txBody>
          </p:sp>
        </p:grp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DB3A0EF-A534-CBA0-457E-578304D23F92}"/>
                </a:ext>
              </a:extLst>
            </p:cNvPr>
            <p:cNvSpPr/>
            <p:nvPr/>
          </p:nvSpPr>
          <p:spPr>
            <a:xfrm flipV="1">
              <a:off x="3660213" y="2587992"/>
              <a:ext cx="1644073" cy="84100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18" name="Shape 14">
              <a:extLst>
                <a:ext uri="{FF2B5EF4-FFF2-40B4-BE49-F238E27FC236}">
                  <a16:creationId xmlns:a16="http://schemas.microsoft.com/office/drawing/2014/main" id="{3D6AEAE1-95EF-6049-5ECB-52479BC303B4}"/>
                </a:ext>
              </a:extLst>
            </p:cNvPr>
            <p:cNvSpPr/>
            <p:nvPr/>
          </p:nvSpPr>
          <p:spPr>
            <a:xfrm>
              <a:off x="3715966" y="3661354"/>
              <a:ext cx="1644074" cy="562151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16323C6F-44BE-7D98-01B9-9979E8E1DF13}"/>
                </a:ext>
              </a:extLst>
            </p:cNvPr>
            <p:cNvSpPr/>
            <p:nvPr/>
          </p:nvSpPr>
          <p:spPr>
            <a:xfrm>
              <a:off x="6772288" y="2514601"/>
              <a:ext cx="1777352" cy="2042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CE73AE18-2BC1-FF27-5B77-14906CCD3EE0}"/>
                </a:ext>
              </a:extLst>
            </p:cNvPr>
            <p:cNvSpPr/>
            <p:nvPr/>
          </p:nvSpPr>
          <p:spPr>
            <a:xfrm flipV="1">
              <a:off x="6780179" y="3200400"/>
              <a:ext cx="2110901" cy="937723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26717E2D-F4EB-03B1-5980-186575F7CA8C}"/>
                </a:ext>
              </a:extLst>
            </p:cNvPr>
            <p:cNvSpPr/>
            <p:nvPr/>
          </p:nvSpPr>
          <p:spPr>
            <a:xfrm>
              <a:off x="6096000" y="3374136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Verified</a:t>
              </a: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E757D180-73A6-9A90-92DB-8BEB7743FA35}"/>
                </a:ext>
              </a:extLst>
            </p:cNvPr>
            <p:cNvSpPr/>
            <p:nvPr/>
          </p:nvSpPr>
          <p:spPr>
            <a:xfrm flipH="1">
              <a:off x="6001966" y="4867812"/>
              <a:ext cx="9728" cy="1110549"/>
            </a:xfrm>
            <a:prstGeom prst="line">
              <a:avLst/>
            </a:prstGeom>
            <a:noFill/>
            <a:ln w="31750">
              <a:solidFill>
                <a:srgbClr val="EF4444"/>
              </a:solidFill>
              <a:prstDash val="solid"/>
              <a:headEnd type="none"/>
              <a:tailEnd type="triangle"/>
            </a:ln>
          </p:spPr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AA7C197E-EC2B-1152-A836-483BB1EDC2E3}"/>
                </a:ext>
              </a:extLst>
            </p:cNvPr>
            <p:cNvSpPr/>
            <p:nvPr/>
          </p:nvSpPr>
          <p:spPr>
            <a:xfrm>
              <a:off x="3639532" y="519980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Abort and</a:t>
              </a:r>
              <a:r>
                <a:rPr lang="zh-CN" altLang="en-US" dirty="0">
                  <a:solidFill>
                    <a:schemeClr val="dk1"/>
                  </a:solidFill>
                </a:rPr>
                <a:t> </a:t>
              </a:r>
              <a:r>
                <a:rPr lang="en-US" altLang="zh-CN" dirty="0">
                  <a:solidFill>
                    <a:schemeClr val="dk1"/>
                  </a:solidFill>
                </a:rPr>
                <a:t>Squash</a:t>
              </a:r>
              <a:endParaRPr lang="en-US" dirty="0">
                <a:solidFill>
                  <a:schemeClr val="dk1"/>
                </a:solidFill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7F0A4DE0-4E81-C169-84D0-3DD2B91FE5EE}"/>
                </a:ext>
              </a:extLst>
            </p:cNvPr>
            <p:cNvSpPr/>
            <p:nvPr/>
          </p:nvSpPr>
          <p:spPr>
            <a:xfrm>
              <a:off x="6152345" y="6005124"/>
              <a:ext cx="124347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End</a:t>
              </a:r>
            </a:p>
          </p:txBody>
        </p: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E2BD3646-9BEC-2ED0-E03C-D629FE36D71C}"/>
                </a:ext>
              </a:extLst>
            </p:cNvPr>
            <p:cNvGrpSpPr/>
            <p:nvPr/>
          </p:nvGrpSpPr>
          <p:grpSpPr>
            <a:xfrm>
              <a:off x="7270925" y="5201024"/>
              <a:ext cx="2254841" cy="822960"/>
              <a:chOff x="8280214" y="5174451"/>
              <a:chExt cx="2254841" cy="822960"/>
            </a:xfrm>
          </p:grpSpPr>
          <p:sp>
            <p:nvSpPr>
              <p:cNvPr id="35" name="Shape 31">
                <a:extLst>
                  <a:ext uri="{FF2B5EF4-FFF2-40B4-BE49-F238E27FC236}">
                    <a16:creationId xmlns:a16="http://schemas.microsoft.com/office/drawing/2014/main" id="{926F4B2B-57A6-8520-0889-64369CF84C91}"/>
                  </a:ext>
                </a:extLst>
              </p:cNvPr>
              <p:cNvSpPr/>
              <p:nvPr/>
            </p:nvSpPr>
            <p:spPr>
              <a:xfrm>
                <a:off x="8280214" y="531453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2563EB"/>
                </a:solidFill>
                <a:prstDash val="solid"/>
                <a:tailEnd type="triangle"/>
              </a:ln>
            </p:spPr>
          </p:sp>
          <p:sp>
            <p:nvSpPr>
              <p:cNvPr id="36" name="Text 32">
                <a:extLst>
                  <a:ext uri="{FF2B5EF4-FFF2-40B4-BE49-F238E27FC236}">
                    <a16:creationId xmlns:a16="http://schemas.microsoft.com/office/drawing/2014/main" id="{480F3952-3515-A043-5A26-E38D186FB100}"/>
                  </a:ext>
                </a:extLst>
              </p:cNvPr>
              <p:cNvSpPr/>
              <p:nvPr/>
            </p:nvSpPr>
            <p:spPr>
              <a:xfrm>
                <a:off x="9148894" y="5174451"/>
                <a:ext cx="1065148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Strict Path</a:t>
                </a:r>
              </a:p>
            </p:txBody>
          </p:sp>
          <p:sp>
            <p:nvSpPr>
              <p:cNvPr id="37" name="Shape 33">
                <a:extLst>
                  <a:ext uri="{FF2B5EF4-FFF2-40B4-BE49-F238E27FC236}">
                    <a16:creationId xmlns:a16="http://schemas.microsoft.com/office/drawing/2014/main" id="{40C19796-45DD-74BE-131F-1773749AD9E1}"/>
                  </a:ext>
                </a:extLst>
              </p:cNvPr>
              <p:cNvSpPr/>
              <p:nvPr/>
            </p:nvSpPr>
            <p:spPr>
              <a:xfrm>
                <a:off x="8280214" y="558885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10B981"/>
                </a:solidFill>
                <a:prstDash val="solid"/>
                <a:tailEnd type="triangle"/>
              </a:ln>
            </p:spPr>
          </p:sp>
          <p:sp>
            <p:nvSpPr>
              <p:cNvPr id="38" name="Text 34">
                <a:extLst>
                  <a:ext uri="{FF2B5EF4-FFF2-40B4-BE49-F238E27FC236}">
                    <a16:creationId xmlns:a16="http://schemas.microsoft.com/office/drawing/2014/main" id="{84C60B2C-BA74-E11D-69D5-01A8D8586637}"/>
                  </a:ext>
                </a:extLst>
              </p:cNvPr>
              <p:cNvSpPr/>
              <p:nvPr/>
            </p:nvSpPr>
            <p:spPr>
              <a:xfrm>
                <a:off x="9148894" y="5448771"/>
                <a:ext cx="1386161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altLang="zh-CN" sz="1400" dirty="0">
                    <a:solidFill>
                      <a:schemeClr val="dk1"/>
                    </a:solidFill>
                  </a:rPr>
                  <a:t>Speculative Path</a:t>
                </a:r>
                <a:endParaRPr lang="en-US" sz="140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39" name="Shape 35">
                <a:extLst>
                  <a:ext uri="{FF2B5EF4-FFF2-40B4-BE49-F238E27FC236}">
                    <a16:creationId xmlns:a16="http://schemas.microsoft.com/office/drawing/2014/main" id="{5994F671-3981-FB08-C7B9-FDA6FBE38F27}"/>
                  </a:ext>
                </a:extLst>
              </p:cNvPr>
              <p:cNvSpPr/>
              <p:nvPr/>
            </p:nvSpPr>
            <p:spPr>
              <a:xfrm>
                <a:off x="8280214" y="586317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EF4444"/>
                </a:solidFill>
                <a:prstDash val="solid"/>
                <a:tailEnd type="triangle"/>
              </a:ln>
            </p:spPr>
          </p:sp>
          <p:sp>
            <p:nvSpPr>
              <p:cNvPr id="40" name="Text 36">
                <a:extLst>
                  <a:ext uri="{FF2B5EF4-FFF2-40B4-BE49-F238E27FC236}">
                    <a16:creationId xmlns:a16="http://schemas.microsoft.com/office/drawing/2014/main" id="{A1D4A6B6-584D-F1B5-B47A-337B1FE31152}"/>
                  </a:ext>
                </a:extLst>
              </p:cNvPr>
              <p:cNvSpPr/>
              <p:nvPr/>
            </p:nvSpPr>
            <p:spPr>
              <a:xfrm>
                <a:off x="9148894" y="5723091"/>
                <a:ext cx="118188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Undo actions</a:t>
                </a:r>
              </a:p>
            </p:txBody>
          </p:sp>
        </p:grpSp>
        <p:sp>
          <p:nvSpPr>
            <p:cNvPr id="45" name="Shape 26">
              <a:extLst>
                <a:ext uri="{FF2B5EF4-FFF2-40B4-BE49-F238E27FC236}">
                  <a16:creationId xmlns:a16="http://schemas.microsoft.com/office/drawing/2014/main" id="{E63160BE-E00D-188D-6DC3-A94E4038ECD9}"/>
                </a:ext>
              </a:extLst>
            </p:cNvPr>
            <p:cNvSpPr/>
            <p:nvPr/>
          </p:nvSpPr>
          <p:spPr>
            <a:xfrm>
              <a:off x="3461441" y="3458432"/>
              <a:ext cx="219456" cy="219456"/>
            </a:xfrm>
            <a:prstGeom prst="ellipse">
              <a:avLst/>
            </a:prstGeom>
            <a:solidFill>
              <a:srgbClr val="111827"/>
            </a:solidFill>
            <a:ln w="12700">
              <a:solidFill>
                <a:srgbClr val="111827"/>
              </a:solidFill>
              <a:prstDash val="solid"/>
            </a:ln>
          </p:spPr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DD100D1-4F8D-DFB4-0374-BC5AA2E18BDE}"/>
                </a:ext>
              </a:extLst>
            </p:cNvPr>
            <p:cNvGrpSpPr/>
            <p:nvPr/>
          </p:nvGrpSpPr>
          <p:grpSpPr>
            <a:xfrm>
              <a:off x="5841440" y="5997411"/>
              <a:ext cx="324000" cy="324000"/>
              <a:chOff x="5075801" y="5784370"/>
              <a:chExt cx="324000" cy="324000"/>
            </a:xfrm>
          </p:grpSpPr>
          <p:sp>
            <p:nvSpPr>
              <p:cNvPr id="30" name="Shape 26">
                <a:extLst>
                  <a:ext uri="{FF2B5EF4-FFF2-40B4-BE49-F238E27FC236}">
                    <a16:creationId xmlns:a16="http://schemas.microsoft.com/office/drawing/2014/main" id="{819B690B-885A-3B21-FF0A-87067E791F4B}"/>
                  </a:ext>
                </a:extLst>
              </p:cNvPr>
              <p:cNvSpPr/>
              <p:nvPr/>
            </p:nvSpPr>
            <p:spPr>
              <a:xfrm>
                <a:off x="5128073" y="5840680"/>
                <a:ext cx="219456" cy="219456"/>
              </a:xfrm>
              <a:prstGeom prst="ellipse">
                <a:avLst/>
              </a:prstGeom>
              <a:solidFill>
                <a:srgbClr val="111827"/>
              </a:solidFill>
              <a:ln w="12700">
                <a:solidFill>
                  <a:srgbClr val="111827"/>
                </a:solidFill>
                <a:prstDash val="solid"/>
              </a:ln>
            </p:spPr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30C65B19-6BE3-BF1D-AAC8-9F7F79CDA7A0}"/>
                  </a:ext>
                </a:extLst>
              </p:cNvPr>
              <p:cNvSpPr/>
              <p:nvPr/>
            </p:nvSpPr>
            <p:spPr>
              <a:xfrm>
                <a:off x="5075801" y="5784370"/>
                <a:ext cx="324000" cy="324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6" name="Text 27">
              <a:extLst>
                <a:ext uri="{FF2B5EF4-FFF2-40B4-BE49-F238E27FC236}">
                  <a16:creationId xmlns:a16="http://schemas.microsoft.com/office/drawing/2014/main" id="{533F6C28-8F02-F9FF-0A02-5F6B591C44D4}"/>
                </a:ext>
              </a:extLst>
            </p:cNvPr>
            <p:cNvSpPr/>
            <p:nvPr/>
          </p:nvSpPr>
          <p:spPr>
            <a:xfrm>
              <a:off x="2828593" y="3328416"/>
              <a:ext cx="81093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Start</a:t>
              </a:r>
            </a:p>
          </p:txBody>
        </p:sp>
        <p:sp>
          <p:nvSpPr>
            <p:cNvPr id="57" name="Text 25">
              <a:extLst>
                <a:ext uri="{FF2B5EF4-FFF2-40B4-BE49-F238E27FC236}">
                  <a16:creationId xmlns:a16="http://schemas.microsoft.com/office/drawing/2014/main" id="{A009D271-873B-A53E-1557-FBDE630F3B6C}"/>
                </a:ext>
              </a:extLst>
            </p:cNvPr>
            <p:cNvSpPr/>
            <p:nvPr/>
          </p:nvSpPr>
          <p:spPr>
            <a:xfrm>
              <a:off x="3350008" y="2710689"/>
              <a:ext cx="14102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Strict invoke</a:t>
              </a:r>
            </a:p>
          </p:txBody>
        </p:sp>
        <p:sp>
          <p:nvSpPr>
            <p:cNvPr id="62" name="Shape 17">
              <a:extLst>
                <a:ext uri="{FF2B5EF4-FFF2-40B4-BE49-F238E27FC236}">
                  <a16:creationId xmlns:a16="http://schemas.microsoft.com/office/drawing/2014/main" id="{444C40B5-D71A-74B4-3853-42B5B0A349FF}"/>
                </a:ext>
              </a:extLst>
            </p:cNvPr>
            <p:cNvSpPr/>
            <p:nvPr/>
          </p:nvSpPr>
          <p:spPr>
            <a:xfrm flipH="1">
              <a:off x="6151754" y="3328416"/>
              <a:ext cx="2870326" cy="2676708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63" name="Text 25">
              <a:extLst>
                <a:ext uri="{FF2B5EF4-FFF2-40B4-BE49-F238E27FC236}">
                  <a16:creationId xmlns:a16="http://schemas.microsoft.com/office/drawing/2014/main" id="{EFA1AF10-26F8-B5F8-D7B0-FFF9F0BA1949}"/>
                </a:ext>
              </a:extLst>
            </p:cNvPr>
            <p:cNvSpPr/>
            <p:nvPr/>
          </p:nvSpPr>
          <p:spPr>
            <a:xfrm>
              <a:off x="2877374" y="4134854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Speculative invoke</a:t>
              </a:r>
            </a:p>
          </p:txBody>
        </p:sp>
        <p:sp>
          <p:nvSpPr>
            <p:cNvPr id="64" name="Text 22">
              <a:extLst>
                <a:ext uri="{FF2B5EF4-FFF2-40B4-BE49-F238E27FC236}">
                  <a16:creationId xmlns:a16="http://schemas.microsoft.com/office/drawing/2014/main" id="{1BD34F0B-7F1F-6617-C11F-368852BEBBB9}"/>
                </a:ext>
              </a:extLst>
            </p:cNvPr>
            <p:cNvSpPr/>
            <p:nvPr/>
          </p:nvSpPr>
          <p:spPr>
            <a:xfrm>
              <a:off x="6207008" y="2210448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Commit</a:t>
              </a:r>
              <a:endParaRPr lang="en-US" dirty="0">
                <a:solidFill>
                  <a:schemeClr val="dk1"/>
                </a:solidFill>
              </a:endParaRPr>
            </a:p>
          </p:txBody>
        </p:sp>
      </p:grpSp>
      <p:sp>
        <p:nvSpPr>
          <p:cNvPr id="2" name="Text 25">
            <a:extLst>
              <a:ext uri="{FF2B5EF4-FFF2-40B4-BE49-F238E27FC236}">
                <a16:creationId xmlns:a16="http://schemas.microsoft.com/office/drawing/2014/main" id="{2BB34BC3-A67A-27E8-FB72-E2D9E004B907}"/>
              </a:ext>
            </a:extLst>
          </p:cNvPr>
          <p:cNvSpPr/>
          <p:nvPr/>
        </p:nvSpPr>
        <p:spPr>
          <a:xfrm>
            <a:off x="7477040" y="4621141"/>
            <a:ext cx="1386161" cy="268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Completed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49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105E23F7-02E9-DB2B-77F0-94AD7616FF3C}"/>
              </a:ext>
            </a:extLst>
          </p:cNvPr>
          <p:cNvGrpSpPr/>
          <p:nvPr/>
        </p:nvGrpSpPr>
        <p:grpSpPr>
          <a:xfrm>
            <a:off x="1119618" y="1806398"/>
            <a:ext cx="9952764" cy="4371812"/>
            <a:chOff x="424180" y="1438098"/>
            <a:chExt cx="9952764" cy="4371812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4F6BA580-F30E-0860-0468-0002783715B1}"/>
                </a:ext>
              </a:extLst>
            </p:cNvPr>
            <p:cNvSpPr/>
            <p:nvPr/>
          </p:nvSpPr>
          <p:spPr>
            <a:xfrm>
              <a:off x="497691" y="1651987"/>
              <a:ext cx="5782609" cy="2363479"/>
            </a:xfrm>
            <a:prstGeom prst="rect">
              <a:avLst/>
            </a:prstGeom>
            <a:solidFill>
              <a:srgbClr val="F8FAFC"/>
            </a:solidFill>
            <a:ln w="2540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pPr algn="ctr">
                <a:spcBef>
                  <a:spcPts val="2000"/>
                </a:spcBef>
              </a:pPr>
              <a:endParaRPr lang="en-US" altLang="zh-CN" sz="2400" b="1" dirty="0"/>
            </a:p>
          </p:txBody>
        </p:sp>
        <p:pic>
          <p:nvPicPr>
            <p:cNvPr id="5" name="Image 0" descr="preencoded.png">
              <a:extLst>
                <a:ext uri="{FF2B5EF4-FFF2-40B4-BE49-F238E27FC236}">
                  <a16:creationId xmlns:a16="http://schemas.microsoft.com/office/drawing/2014/main" id="{7F5FD1C6-5A5C-CECB-D298-9366BD131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88024" y="1693630"/>
              <a:ext cx="2788920" cy="1600200"/>
            </a:xfrm>
            <a:prstGeom prst="rect">
              <a:avLst/>
            </a:prstGeom>
          </p:spPr>
        </p:pic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377595D1-0E29-BD79-3F56-2B2B6111CAC0}"/>
                </a:ext>
              </a:extLst>
            </p:cNvPr>
            <p:cNvSpPr/>
            <p:nvPr/>
          </p:nvSpPr>
          <p:spPr>
            <a:xfrm>
              <a:off x="6482781" y="1890969"/>
              <a:ext cx="1417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Interaction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7" name="Shape 2">
              <a:extLst>
                <a:ext uri="{FF2B5EF4-FFF2-40B4-BE49-F238E27FC236}">
                  <a16:creationId xmlns:a16="http://schemas.microsoft.com/office/drawing/2014/main" id="{E250B8C1-42EF-634B-5246-73CC6E18AF9F}"/>
                </a:ext>
              </a:extLst>
            </p:cNvPr>
            <p:cNvSpPr/>
            <p:nvPr/>
          </p:nvSpPr>
          <p:spPr>
            <a:xfrm>
              <a:off x="6456198" y="2244954"/>
              <a:ext cx="1417123" cy="713232"/>
            </a:xfrm>
            <a:prstGeom prst="leftRight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C32A5EB0-7AF7-8F66-6422-E53C5D1D8279}"/>
                </a:ext>
              </a:extLst>
            </p:cNvPr>
            <p:cNvGrpSpPr/>
            <p:nvPr/>
          </p:nvGrpSpPr>
          <p:grpSpPr>
            <a:xfrm>
              <a:off x="8479562" y="4575134"/>
              <a:ext cx="1005840" cy="1234776"/>
              <a:chOff x="9306091" y="4393063"/>
              <a:chExt cx="1005840" cy="1234776"/>
            </a:xfrm>
          </p:grpSpPr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350811FC-AA15-6A68-31C7-1A8A2FD79D2A}"/>
                  </a:ext>
                </a:extLst>
              </p:cNvPr>
              <p:cNvGrpSpPr/>
              <p:nvPr/>
            </p:nvGrpSpPr>
            <p:grpSpPr>
              <a:xfrm>
                <a:off x="9526119" y="4393063"/>
                <a:ext cx="565785" cy="843611"/>
                <a:chOff x="1865947" y="4084776"/>
                <a:chExt cx="565785" cy="843611"/>
              </a:xfrm>
            </p:grpSpPr>
            <p:sp>
              <p:nvSpPr>
                <p:cNvPr id="46" name="任意多边形: 形状 45">
                  <a:extLst>
                    <a:ext uri="{FF2B5EF4-FFF2-40B4-BE49-F238E27FC236}">
                      <a16:creationId xmlns:a16="http://schemas.microsoft.com/office/drawing/2014/main" id="{9E0668B4-E54C-46B9-3A40-A0F34F81B2D6}"/>
                    </a:ext>
                  </a:extLst>
                </p:cNvPr>
                <p:cNvSpPr/>
                <p:nvPr/>
              </p:nvSpPr>
              <p:spPr>
                <a:xfrm>
                  <a:off x="1960244" y="4084776"/>
                  <a:ext cx="377190" cy="370332"/>
                </a:xfrm>
                <a:custGeom>
                  <a:avLst/>
                  <a:gdLst>
                    <a:gd name="connsiteX0" fmla="*/ 377190 w 377190"/>
                    <a:gd name="connsiteY0" fmla="*/ 185166 h 370332"/>
                    <a:gd name="connsiteX1" fmla="*/ 188595 w 377190"/>
                    <a:gd name="connsiteY1" fmla="*/ 370332 h 370332"/>
                    <a:gd name="connsiteX2" fmla="*/ 0 w 377190"/>
                    <a:gd name="connsiteY2" fmla="*/ 185166 h 370332"/>
                    <a:gd name="connsiteX3" fmla="*/ 188595 w 377190"/>
                    <a:gd name="connsiteY3" fmla="*/ 0 h 370332"/>
                    <a:gd name="connsiteX4" fmla="*/ 377190 w 377190"/>
                    <a:gd name="connsiteY4" fmla="*/ 185166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7190" h="370332">
                      <a:moveTo>
                        <a:pt x="377190" y="185166"/>
                      </a:moveTo>
                      <a:cubicBezTo>
                        <a:pt x="377190" y="287430"/>
                        <a:pt x="292753" y="370332"/>
                        <a:pt x="188595" y="370332"/>
                      </a:cubicBezTo>
                      <a:cubicBezTo>
                        <a:pt x="84437" y="370332"/>
                        <a:pt x="0" y="287430"/>
                        <a:pt x="0" y="185166"/>
                      </a:cubicBezTo>
                      <a:cubicBezTo>
                        <a:pt x="0" y="82902"/>
                        <a:pt x="84437" y="0"/>
                        <a:pt x="188595" y="0"/>
                      </a:cubicBezTo>
                      <a:cubicBezTo>
                        <a:pt x="292753" y="0"/>
                        <a:pt x="377190" y="82902"/>
                        <a:pt x="377190" y="185166"/>
                      </a:cubicBezTo>
                      <a:close/>
                    </a:path>
                  </a:pathLst>
                </a:custGeom>
                <a:noFill/>
                <a:ln w="37505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47" name="任意多边形: 形状 46">
                  <a:extLst>
                    <a:ext uri="{FF2B5EF4-FFF2-40B4-BE49-F238E27FC236}">
                      <a16:creationId xmlns:a16="http://schemas.microsoft.com/office/drawing/2014/main" id="{D5532900-E4B2-5405-2B5D-51A67049EFA6}"/>
                    </a:ext>
                  </a:extLst>
                </p:cNvPr>
                <p:cNvSpPr/>
                <p:nvPr/>
              </p:nvSpPr>
              <p:spPr>
                <a:xfrm>
                  <a:off x="1865947" y="4527194"/>
                  <a:ext cx="565785" cy="395020"/>
                </a:xfrm>
                <a:custGeom>
                  <a:avLst/>
                  <a:gdLst>
                    <a:gd name="connsiteX0" fmla="*/ 0 w 565785"/>
                    <a:gd name="connsiteY0" fmla="*/ 395021 h 395020"/>
                    <a:gd name="connsiteX1" fmla="*/ 282893 w 565785"/>
                    <a:gd name="connsiteY1" fmla="*/ 0 h 395020"/>
                    <a:gd name="connsiteX2" fmla="*/ 565785 w 565785"/>
                    <a:gd name="connsiteY2" fmla="*/ 395021 h 3950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65785" h="395020">
                      <a:moveTo>
                        <a:pt x="0" y="395021"/>
                      </a:moveTo>
                      <a:cubicBezTo>
                        <a:pt x="0" y="123444"/>
                        <a:pt x="125730" y="0"/>
                        <a:pt x="282893" y="0"/>
                      </a:cubicBezTo>
                      <a:cubicBezTo>
                        <a:pt x="440055" y="0"/>
                        <a:pt x="565785" y="123444"/>
                        <a:pt x="565785" y="395021"/>
                      </a:cubicBezTo>
                    </a:path>
                  </a:pathLst>
                </a:custGeom>
                <a:noFill/>
                <a:ln w="37505" cap="rnd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48" name="任意多边形: 形状 47">
                  <a:extLst>
                    <a:ext uri="{FF2B5EF4-FFF2-40B4-BE49-F238E27FC236}">
                      <a16:creationId xmlns:a16="http://schemas.microsoft.com/office/drawing/2014/main" id="{823B2BE2-2874-C00A-AA5A-752BAE44C29A}"/>
                    </a:ext>
                  </a:extLst>
                </p:cNvPr>
                <p:cNvSpPr/>
                <p:nvPr/>
              </p:nvSpPr>
              <p:spPr>
                <a:xfrm>
                  <a:off x="1865947" y="4922215"/>
                  <a:ext cx="565785" cy="6172"/>
                </a:xfrm>
                <a:custGeom>
                  <a:avLst/>
                  <a:gdLst>
                    <a:gd name="connsiteX0" fmla="*/ 0 w 565785"/>
                    <a:gd name="connsiteY0" fmla="*/ 0 h 6172"/>
                    <a:gd name="connsiteX1" fmla="*/ 565785 w 565785"/>
                    <a:gd name="connsiteY1" fmla="*/ 0 h 6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65785" h="6172">
                      <a:moveTo>
                        <a:pt x="0" y="0"/>
                      </a:moveTo>
                      <a:lnTo>
                        <a:pt x="565785" y="0"/>
                      </a:lnTo>
                    </a:path>
                  </a:pathLst>
                </a:custGeom>
                <a:noFill/>
                <a:ln w="37505" cap="rnd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537DD5AA-56F8-036E-B7AF-EFB56830BDD1}"/>
                  </a:ext>
                </a:extLst>
              </p:cNvPr>
              <p:cNvSpPr/>
              <p:nvPr/>
            </p:nvSpPr>
            <p:spPr>
              <a:xfrm>
                <a:off x="9306091" y="5307799"/>
                <a:ext cx="100584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400" dirty="0"/>
                  <a:t>User</a:t>
                </a:r>
              </a:p>
            </p:txBody>
          </p:sp>
        </p:grp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6A247319-E928-0AC1-1966-3ADC4E3A21CD}"/>
                </a:ext>
              </a:extLst>
            </p:cNvPr>
            <p:cNvSpPr/>
            <p:nvPr/>
          </p:nvSpPr>
          <p:spPr>
            <a:xfrm rot="5400000">
              <a:off x="7300589" y="4254128"/>
              <a:ext cx="502920" cy="1815847"/>
            </a:xfrm>
            <a:prstGeom prst="up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11" name="Text 5">
              <a:extLst>
                <a:ext uri="{FF2B5EF4-FFF2-40B4-BE49-F238E27FC236}">
                  <a16:creationId xmlns:a16="http://schemas.microsoft.com/office/drawing/2014/main" id="{44BD4A7A-B5A5-94C9-ADA0-6581FE23A036}"/>
                </a:ext>
              </a:extLst>
            </p:cNvPr>
            <p:cNvSpPr/>
            <p:nvPr/>
          </p:nvSpPr>
          <p:spPr>
            <a:xfrm>
              <a:off x="9160768" y="3423274"/>
              <a:ext cx="1203473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Deploy </a:t>
              </a:r>
            </a:p>
            <a:p>
              <a:pPr marL="0" indent="0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Workflow</a:t>
              </a:r>
            </a:p>
          </p:txBody>
        </p:sp>
        <p:sp>
          <p:nvSpPr>
            <p:cNvPr id="12" name="Text 6">
              <a:extLst>
                <a:ext uri="{FF2B5EF4-FFF2-40B4-BE49-F238E27FC236}">
                  <a16:creationId xmlns:a16="http://schemas.microsoft.com/office/drawing/2014/main" id="{45B4A606-9253-E4B9-41A2-B47BB703640E}"/>
                </a:ext>
              </a:extLst>
            </p:cNvPr>
            <p:cNvSpPr/>
            <p:nvPr/>
          </p:nvSpPr>
          <p:spPr>
            <a:xfrm>
              <a:off x="6777596" y="4490090"/>
              <a:ext cx="1620855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Programming Framework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3667AFC3-47F4-8131-C90F-D67E81F10EA3}"/>
                </a:ext>
              </a:extLst>
            </p:cNvPr>
            <p:cNvSpPr/>
            <p:nvPr/>
          </p:nvSpPr>
          <p:spPr>
            <a:xfrm rot="5400000">
              <a:off x="8291767" y="3439328"/>
              <a:ext cx="1381431" cy="502920"/>
            </a:xfrm>
            <a:prstGeom prst="left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24" name="Shape 18">
              <a:extLst>
                <a:ext uri="{FF2B5EF4-FFF2-40B4-BE49-F238E27FC236}">
                  <a16:creationId xmlns:a16="http://schemas.microsoft.com/office/drawing/2014/main" id="{6E656889-B9DF-3B38-2BCE-E9E3E4532493}"/>
                </a:ext>
              </a:extLst>
            </p:cNvPr>
            <p:cNvSpPr/>
            <p:nvPr/>
          </p:nvSpPr>
          <p:spPr>
            <a:xfrm>
              <a:off x="532471" y="4860067"/>
              <a:ext cx="5747829" cy="640080"/>
            </a:xfrm>
            <a:prstGeom prst="rect">
              <a:avLst/>
            </a:prstGeom>
            <a:solidFill>
              <a:srgbClr val="F8FAFC"/>
            </a:solidFill>
            <a:ln w="2540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pPr algn="ctr">
                <a:spcBef>
                  <a:spcPts val="2000"/>
                </a:spcBef>
              </a:pPr>
              <a:endParaRPr lang="en-US" altLang="zh-CN" sz="2400" b="1" dirty="0"/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D0CCF9FF-0680-D413-B847-F4D0971ACDE6}"/>
                </a:ext>
              </a:extLst>
            </p:cNvPr>
            <p:cNvSpPr/>
            <p:nvPr/>
          </p:nvSpPr>
          <p:spPr>
            <a:xfrm>
              <a:off x="424180" y="4926713"/>
              <a:ext cx="626364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sz="2200" dirty="0"/>
            </a:p>
          </p:txBody>
        </p:sp>
        <p:sp>
          <p:nvSpPr>
            <p:cNvPr id="26" name="Shape 20">
              <a:extLst>
                <a:ext uri="{FF2B5EF4-FFF2-40B4-BE49-F238E27FC236}">
                  <a16:creationId xmlns:a16="http://schemas.microsoft.com/office/drawing/2014/main" id="{DE878C9D-11EC-45DB-619B-B2DEBDE414D5}"/>
                </a:ext>
              </a:extLst>
            </p:cNvPr>
            <p:cNvSpPr/>
            <p:nvPr/>
          </p:nvSpPr>
          <p:spPr>
            <a:xfrm>
              <a:off x="3247116" y="4087552"/>
              <a:ext cx="364149" cy="640080"/>
            </a:xfrm>
            <a:prstGeom prst="up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27" name="Text 21">
              <a:extLst>
                <a:ext uri="{FF2B5EF4-FFF2-40B4-BE49-F238E27FC236}">
                  <a16:creationId xmlns:a16="http://schemas.microsoft.com/office/drawing/2014/main" id="{AE5DEB92-3327-2913-98B7-3DC9E9AD7DE9}"/>
                </a:ext>
              </a:extLst>
            </p:cNvPr>
            <p:cNvSpPr/>
            <p:nvPr/>
          </p:nvSpPr>
          <p:spPr>
            <a:xfrm>
              <a:off x="3664290" y="4250990"/>
              <a:ext cx="118710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Guidance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E0602C2E-9899-80C2-6746-042237351A4D}"/>
                </a:ext>
              </a:extLst>
            </p:cNvPr>
            <p:cNvGrpSpPr/>
            <p:nvPr/>
          </p:nvGrpSpPr>
          <p:grpSpPr>
            <a:xfrm>
              <a:off x="872384" y="2195740"/>
              <a:ext cx="2395324" cy="667708"/>
              <a:chOff x="3489960" y="2446020"/>
              <a:chExt cx="1325880" cy="960120"/>
            </a:xfrm>
          </p:grpSpPr>
          <p:sp>
            <p:nvSpPr>
              <p:cNvPr id="36" name="Shape 15">
                <a:extLst>
                  <a:ext uri="{FF2B5EF4-FFF2-40B4-BE49-F238E27FC236}">
                    <a16:creationId xmlns:a16="http://schemas.microsoft.com/office/drawing/2014/main" id="{B589031A-3D76-A650-F4D2-402632174616}"/>
                  </a:ext>
                </a:extLst>
              </p:cNvPr>
              <p:cNvSpPr/>
              <p:nvPr/>
            </p:nvSpPr>
            <p:spPr>
              <a:xfrm>
                <a:off x="3489960" y="2446020"/>
                <a:ext cx="1325880" cy="960120"/>
              </a:xfrm>
              <a:prstGeom prst="roundRect">
                <a:avLst/>
              </a:prstGeom>
              <a:solidFill>
                <a:srgbClr val="EEF2FF"/>
              </a:solidFill>
              <a:ln w="12700">
                <a:solidFill>
                  <a:srgbClr val="334155"/>
                </a:solidFill>
                <a:prstDash val="solid"/>
              </a:ln>
              <a:effectLst>
                <a:outerShdw blurRad="38100" dist="19050" dir="2700000" algn="bl" rotWithShape="0">
                  <a:srgbClr val="000000">
                    <a:alpha val="15000"/>
                  </a:srgbClr>
                </a:outerShdw>
              </a:effec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Text 16">
                <a:extLst>
                  <a:ext uri="{FF2B5EF4-FFF2-40B4-BE49-F238E27FC236}">
                    <a16:creationId xmlns:a16="http://schemas.microsoft.com/office/drawing/2014/main" id="{C603D1EE-3E42-4FEA-2758-F951063DBA65}"/>
                  </a:ext>
                </a:extLst>
              </p:cNvPr>
              <p:cNvSpPr/>
              <p:nvPr/>
            </p:nvSpPr>
            <p:spPr>
              <a:xfrm>
                <a:off x="3581400" y="2516786"/>
                <a:ext cx="11430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indent="0" algn="ctr">
                  <a:buNone/>
                </a:pPr>
                <a:r>
                  <a:rPr lang="en-US" dirty="0">
                    <a:solidFill>
                      <a:schemeClr val="dk1"/>
                    </a:solidFill>
                  </a:rPr>
                  <a:t>Prediction </a:t>
                </a:r>
              </a:p>
              <a:p>
                <a:pPr indent="0" algn="ctr">
                  <a:buNone/>
                </a:pPr>
                <a:r>
                  <a:rPr lang="en-US" dirty="0">
                    <a:solidFill>
                      <a:schemeClr val="dk1"/>
                    </a:solidFill>
                  </a:rPr>
                  <a:t>Service</a:t>
                </a:r>
              </a:p>
            </p:txBody>
          </p:sp>
        </p:grpSp>
        <p:sp>
          <p:nvSpPr>
            <p:cNvPr id="38" name="Shape 17">
              <a:extLst>
                <a:ext uri="{FF2B5EF4-FFF2-40B4-BE49-F238E27FC236}">
                  <a16:creationId xmlns:a16="http://schemas.microsoft.com/office/drawing/2014/main" id="{620D3A45-B8B5-C12A-45DC-27682FB7F539}"/>
                </a:ext>
              </a:extLst>
            </p:cNvPr>
            <p:cNvSpPr/>
            <p:nvPr/>
          </p:nvSpPr>
          <p:spPr>
            <a:xfrm>
              <a:off x="3664291" y="2207551"/>
              <a:ext cx="2395324" cy="667708"/>
            </a:xfrm>
            <a:prstGeom prst="roundRect">
              <a:avLst/>
            </a:prstGeom>
            <a:solidFill>
              <a:srgbClr val="ECFDF5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Gating &amp; Budgeting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</p:txBody>
        </p:sp>
        <p:sp>
          <p:nvSpPr>
            <p:cNvPr id="39" name="Shape 19">
              <a:extLst>
                <a:ext uri="{FF2B5EF4-FFF2-40B4-BE49-F238E27FC236}">
                  <a16:creationId xmlns:a16="http://schemas.microsoft.com/office/drawing/2014/main" id="{1C7670E4-46BF-5131-35D1-B97032782888}"/>
                </a:ext>
              </a:extLst>
            </p:cNvPr>
            <p:cNvSpPr/>
            <p:nvPr/>
          </p:nvSpPr>
          <p:spPr>
            <a:xfrm>
              <a:off x="3647533" y="3104332"/>
              <a:ext cx="2395324" cy="667708"/>
            </a:xfrm>
            <a:prstGeom prst="roundRect">
              <a:avLst/>
            </a:prstGeom>
            <a:solidFill>
              <a:srgbClr val="FFF7ED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Buffering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</p:txBody>
        </p:sp>
        <p:sp>
          <p:nvSpPr>
            <p:cNvPr id="40" name="Shape 21">
              <a:extLst>
                <a:ext uri="{FF2B5EF4-FFF2-40B4-BE49-F238E27FC236}">
                  <a16:creationId xmlns:a16="http://schemas.microsoft.com/office/drawing/2014/main" id="{0C0FE419-951C-22CA-BF38-63D36BAA4571}"/>
                </a:ext>
              </a:extLst>
            </p:cNvPr>
            <p:cNvSpPr/>
            <p:nvPr/>
          </p:nvSpPr>
          <p:spPr>
            <a:xfrm>
              <a:off x="870343" y="3104332"/>
              <a:ext cx="2395325" cy="667708"/>
            </a:xfrm>
            <a:prstGeom prst="roundRect">
              <a:avLst/>
            </a:prstGeom>
            <a:solidFill>
              <a:srgbClr val="FEF2F2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Validation  &amp; Recovery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  <a:p>
              <a:endParaRPr lang="zh-CN" altLang="en-US" dirty="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02E962E-B3E4-1347-1CB7-14B78CEF3736}"/>
                </a:ext>
              </a:extLst>
            </p:cNvPr>
            <p:cNvSpPr txBox="1"/>
            <p:nvPr/>
          </p:nvSpPr>
          <p:spPr>
            <a:xfrm>
              <a:off x="7680179" y="1438098"/>
              <a:ext cx="268406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altLang="zh-CN" sz="2000" b="1" dirty="0"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Platform</a:t>
              </a:r>
              <a:endParaRPr lang="en-US" altLang="zh-CN" sz="2000" b="1" dirty="0"/>
            </a:p>
          </p:txBody>
        </p:sp>
        <p:sp>
          <p:nvSpPr>
            <p:cNvPr id="50" name="Text 13">
              <a:extLst>
                <a:ext uri="{FF2B5EF4-FFF2-40B4-BE49-F238E27FC236}">
                  <a16:creationId xmlns:a16="http://schemas.microsoft.com/office/drawing/2014/main" id="{0172D709-06B1-1336-7429-FAEE6B225512}"/>
                </a:ext>
              </a:extLst>
            </p:cNvPr>
            <p:cNvSpPr/>
            <p:nvPr/>
          </p:nvSpPr>
          <p:spPr>
            <a:xfrm>
              <a:off x="1897570" y="4948823"/>
              <a:ext cx="3063240" cy="391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dirty="0"/>
                <a:t>The </a:t>
              </a:r>
              <a:r>
                <a:rPr lang="en-US" altLang="zh-CN" sz="2400" dirty="0" err="1"/>
                <a:t>SpecSW</a:t>
              </a:r>
              <a:r>
                <a:rPr lang="en-US" altLang="zh-CN" sz="2400" dirty="0"/>
                <a:t> </a:t>
              </a:r>
              <a:r>
                <a:rPr lang="en-US" altLang="zh-CN" sz="2400" b="1" dirty="0"/>
                <a:t>Method</a:t>
              </a:r>
            </a:p>
            <a:p>
              <a:pPr indent="0" algn="ctr">
                <a:buNone/>
              </a:pP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52" name="Text 13">
              <a:extLst>
                <a:ext uri="{FF2B5EF4-FFF2-40B4-BE49-F238E27FC236}">
                  <a16:creationId xmlns:a16="http://schemas.microsoft.com/office/drawing/2014/main" id="{8D6EFF6D-7447-8487-3892-DB8FA16184F6}"/>
                </a:ext>
              </a:extLst>
            </p:cNvPr>
            <p:cNvSpPr/>
            <p:nvPr/>
          </p:nvSpPr>
          <p:spPr>
            <a:xfrm>
              <a:off x="1897570" y="1693630"/>
              <a:ext cx="3063240" cy="391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dirty="0"/>
                <a:t>The </a:t>
              </a:r>
              <a:r>
                <a:rPr lang="en-US" altLang="zh-CN" sz="2400" dirty="0" err="1"/>
                <a:t>SpecSW</a:t>
              </a:r>
              <a:r>
                <a:rPr lang="en-US" altLang="zh-CN" sz="2400" dirty="0"/>
                <a:t> </a:t>
              </a:r>
              <a:r>
                <a:rPr lang="en-US" altLang="zh-CN" sz="2400" b="1" dirty="0"/>
                <a:t>System</a:t>
              </a:r>
            </a:p>
            <a:p>
              <a:pPr indent="0" algn="ctr">
                <a:buNone/>
              </a:pPr>
              <a:endParaRPr lang="en-US" sz="2000" dirty="0">
                <a:solidFill>
                  <a:schemeClr val="dk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5218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>
            <a:extLst>
              <a:ext uri="{FF2B5EF4-FFF2-40B4-BE49-F238E27FC236}">
                <a16:creationId xmlns:a16="http://schemas.microsoft.com/office/drawing/2014/main" id="{F141B2B2-AD0F-4610-81FD-4585F7B4A802}"/>
              </a:ext>
            </a:extLst>
          </p:cNvPr>
          <p:cNvSpPr/>
          <p:nvPr/>
        </p:nvSpPr>
        <p:spPr>
          <a:xfrm>
            <a:off x="594360" y="365760"/>
            <a:ext cx="1097280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6DF583C8-59CB-E888-AB7B-B7A389EC143E}"/>
              </a:ext>
            </a:extLst>
          </p:cNvPr>
          <p:cNvSpPr/>
          <p:nvPr/>
        </p:nvSpPr>
        <p:spPr>
          <a:xfrm>
            <a:off x="594360" y="438912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SpecSW—Serverless 工作流投机执行编程框架</a:t>
            </a:r>
            <a:endParaRPr lang="en-US" sz="2000" dirty="0"/>
          </a:p>
        </p:txBody>
      </p:sp>
      <p:sp>
        <p:nvSpPr>
          <p:cNvPr id="30" name="Shape 2">
            <a:extLst>
              <a:ext uri="{FF2B5EF4-FFF2-40B4-BE49-F238E27FC236}">
                <a16:creationId xmlns:a16="http://schemas.microsoft.com/office/drawing/2014/main" id="{0F9F212A-B4C5-C2A9-2F59-005CD1B43EB5}"/>
              </a:ext>
            </a:extLst>
          </p:cNvPr>
          <p:cNvSpPr/>
          <p:nvPr/>
        </p:nvSpPr>
        <p:spPr>
          <a:xfrm>
            <a:off x="960120" y="932688"/>
            <a:ext cx="489204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A82D08BE-9D44-8381-0932-BD476CFEE49B}"/>
              </a:ext>
            </a:extLst>
          </p:cNvPr>
          <p:cNvSpPr/>
          <p:nvPr/>
        </p:nvSpPr>
        <p:spPr>
          <a:xfrm>
            <a:off x="960120" y="932688"/>
            <a:ext cx="4892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工作流描述与注解规范</a:t>
            </a:r>
            <a:endParaRPr lang="en-US" sz="1600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AC77FA24-928B-7FA4-5182-6BEB57F23A0F}"/>
              </a:ext>
            </a:extLst>
          </p:cNvPr>
          <p:cNvSpPr/>
          <p:nvPr/>
        </p:nvSpPr>
        <p:spPr>
          <a:xfrm>
            <a:off x="6309360" y="932688"/>
            <a:ext cx="489204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B78A48E5-E6D5-22C6-3F4E-E193739F9BB3}"/>
              </a:ext>
            </a:extLst>
          </p:cNvPr>
          <p:cNvSpPr/>
          <p:nvPr/>
        </p:nvSpPr>
        <p:spPr>
          <a:xfrm>
            <a:off x="6309360" y="932688"/>
            <a:ext cx="4892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运行时接口与策略API</a:t>
            </a:r>
            <a:endParaRPr lang="en-US" sz="1600" dirty="0"/>
          </a:p>
        </p:txBody>
      </p:sp>
      <p:sp>
        <p:nvSpPr>
          <p:cNvPr id="34" name="Shape 6">
            <a:extLst>
              <a:ext uri="{FF2B5EF4-FFF2-40B4-BE49-F238E27FC236}">
                <a16:creationId xmlns:a16="http://schemas.microsoft.com/office/drawing/2014/main" id="{EF0CE213-CB24-8916-A973-5B543448DD63}"/>
              </a:ext>
            </a:extLst>
          </p:cNvPr>
          <p:cNvSpPr/>
          <p:nvPr/>
        </p:nvSpPr>
        <p:spPr>
          <a:xfrm>
            <a:off x="594360" y="1965960"/>
            <a:ext cx="1097280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2D63D094-1694-2442-2287-0D7AA4B652C2}"/>
              </a:ext>
            </a:extLst>
          </p:cNvPr>
          <p:cNvSpPr/>
          <p:nvPr/>
        </p:nvSpPr>
        <p:spPr>
          <a:xfrm>
            <a:off x="594360" y="2039112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SpecSW—Serverless 工作流投机执行模型</a:t>
            </a:r>
            <a:endParaRPr lang="en-US" sz="2000" dirty="0"/>
          </a:p>
        </p:txBody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C578D7C8-5E84-73FD-F14E-016109EB40D5}"/>
              </a:ext>
            </a:extLst>
          </p:cNvPr>
          <p:cNvSpPr/>
          <p:nvPr/>
        </p:nvSpPr>
        <p:spPr>
          <a:xfrm>
            <a:off x="960120" y="2532888"/>
            <a:ext cx="31699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20657FB9-3608-20A0-B849-5CDB280E7086}"/>
              </a:ext>
            </a:extLst>
          </p:cNvPr>
          <p:cNvSpPr/>
          <p:nvPr/>
        </p:nvSpPr>
        <p:spPr>
          <a:xfrm>
            <a:off x="960120" y="2532888"/>
            <a:ext cx="3169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模型定义</a:t>
            </a:r>
            <a:endParaRPr lang="en-US" sz="1600" dirty="0"/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74726928-6414-E8D0-695D-7ECBECA0F1B4}"/>
              </a:ext>
            </a:extLst>
          </p:cNvPr>
          <p:cNvSpPr/>
          <p:nvPr/>
        </p:nvSpPr>
        <p:spPr>
          <a:xfrm>
            <a:off x="4495800" y="2532888"/>
            <a:ext cx="31699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9490749F-CC97-5ED2-9390-20C2ECABA347}"/>
              </a:ext>
            </a:extLst>
          </p:cNvPr>
          <p:cNvSpPr/>
          <p:nvPr/>
        </p:nvSpPr>
        <p:spPr>
          <a:xfrm>
            <a:off x="4495800" y="2532888"/>
            <a:ext cx="3169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模型组件</a:t>
            </a:r>
            <a:endParaRPr lang="en-US" sz="1600" dirty="0"/>
          </a:p>
        </p:txBody>
      </p:sp>
      <p:sp>
        <p:nvSpPr>
          <p:cNvPr id="40" name="Shape 12">
            <a:extLst>
              <a:ext uri="{FF2B5EF4-FFF2-40B4-BE49-F238E27FC236}">
                <a16:creationId xmlns:a16="http://schemas.microsoft.com/office/drawing/2014/main" id="{04118ECC-B42D-7DB2-A3D0-966D921C3CED}"/>
              </a:ext>
            </a:extLst>
          </p:cNvPr>
          <p:cNvSpPr/>
          <p:nvPr/>
        </p:nvSpPr>
        <p:spPr>
          <a:xfrm>
            <a:off x="8031480" y="2532888"/>
            <a:ext cx="31699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7AF06E9D-8BA7-CCB4-E73D-0ED06D91AD86}"/>
              </a:ext>
            </a:extLst>
          </p:cNvPr>
          <p:cNvSpPr/>
          <p:nvPr/>
        </p:nvSpPr>
        <p:spPr>
          <a:xfrm>
            <a:off x="8031480" y="2532888"/>
            <a:ext cx="3169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模型运行时行为</a:t>
            </a:r>
            <a:endParaRPr lang="en-US" sz="1600" dirty="0"/>
          </a:p>
        </p:txBody>
      </p:sp>
      <p:sp>
        <p:nvSpPr>
          <p:cNvPr id="42" name="Shape 14">
            <a:extLst>
              <a:ext uri="{FF2B5EF4-FFF2-40B4-BE49-F238E27FC236}">
                <a16:creationId xmlns:a16="http://schemas.microsoft.com/office/drawing/2014/main" id="{6D75D752-C317-3B87-4661-23942EEB3701}"/>
              </a:ext>
            </a:extLst>
          </p:cNvPr>
          <p:cNvSpPr/>
          <p:nvPr/>
        </p:nvSpPr>
        <p:spPr>
          <a:xfrm>
            <a:off x="594360" y="3566160"/>
            <a:ext cx="10972800" cy="2788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EA8D2B65-332E-A5EB-2B9A-BBCBAE86A5AD}"/>
              </a:ext>
            </a:extLst>
          </p:cNvPr>
          <p:cNvSpPr/>
          <p:nvPr/>
        </p:nvSpPr>
        <p:spPr>
          <a:xfrm>
            <a:off x="594360" y="3639312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SpecSW—Serverless 工作流投机执行优化方法</a:t>
            </a:r>
            <a:endParaRPr lang="en-US" sz="2000" dirty="0"/>
          </a:p>
        </p:txBody>
      </p:sp>
      <p:sp>
        <p:nvSpPr>
          <p:cNvPr id="44" name="Shape 16">
            <a:extLst>
              <a:ext uri="{FF2B5EF4-FFF2-40B4-BE49-F238E27FC236}">
                <a16:creationId xmlns:a16="http://schemas.microsoft.com/office/drawing/2014/main" id="{F1313FF8-0DC8-45F7-B5EB-C20C7BCC24A7}"/>
              </a:ext>
            </a:extLst>
          </p:cNvPr>
          <p:cNvSpPr/>
          <p:nvPr/>
        </p:nvSpPr>
        <p:spPr>
          <a:xfrm>
            <a:off x="960120" y="4133088"/>
            <a:ext cx="4892040" cy="8595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690A3C64-6693-BC14-0196-1780EAFDD9C0}"/>
              </a:ext>
            </a:extLst>
          </p:cNvPr>
          <p:cNvSpPr/>
          <p:nvPr/>
        </p:nvSpPr>
        <p:spPr>
          <a:xfrm>
            <a:off x="960120" y="4133088"/>
            <a:ext cx="4892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分支预测优化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（上下文敏感 / 漂移自适应 / 循环感知）</a:t>
            </a:r>
            <a:endParaRPr lang="en-US" sz="1400" dirty="0"/>
          </a:p>
        </p:txBody>
      </p:sp>
      <p:sp>
        <p:nvSpPr>
          <p:cNvPr id="46" name="Shape 18">
            <a:extLst>
              <a:ext uri="{FF2B5EF4-FFF2-40B4-BE49-F238E27FC236}">
                <a16:creationId xmlns:a16="http://schemas.microsoft.com/office/drawing/2014/main" id="{E86A3271-20C0-8A28-41BF-3517BF06E976}"/>
              </a:ext>
            </a:extLst>
          </p:cNvPr>
          <p:cNvSpPr/>
          <p:nvPr/>
        </p:nvSpPr>
        <p:spPr>
          <a:xfrm>
            <a:off x="6309360" y="4133088"/>
            <a:ext cx="4892040" cy="8595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8ED59C21-1F94-3F57-3D38-FC6A52C171D7}"/>
              </a:ext>
            </a:extLst>
          </p:cNvPr>
          <p:cNvSpPr/>
          <p:nvPr/>
        </p:nvSpPr>
        <p:spPr>
          <a:xfrm>
            <a:off x="6309360" y="4133088"/>
            <a:ext cx="4892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候选集合构造（N-way）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与单阈值门控</a:t>
            </a:r>
            <a:endParaRPr lang="en-US" sz="1400" dirty="0"/>
          </a:p>
        </p:txBody>
      </p:sp>
      <p:sp>
        <p:nvSpPr>
          <p:cNvPr id="48" name="Shape 20">
            <a:extLst>
              <a:ext uri="{FF2B5EF4-FFF2-40B4-BE49-F238E27FC236}">
                <a16:creationId xmlns:a16="http://schemas.microsoft.com/office/drawing/2014/main" id="{82BCC128-242A-2742-9114-31518E1A044D}"/>
              </a:ext>
            </a:extLst>
          </p:cNvPr>
          <p:cNvSpPr/>
          <p:nvPr/>
        </p:nvSpPr>
        <p:spPr>
          <a:xfrm>
            <a:off x="960120" y="5266944"/>
            <a:ext cx="4892040" cy="8595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ABDC3829-4E0B-52DE-A02F-AA9AC82081E7}"/>
              </a:ext>
            </a:extLst>
          </p:cNvPr>
          <p:cNvSpPr/>
          <p:nvPr/>
        </p:nvSpPr>
        <p:spPr>
          <a:xfrm>
            <a:off x="960120" y="5266944"/>
            <a:ext cx="4892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并发预算约束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与可控退化（背压）</a:t>
            </a:r>
            <a:endParaRPr lang="en-US" sz="1400" dirty="0"/>
          </a:p>
        </p:txBody>
      </p:sp>
      <p:sp>
        <p:nvSpPr>
          <p:cNvPr id="50" name="Shape 22">
            <a:extLst>
              <a:ext uri="{FF2B5EF4-FFF2-40B4-BE49-F238E27FC236}">
                <a16:creationId xmlns:a16="http://schemas.microsoft.com/office/drawing/2014/main" id="{A93DFFC5-1B30-5C82-5E2C-CFC81421C80C}"/>
              </a:ext>
            </a:extLst>
          </p:cNvPr>
          <p:cNvSpPr/>
          <p:nvPr/>
        </p:nvSpPr>
        <p:spPr>
          <a:xfrm>
            <a:off x="6309360" y="5266944"/>
            <a:ext cx="4892040" cy="8595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A7A7A"/>
            </a:solidFill>
            <a:prstDash val="solid"/>
          </a:ln>
        </p:spPr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64873C94-5B65-ECF7-ED8D-703E687853E0}"/>
              </a:ext>
            </a:extLst>
          </p:cNvPr>
          <p:cNvSpPr/>
          <p:nvPr/>
        </p:nvSpPr>
        <p:spPr>
          <a:xfrm>
            <a:off x="6309360" y="5266944"/>
            <a:ext cx="489204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状态缓冲隔离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与验证 / 恢复机制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11305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FDD5D6CB-FE85-02AF-3D1F-253433BEABAA}"/>
              </a:ext>
            </a:extLst>
          </p:cNvPr>
          <p:cNvGrpSpPr/>
          <p:nvPr/>
        </p:nvGrpSpPr>
        <p:grpSpPr>
          <a:xfrm>
            <a:off x="319155" y="1883219"/>
            <a:ext cx="10571346" cy="4345848"/>
            <a:chOff x="319155" y="1883219"/>
            <a:chExt cx="10571346" cy="434584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B0619AAE-D481-C95E-E765-275544AE4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13331" y="3217559"/>
              <a:ext cx="1677170" cy="167717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B407AFCE-2210-3FFA-2435-41CA9ABC20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210"/>
            <a:stretch/>
          </p:blipFill>
          <p:spPr>
            <a:xfrm>
              <a:off x="319155" y="1963552"/>
              <a:ext cx="8585786" cy="4185184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EE2A0F62-9619-18AA-B76A-C04BDFE27075}"/>
                </a:ext>
              </a:extLst>
            </p:cNvPr>
            <p:cNvSpPr/>
            <p:nvPr/>
          </p:nvSpPr>
          <p:spPr>
            <a:xfrm>
              <a:off x="319155" y="1883219"/>
              <a:ext cx="7722048" cy="4345848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5577BB5-862E-0885-8F0C-20A8F09C22CA}"/>
                </a:ext>
              </a:extLst>
            </p:cNvPr>
            <p:cNvSpPr txBox="1"/>
            <p:nvPr/>
          </p:nvSpPr>
          <p:spPr>
            <a:xfrm>
              <a:off x="8349593" y="3640645"/>
              <a:ext cx="49084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4800" b="1" dirty="0"/>
                <a:t>+</a:t>
              </a:r>
              <a:endParaRPr lang="zh-CN" altLang="en-US" sz="4800" b="1" dirty="0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614BE567-6868-9755-CE5B-4279745D59D1}"/>
                </a:ext>
              </a:extLst>
            </p:cNvPr>
            <p:cNvSpPr/>
            <p:nvPr/>
          </p:nvSpPr>
          <p:spPr>
            <a:xfrm>
              <a:off x="9177551" y="3217559"/>
              <a:ext cx="1712949" cy="16771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31027728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2199</TotalTime>
  <Words>275</Words>
  <Application>Microsoft Office PowerPoint</Application>
  <PresentationFormat>宽屏</PresentationFormat>
  <Paragraphs>133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等线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 w</dc:creator>
  <cp:lastModifiedBy>cd w</cp:lastModifiedBy>
  <cp:revision>26</cp:revision>
  <dcterms:created xsi:type="dcterms:W3CDTF">2023-08-09T12:44:00Z</dcterms:created>
  <dcterms:modified xsi:type="dcterms:W3CDTF">2026-03-11T11:13:13Z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