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71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7ED"/>
    <a:srgbClr val="F8FAFC"/>
    <a:srgbClr val="F3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6" autoAdjust="0"/>
    <p:restoredTop sz="78033" autoAdjust="0"/>
  </p:normalViewPr>
  <p:slideViewPr>
    <p:cSldViewPr snapToGrid="0" showGuides="1">
      <p:cViewPr varScale="1">
        <p:scale>
          <a:sx n="88" d="100"/>
          <a:sy n="88" d="100"/>
        </p:scale>
        <p:origin x="534" y="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πₜ(vᵢ)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v₁</c:v>
                </c:pt>
                <c:pt idx="1">
                  <c:v>v₂</c:v>
                </c:pt>
                <c:pt idx="2">
                  <c:v>v₃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0.46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42-44F3-978F-88D8758FB2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b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 marL="0" algn="ctr" defTabSz="914400" rtl="0" eaLnBrk="1" latinLnBrk="0" hangingPunct="1">
        <a:defRPr lang="en-US" altLang="zh-CN" sz="1800" kern="1200">
          <a:solidFill>
            <a:schemeClr val="dk1"/>
          </a:solidFill>
          <a:latin typeface="+mn-lt"/>
          <a:ea typeface="+mn-ea"/>
          <a:cs typeface="+mn-cs"/>
        </a:defRPr>
      </a:pPr>
      <a:endParaRPr lang="zh-C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5AD5B5-6CBB-4946-BB99-91A038EC83D0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9D1D49-895D-4F5A-ABF8-27223E77D4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345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我现在绘制了这张图，现在请把它添加到原文的相关位置，要求：</a:t>
            </a:r>
          </a:p>
          <a:p>
            <a:r>
              <a:rPr lang="en-US" altLang="zh-CN" dirty="0"/>
              <a:t>1. </a:t>
            </a:r>
            <a:r>
              <a:rPr lang="zh-CN" altLang="en-US" dirty="0"/>
              <a:t>告诉我添加到哪个位置；</a:t>
            </a:r>
          </a:p>
          <a:p>
            <a:r>
              <a:rPr lang="en-US" altLang="zh-CN" dirty="0"/>
              <a:t>2. </a:t>
            </a:r>
            <a:r>
              <a:rPr lang="zh-CN" altLang="en-US" dirty="0"/>
              <a:t>将图片和原文中的一两句描述文字告诉我，使用</a:t>
            </a:r>
            <a:r>
              <a:rPr lang="en-US" altLang="zh-CN" dirty="0"/>
              <a:t>latex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D1D49-895D-4F5A-ABF8-27223E77D4B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7162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D1D49-895D-4F5A-ABF8-27223E77D4B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315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D1D49-895D-4F5A-ABF8-27223E77D4B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99177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弃用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弃用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D1D49-895D-4F5A-ABF8-27223E77D4B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6939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D1D49-895D-4F5A-ABF8-27223E77D4B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21423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D1D49-895D-4F5A-ABF8-27223E77D4B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6275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8836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2026/4/22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BE0D148-94B8-55FF-18EC-A0F39AE49578}"/>
              </a:ext>
            </a:extLst>
          </p:cNvPr>
          <p:cNvSpPr txBox="1"/>
          <p:nvPr/>
        </p:nvSpPr>
        <p:spPr>
          <a:xfrm>
            <a:off x="671805" y="251574"/>
            <a:ext cx="16033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Sequence</a:t>
            </a:r>
            <a:endParaRPr lang="zh-CN" alt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9D40169-8D9E-BF8D-A85A-BF0B9DDCF193}"/>
              </a:ext>
            </a:extLst>
          </p:cNvPr>
          <p:cNvSpPr txBox="1"/>
          <p:nvPr/>
        </p:nvSpPr>
        <p:spPr>
          <a:xfrm>
            <a:off x="3429085" y="251574"/>
            <a:ext cx="24840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Branch / Choice</a:t>
            </a:r>
            <a:endParaRPr lang="zh-CN" altLang="en-US" sz="2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E1D509-043B-526E-30B3-FEEA4E0B6FA0}"/>
              </a:ext>
            </a:extLst>
          </p:cNvPr>
          <p:cNvSpPr txBox="1"/>
          <p:nvPr/>
        </p:nvSpPr>
        <p:spPr>
          <a:xfrm>
            <a:off x="7012143" y="251574"/>
            <a:ext cx="12468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Parallel</a:t>
            </a:r>
            <a:endParaRPr lang="zh-CN" altLang="en-US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9B43834-24D1-8DDD-9F55-39E041927058}"/>
              </a:ext>
            </a:extLst>
          </p:cNvPr>
          <p:cNvSpPr txBox="1"/>
          <p:nvPr/>
        </p:nvSpPr>
        <p:spPr>
          <a:xfrm>
            <a:off x="9572009" y="251574"/>
            <a:ext cx="2519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Loop/Iteration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673A92-1F71-77E5-D533-2A10DCA50700}"/>
              </a:ext>
            </a:extLst>
          </p:cNvPr>
          <p:cNvCxnSpPr>
            <a:cxnSpLocks/>
          </p:cNvCxnSpPr>
          <p:nvPr/>
        </p:nvCxnSpPr>
        <p:spPr>
          <a:xfrm>
            <a:off x="0" y="989045"/>
            <a:ext cx="121920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28B67EA-7BB8-766E-B18F-ED45B119207C}"/>
              </a:ext>
            </a:extLst>
          </p:cNvPr>
          <p:cNvCxnSpPr>
            <a:cxnSpLocks/>
          </p:cNvCxnSpPr>
          <p:nvPr/>
        </p:nvCxnSpPr>
        <p:spPr>
          <a:xfrm>
            <a:off x="612710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75D9A44-9941-FE1D-0F76-1BB8CDCDCB80}"/>
              </a:ext>
            </a:extLst>
          </p:cNvPr>
          <p:cNvCxnSpPr>
            <a:cxnSpLocks/>
          </p:cNvCxnSpPr>
          <p:nvPr/>
        </p:nvCxnSpPr>
        <p:spPr>
          <a:xfrm>
            <a:off x="308843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BE664A0-71D6-EB64-BBF4-680EB9297A82}"/>
              </a:ext>
            </a:extLst>
          </p:cNvPr>
          <p:cNvCxnSpPr>
            <a:cxnSpLocks/>
          </p:cNvCxnSpPr>
          <p:nvPr/>
        </p:nvCxnSpPr>
        <p:spPr>
          <a:xfrm>
            <a:off x="9144000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5500E40D-0BE0-95E9-A3C1-B396319D9758}"/>
              </a:ext>
            </a:extLst>
          </p:cNvPr>
          <p:cNvSpPr/>
          <p:nvPr/>
        </p:nvSpPr>
        <p:spPr>
          <a:xfrm>
            <a:off x="884263" y="1750094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31AE622-1300-2289-6107-CD3367373D4E}"/>
              </a:ext>
            </a:extLst>
          </p:cNvPr>
          <p:cNvSpPr/>
          <p:nvPr/>
        </p:nvSpPr>
        <p:spPr>
          <a:xfrm>
            <a:off x="884263" y="298484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9C3B650-55FD-054E-B91A-D8211B25D7F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1478652" y="2353359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B4B17E0-F23F-D83C-19B9-FA2993EF1833}"/>
              </a:ext>
            </a:extLst>
          </p:cNvPr>
          <p:cNvSpPr/>
          <p:nvPr/>
        </p:nvSpPr>
        <p:spPr>
          <a:xfrm>
            <a:off x="920030" y="421867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797092A-3D67-139F-48B9-A900ADAA453D}"/>
              </a:ext>
            </a:extLst>
          </p:cNvPr>
          <p:cNvSpPr/>
          <p:nvPr/>
        </p:nvSpPr>
        <p:spPr>
          <a:xfrm>
            <a:off x="909144" y="545169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F7D638E-BC67-6EE0-3DB5-1BEF3B8280D7}"/>
              </a:ext>
            </a:extLst>
          </p:cNvPr>
          <p:cNvCxnSpPr>
            <a:cxnSpLocks/>
          </p:cNvCxnSpPr>
          <p:nvPr/>
        </p:nvCxnSpPr>
        <p:spPr>
          <a:xfrm>
            <a:off x="1503533" y="358811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DBFD16A-53E0-BFCB-D97D-AA2E5F34980B}"/>
              </a:ext>
            </a:extLst>
          </p:cNvPr>
          <p:cNvCxnSpPr>
            <a:cxnSpLocks/>
          </p:cNvCxnSpPr>
          <p:nvPr/>
        </p:nvCxnSpPr>
        <p:spPr>
          <a:xfrm>
            <a:off x="1514418" y="48202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69FB5A05-2134-AEE9-3C19-B444330CF146}"/>
              </a:ext>
            </a:extLst>
          </p:cNvPr>
          <p:cNvSpPr/>
          <p:nvPr/>
        </p:nvSpPr>
        <p:spPr>
          <a:xfrm>
            <a:off x="3998602" y="175009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D29CA8C-438D-39F5-7859-2861C14E5525}"/>
              </a:ext>
            </a:extLst>
          </p:cNvPr>
          <p:cNvSpPr/>
          <p:nvPr/>
        </p:nvSpPr>
        <p:spPr>
          <a:xfrm>
            <a:off x="3998602" y="29848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CE05BC7-F290-4F01-6C80-5BA4EC4F3DCE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>
            <a:off x="4592991" y="235336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D2BECAE0-C8A6-E732-344A-CF6418BF2B19}"/>
              </a:ext>
            </a:extLst>
          </p:cNvPr>
          <p:cNvSpPr/>
          <p:nvPr/>
        </p:nvSpPr>
        <p:spPr>
          <a:xfrm>
            <a:off x="3195435" y="5467432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AC930259-9AB3-73B1-AF82-E433486F1D68}"/>
              </a:ext>
            </a:extLst>
          </p:cNvPr>
          <p:cNvSpPr/>
          <p:nvPr/>
        </p:nvSpPr>
        <p:spPr>
          <a:xfrm>
            <a:off x="4831323" y="5467431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BE7C5C1C-2EC8-CA4F-F4C7-C5CB3E0C0E00}"/>
              </a:ext>
            </a:extLst>
          </p:cNvPr>
          <p:cNvCxnSpPr>
            <a:cxnSpLocks/>
          </p:cNvCxnSpPr>
          <p:nvPr/>
        </p:nvCxnSpPr>
        <p:spPr>
          <a:xfrm>
            <a:off x="4617872" y="35881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F3907EF-5C64-0D84-DBDF-F65F9452E923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5212260" y="4527772"/>
            <a:ext cx="213452" cy="93965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19173624-1168-1502-9115-863F57E88EE8}"/>
              </a:ext>
            </a:extLst>
          </p:cNvPr>
          <p:cNvCxnSpPr>
            <a:cxnSpLocks/>
            <a:endCxn id="33" idx="0"/>
          </p:cNvCxnSpPr>
          <p:nvPr/>
        </p:nvCxnSpPr>
        <p:spPr>
          <a:xfrm rot="10800000" flipV="1">
            <a:off x="3789825" y="4527772"/>
            <a:ext cx="233659" cy="93966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B7A55E15-81B9-B5BD-7803-22C95E8C663F}"/>
              </a:ext>
            </a:extLst>
          </p:cNvPr>
          <p:cNvSpPr/>
          <p:nvPr/>
        </p:nvSpPr>
        <p:spPr>
          <a:xfrm>
            <a:off x="7035362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0EC40E1D-0E48-85A4-B876-5E43A86D0B32}"/>
              </a:ext>
            </a:extLst>
          </p:cNvPr>
          <p:cNvSpPr/>
          <p:nvPr/>
        </p:nvSpPr>
        <p:spPr>
          <a:xfrm>
            <a:off x="6314393" y="299155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2BC7F1E-F714-CD44-944A-90615DB5C327}"/>
              </a:ext>
            </a:extLst>
          </p:cNvPr>
          <p:cNvSpPr/>
          <p:nvPr/>
        </p:nvSpPr>
        <p:spPr>
          <a:xfrm>
            <a:off x="7746446" y="298484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C3C839F4-486A-CC35-9612-EB9F6423BEAB}"/>
              </a:ext>
            </a:extLst>
          </p:cNvPr>
          <p:cNvSpPr/>
          <p:nvPr/>
        </p:nvSpPr>
        <p:spPr>
          <a:xfrm>
            <a:off x="7041945" y="42169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B03E9484-4DB5-90C2-AE68-8EE4E27E62F3}"/>
              </a:ext>
            </a:extLst>
          </p:cNvPr>
          <p:cNvCxnSpPr>
            <a:stCxn id="42" idx="3"/>
            <a:endCxn id="44" idx="0"/>
          </p:cNvCxnSpPr>
          <p:nvPr/>
        </p:nvCxnSpPr>
        <p:spPr>
          <a:xfrm>
            <a:off x="8224139" y="1999853"/>
            <a:ext cx="116696" cy="98499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8B39E9D3-0208-717E-C0FB-89D7717E3098}"/>
              </a:ext>
            </a:extLst>
          </p:cNvPr>
          <p:cNvCxnSpPr>
            <a:stCxn id="42" idx="1"/>
            <a:endCxn id="43" idx="0"/>
          </p:cNvCxnSpPr>
          <p:nvPr/>
        </p:nvCxnSpPr>
        <p:spPr>
          <a:xfrm rot="10800000" flipV="1">
            <a:off x="6908782" y="1999853"/>
            <a:ext cx="126580" cy="9917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D8EAC4A-463D-6B30-A0BF-294F3083C056}"/>
              </a:ext>
            </a:extLst>
          </p:cNvPr>
          <p:cNvSpPr/>
          <p:nvPr/>
        </p:nvSpPr>
        <p:spPr>
          <a:xfrm>
            <a:off x="7035361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AA58A1BA-B96F-A864-1A23-A7EF6DF1DA60}"/>
              </a:ext>
            </a:extLst>
          </p:cNvPr>
          <p:cNvCxnSpPr>
            <a:stCxn id="44" idx="2"/>
            <a:endCxn id="45" idx="0"/>
          </p:cNvCxnSpPr>
          <p:nvPr/>
        </p:nvCxnSpPr>
        <p:spPr>
          <a:xfrm rot="5400000">
            <a:off x="7674166" y="3550277"/>
            <a:ext cx="628838" cy="70450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D4B282CF-92CB-9B9A-6EAF-B5306A1B73E9}"/>
              </a:ext>
            </a:extLst>
          </p:cNvPr>
          <p:cNvCxnSpPr>
            <a:stCxn id="43" idx="2"/>
            <a:endCxn id="45" idx="0"/>
          </p:cNvCxnSpPr>
          <p:nvPr/>
        </p:nvCxnSpPr>
        <p:spPr>
          <a:xfrm rot="16200000" flipH="1">
            <a:off x="6961494" y="3542106"/>
            <a:ext cx="622128" cy="727552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10A8BCA5-47A4-43BF-5F12-C7422003269E}"/>
              </a:ext>
            </a:extLst>
          </p:cNvPr>
          <p:cNvCxnSpPr>
            <a:stCxn id="45" idx="2"/>
            <a:endCxn id="52" idx="0"/>
          </p:cNvCxnSpPr>
          <p:nvPr/>
        </p:nvCxnSpPr>
        <p:spPr>
          <a:xfrm flipH="1">
            <a:off x="7629750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菱形 58">
            <a:extLst>
              <a:ext uri="{FF2B5EF4-FFF2-40B4-BE49-F238E27FC236}">
                <a16:creationId xmlns:a16="http://schemas.microsoft.com/office/drawing/2014/main" id="{DDD27C46-21F8-0F44-D44B-70094C475E49}"/>
              </a:ext>
            </a:extLst>
          </p:cNvPr>
          <p:cNvSpPr/>
          <p:nvPr/>
        </p:nvSpPr>
        <p:spPr>
          <a:xfrm>
            <a:off x="4030485" y="4216945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00A525A4-E3C9-CDDF-F77B-101F0DF0335B}"/>
              </a:ext>
            </a:extLst>
          </p:cNvPr>
          <p:cNvSpPr txBox="1"/>
          <p:nvPr/>
        </p:nvSpPr>
        <p:spPr>
          <a:xfrm>
            <a:off x="1558990" y="4316414"/>
            <a:ext cx="6106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decision</a:t>
            </a:r>
            <a:endParaRPr lang="zh-CN" altLang="en-US" dirty="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18E96D18-0E50-0549-48DF-57744664AA77}"/>
              </a:ext>
            </a:extLst>
          </p:cNvPr>
          <p:cNvSpPr/>
          <p:nvPr/>
        </p:nvSpPr>
        <p:spPr>
          <a:xfrm>
            <a:off x="10107566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E37ED528-F93B-142E-3D01-B8A9E3A82E2D}"/>
              </a:ext>
            </a:extLst>
          </p:cNvPr>
          <p:cNvSpPr/>
          <p:nvPr/>
        </p:nvSpPr>
        <p:spPr>
          <a:xfrm>
            <a:off x="10107565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284061C-1F00-4581-DD2E-0DF672004C85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10701954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CA527B55-9B72-E9A6-424E-260796C5975E}"/>
              </a:ext>
            </a:extLst>
          </p:cNvPr>
          <p:cNvSpPr/>
          <p:nvPr/>
        </p:nvSpPr>
        <p:spPr>
          <a:xfrm>
            <a:off x="10107565" y="294803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75" name="菱形 74">
            <a:extLst>
              <a:ext uri="{FF2B5EF4-FFF2-40B4-BE49-F238E27FC236}">
                <a16:creationId xmlns:a16="http://schemas.microsoft.com/office/drawing/2014/main" id="{8DDD6B80-A9E8-4626-5CE9-62B07270CFE5}"/>
              </a:ext>
            </a:extLst>
          </p:cNvPr>
          <p:cNvSpPr/>
          <p:nvPr/>
        </p:nvSpPr>
        <p:spPr>
          <a:xfrm>
            <a:off x="10141541" y="4242210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9E7AD0C4-6372-8C21-7B9C-C3A957A86E4A}"/>
              </a:ext>
            </a:extLst>
          </p:cNvPr>
          <p:cNvSpPr txBox="1"/>
          <p:nvPr/>
        </p:nvSpPr>
        <p:spPr>
          <a:xfrm>
            <a:off x="7672875" y="4265762"/>
            <a:ext cx="6106884" cy="54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/>
              <a:t>exit</a:t>
            </a:r>
          </a:p>
          <a:p>
            <a:pPr algn="ctr">
              <a:lnSpc>
                <a:spcPct val="80000"/>
              </a:lnSpc>
            </a:pPr>
            <a:r>
              <a:rPr lang="en-US" altLang="zh-CN" dirty="0"/>
              <a:t>loop?</a:t>
            </a:r>
            <a:endParaRPr lang="zh-CN" altLang="en-US" dirty="0"/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A39258CA-FC49-8D33-320C-5565E64D6D4B}"/>
              </a:ext>
            </a:extLst>
          </p:cNvPr>
          <p:cNvCxnSpPr>
            <a:cxnSpLocks/>
          </p:cNvCxnSpPr>
          <p:nvPr/>
        </p:nvCxnSpPr>
        <p:spPr>
          <a:xfrm flipH="1">
            <a:off x="10716904" y="354544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CBF2834C-D73F-D9ED-CCD5-76BB0FFF8971}"/>
              </a:ext>
            </a:extLst>
          </p:cNvPr>
          <p:cNvCxnSpPr>
            <a:cxnSpLocks/>
            <a:stCxn id="62" idx="2"/>
            <a:endCxn id="72" idx="0"/>
          </p:cNvCxnSpPr>
          <p:nvPr/>
        </p:nvCxnSpPr>
        <p:spPr>
          <a:xfrm flipH="1">
            <a:off x="10701954" y="2301485"/>
            <a:ext cx="1" cy="6465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FF9EF056-6AED-979B-CBED-C96C16B370DD}"/>
              </a:ext>
            </a:extLst>
          </p:cNvPr>
          <p:cNvCxnSpPr>
            <a:endCxn id="72" idx="3"/>
          </p:cNvCxnSpPr>
          <p:nvPr/>
        </p:nvCxnSpPr>
        <p:spPr>
          <a:xfrm rot="5400000" flipH="1" flipV="1">
            <a:off x="10649252" y="3896753"/>
            <a:ext cx="1294180" cy="12700"/>
          </a:xfrm>
          <a:prstGeom prst="bentConnector4">
            <a:avLst>
              <a:gd name="adj1" fmla="val 857"/>
              <a:gd name="adj2" fmla="val 292857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5233C6BF-735E-A6E0-BF98-8D9E7108E061}"/>
              </a:ext>
            </a:extLst>
          </p:cNvPr>
          <p:cNvSpPr txBox="1"/>
          <p:nvPr/>
        </p:nvSpPr>
        <p:spPr>
          <a:xfrm>
            <a:off x="10994780" y="3717861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N</a:t>
            </a:r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7C6CE10-7082-6C67-27D6-CAC4017D3A96}"/>
              </a:ext>
            </a:extLst>
          </p:cNvPr>
          <p:cNvSpPr txBox="1"/>
          <p:nvPr/>
        </p:nvSpPr>
        <p:spPr>
          <a:xfrm>
            <a:off x="10066141" y="4910848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4125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B12FCA1-630B-E66C-92F1-7C468530A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0743"/>
            <a:ext cx="12192000" cy="594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3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6CE19A88-6D4D-479B-184D-B8C7638C9EB8}"/>
              </a:ext>
            </a:extLst>
          </p:cNvPr>
          <p:cNvSpPr/>
          <p:nvPr/>
        </p:nvSpPr>
        <p:spPr>
          <a:xfrm>
            <a:off x="2265182" y="3465558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0036C7D-9371-2C0B-B4D9-A05C90C003D9}"/>
              </a:ext>
            </a:extLst>
          </p:cNvPr>
          <p:cNvSpPr/>
          <p:nvPr/>
        </p:nvSpPr>
        <p:spPr>
          <a:xfrm>
            <a:off x="4907223" y="406270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A6A687C-8DBE-0F25-ECD4-597727E18114}"/>
              </a:ext>
            </a:extLst>
          </p:cNvPr>
          <p:cNvSpPr/>
          <p:nvPr/>
        </p:nvSpPr>
        <p:spPr>
          <a:xfrm>
            <a:off x="4907222" y="285617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6F6A07C-121E-CCB2-EDDF-B7001B16D4F9}"/>
              </a:ext>
            </a:extLst>
          </p:cNvPr>
          <p:cNvSpPr/>
          <p:nvPr/>
        </p:nvSpPr>
        <p:spPr>
          <a:xfrm>
            <a:off x="7494214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D3EFD3B-9FEE-4DEB-7819-5DF99123AA80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3453959" y="3157810"/>
            <a:ext cx="1453263" cy="60938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68B98ED1-1F52-F565-6D16-00CA4631A66A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453959" y="3767191"/>
            <a:ext cx="1453264" cy="59714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C9B576D-8A77-A32A-801E-C9FEB8B06BF2}"/>
              </a:ext>
            </a:extLst>
          </p:cNvPr>
          <p:cNvSpPr/>
          <p:nvPr/>
        </p:nvSpPr>
        <p:spPr>
          <a:xfrm>
            <a:off x="9515310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85931A43-166F-F639-011D-B7CD0B62C19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95999" y="3157810"/>
            <a:ext cx="1398215" cy="59950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EDDE7AA3-946C-2CAC-CA21-CAF83729B40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6096000" y="3757318"/>
            <a:ext cx="1398214" cy="60702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B0F15DC8-BA86-D30C-58BB-7FD1590D9EAB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8682991" y="3757318"/>
            <a:ext cx="8323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3A3325FC-9767-39C8-983D-5172C0BA342C}"/>
              </a:ext>
            </a:extLst>
          </p:cNvPr>
          <p:cNvSpPr/>
          <p:nvPr/>
        </p:nvSpPr>
        <p:spPr>
          <a:xfrm>
            <a:off x="4998721" y="1391952"/>
            <a:ext cx="2377439" cy="775062"/>
          </a:xfrm>
          <a:prstGeom prst="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Orchestrator</a:t>
            </a:r>
            <a:endParaRPr lang="zh-CN" altLang="en-US" dirty="0">
              <a:solidFill>
                <a:schemeClr val="dk1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195100B-8471-A09B-EE5E-134613F3C5D5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2859571" y="2206906"/>
            <a:ext cx="2921149" cy="1258652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C56A4481-C9FB-637B-A657-26EDC0EB8B98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5501611" y="2167014"/>
            <a:ext cx="516012" cy="68916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0C7A7301-F8D2-812A-4EE2-845FFD9CD773}"/>
              </a:ext>
            </a:extLst>
          </p:cNvPr>
          <p:cNvCxnSpPr>
            <a:cxnSpLocks/>
            <a:stCxn id="59" idx="2"/>
            <a:endCxn id="5" idx="0"/>
          </p:cNvCxnSpPr>
          <p:nvPr/>
        </p:nvCxnSpPr>
        <p:spPr>
          <a:xfrm flipH="1">
            <a:off x="5501612" y="2167014"/>
            <a:ext cx="685829" cy="189569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35403653-A98E-E42A-D831-987037012D8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332902" y="2206906"/>
            <a:ext cx="1755701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356E2107-22B4-5646-AB0E-3735CAE3D3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6612010" y="2206906"/>
            <a:ext cx="3497689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0A54B276-3F52-FA4B-C5F1-ABC92E5A0E4D}"/>
              </a:ext>
            </a:extLst>
          </p:cNvPr>
          <p:cNvCxnSpPr>
            <a:cxnSpLocks/>
          </p:cNvCxnSpPr>
          <p:nvPr/>
        </p:nvCxnSpPr>
        <p:spPr>
          <a:xfrm>
            <a:off x="6831094" y="4634072"/>
            <a:ext cx="1275806" cy="0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90D95E66-1EC7-6D4C-DAB5-726E179AB8BB}"/>
              </a:ext>
            </a:extLst>
          </p:cNvPr>
          <p:cNvCxnSpPr>
            <a:cxnSpLocks/>
          </p:cNvCxnSpPr>
          <p:nvPr/>
        </p:nvCxnSpPr>
        <p:spPr>
          <a:xfrm>
            <a:off x="6831094" y="5001016"/>
            <a:ext cx="127580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BAD6D2D-5C04-0CC3-4686-45D230CA3C52}"/>
              </a:ext>
            </a:extLst>
          </p:cNvPr>
          <p:cNvSpPr txBox="1"/>
          <p:nvPr/>
        </p:nvSpPr>
        <p:spPr>
          <a:xfrm>
            <a:off x="7833057" y="4815143"/>
            <a:ext cx="26317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Control Dependency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EE9D403-6611-F6E6-00A8-3611B51E7F4A}"/>
              </a:ext>
            </a:extLst>
          </p:cNvPr>
          <p:cNvSpPr txBox="1"/>
          <p:nvPr/>
        </p:nvSpPr>
        <p:spPr>
          <a:xfrm>
            <a:off x="7985457" y="4439522"/>
            <a:ext cx="1895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Invoke / Return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6599D6C-C09A-4A15-A3A0-3FE66377AA6D}"/>
              </a:ext>
            </a:extLst>
          </p:cNvPr>
          <p:cNvSpPr txBox="1"/>
          <p:nvPr/>
        </p:nvSpPr>
        <p:spPr>
          <a:xfrm>
            <a:off x="2653206" y="3462500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fork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4DAF87D-732B-9C5D-A57B-9859FBAD8DB9}"/>
              </a:ext>
            </a:extLst>
          </p:cNvPr>
          <p:cNvSpPr txBox="1"/>
          <p:nvPr/>
        </p:nvSpPr>
        <p:spPr>
          <a:xfrm>
            <a:off x="5977306" y="3412476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join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21B6F11-307D-EA7F-3FE7-8B26A06FABCA}"/>
              </a:ext>
            </a:extLst>
          </p:cNvPr>
          <p:cNvSpPr txBox="1"/>
          <p:nvPr/>
        </p:nvSpPr>
        <p:spPr>
          <a:xfrm>
            <a:off x="5994723" y="3790125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wait-all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498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组合 83">
            <a:extLst>
              <a:ext uri="{FF2B5EF4-FFF2-40B4-BE49-F238E27FC236}">
                <a16:creationId xmlns:a16="http://schemas.microsoft.com/office/drawing/2014/main" id="{38677326-6D13-CB27-5F03-9C1AEF727263}"/>
              </a:ext>
            </a:extLst>
          </p:cNvPr>
          <p:cNvGrpSpPr/>
          <p:nvPr/>
        </p:nvGrpSpPr>
        <p:grpSpPr>
          <a:xfrm>
            <a:off x="3318567" y="2009470"/>
            <a:ext cx="5806440" cy="2468227"/>
            <a:chOff x="3274850" y="1511590"/>
            <a:chExt cx="5806440" cy="3749040"/>
          </a:xfrm>
        </p:grpSpPr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BE7DAD37-A1A8-2BF6-0C8A-4F2215C8021A}"/>
                </a:ext>
              </a:extLst>
            </p:cNvPr>
            <p:cNvSpPr/>
            <p:nvPr/>
          </p:nvSpPr>
          <p:spPr>
            <a:xfrm>
              <a:off x="3274850" y="1511590"/>
              <a:ext cx="5806440" cy="3749040"/>
            </a:xfrm>
            <a:prstGeom prst="roundRect">
              <a:avLst/>
            </a:prstGeom>
            <a:solidFill>
              <a:srgbClr val="F8FAFC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7797F42C-C1E2-9E40-67A7-1DDEFD6275F5}"/>
                </a:ext>
              </a:extLst>
            </p:cNvPr>
            <p:cNvSpPr/>
            <p:nvPr/>
          </p:nvSpPr>
          <p:spPr>
            <a:xfrm>
              <a:off x="4635624" y="1597370"/>
              <a:ext cx="3063240" cy="5943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Controller 𝓒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D6A6C37A-6789-B05B-799E-AAB770F4C97C}"/>
              </a:ext>
            </a:extLst>
          </p:cNvPr>
          <p:cNvGrpSpPr/>
          <p:nvPr/>
        </p:nvGrpSpPr>
        <p:grpSpPr>
          <a:xfrm>
            <a:off x="3467010" y="2546478"/>
            <a:ext cx="2395324" cy="667708"/>
            <a:chOff x="3489960" y="2446020"/>
            <a:chExt cx="1325880" cy="960120"/>
          </a:xfrm>
        </p:grpSpPr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2984075E-D2FD-C4EF-BCE0-178548926777}"/>
                </a:ext>
              </a:extLst>
            </p:cNvPr>
            <p:cNvSpPr/>
            <p:nvPr/>
          </p:nvSpPr>
          <p:spPr>
            <a:xfrm>
              <a:off x="3489960" y="2446020"/>
              <a:ext cx="1325880" cy="960120"/>
            </a:xfrm>
            <a:prstGeom prst="roundRect">
              <a:avLst/>
            </a:prstGeom>
            <a:solidFill>
              <a:srgbClr val="EEF2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256C8D91-6D8A-1018-1BAE-4F548A6805AC}"/>
                </a:ext>
              </a:extLst>
            </p:cNvPr>
            <p:cNvSpPr/>
            <p:nvPr/>
          </p:nvSpPr>
          <p:spPr>
            <a:xfrm>
              <a:off x="3581400" y="2516786"/>
              <a:ext cx="1143000" cy="868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Predictor</a:t>
              </a:r>
            </a:p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𝓟</a:t>
              </a:r>
            </a:p>
          </p:txBody>
        </p:sp>
      </p:grpSp>
      <p:sp>
        <p:nvSpPr>
          <p:cNvPr id="21" name="Shape 17">
            <a:extLst>
              <a:ext uri="{FF2B5EF4-FFF2-40B4-BE49-F238E27FC236}">
                <a16:creationId xmlns:a16="http://schemas.microsoft.com/office/drawing/2014/main" id="{B2A87D4C-30A9-D198-84D8-5288C3BC6468}"/>
              </a:ext>
            </a:extLst>
          </p:cNvPr>
          <p:cNvSpPr/>
          <p:nvPr/>
        </p:nvSpPr>
        <p:spPr>
          <a:xfrm>
            <a:off x="6627132" y="2549175"/>
            <a:ext cx="2395324" cy="6677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Gating &amp; Budgeting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𝓖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D89ED18-852B-9F68-44E8-B4A56DD14102}"/>
              </a:ext>
            </a:extLst>
          </p:cNvPr>
          <p:cNvSpPr/>
          <p:nvPr/>
        </p:nvSpPr>
        <p:spPr>
          <a:xfrm>
            <a:off x="6359136" y="2733927"/>
            <a:ext cx="1583255" cy="60411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275F669F-DB96-ACC1-6498-F2D040AF1415}"/>
              </a:ext>
            </a:extLst>
          </p:cNvPr>
          <p:cNvSpPr/>
          <p:nvPr/>
        </p:nvSpPr>
        <p:spPr>
          <a:xfrm>
            <a:off x="6627132" y="3586068"/>
            <a:ext cx="2395324" cy="6677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Buffer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𝓑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927649A-4D34-2956-6047-7185D0E0B6FB}"/>
              </a:ext>
            </a:extLst>
          </p:cNvPr>
          <p:cNvSpPr/>
          <p:nvPr/>
        </p:nvSpPr>
        <p:spPr>
          <a:xfrm>
            <a:off x="3564077" y="4192513"/>
            <a:ext cx="1143000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AEA9170F-F207-2B86-5BCB-C4AA2E34D0AC}"/>
              </a:ext>
            </a:extLst>
          </p:cNvPr>
          <p:cNvSpPr/>
          <p:nvPr/>
        </p:nvSpPr>
        <p:spPr>
          <a:xfrm>
            <a:off x="3467009" y="3587277"/>
            <a:ext cx="2395325" cy="6677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Validation  &amp; Recovery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𝓡</a:t>
            </a:r>
          </a:p>
          <a:p>
            <a:endParaRPr lang="zh-CN" altLang="en-US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E2B91C2-CBD2-9484-57B7-4559BC724F7F}"/>
              </a:ext>
            </a:extLst>
          </p:cNvPr>
          <p:cNvSpPr/>
          <p:nvPr/>
        </p:nvSpPr>
        <p:spPr>
          <a:xfrm>
            <a:off x="5822597" y="4375195"/>
            <a:ext cx="3388114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0" name="Shape 36">
            <a:extLst>
              <a:ext uri="{FF2B5EF4-FFF2-40B4-BE49-F238E27FC236}">
                <a16:creationId xmlns:a16="http://schemas.microsoft.com/office/drawing/2014/main" id="{4B412775-9F75-0EB1-2180-4783B5B3E0CF}"/>
              </a:ext>
            </a:extLst>
          </p:cNvPr>
          <p:cNvSpPr/>
          <p:nvPr/>
        </p:nvSpPr>
        <p:spPr>
          <a:xfrm>
            <a:off x="5988901" y="5002933"/>
            <a:ext cx="3154680" cy="4119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External State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315DB343-B753-2A02-9112-7E2D7F44DE51}"/>
              </a:ext>
            </a:extLst>
          </p:cNvPr>
          <p:cNvSpPr/>
          <p:nvPr/>
        </p:nvSpPr>
        <p:spPr>
          <a:xfrm>
            <a:off x="4735887" y="504805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2AD12AA8-5D3A-9467-EA63-EDF6AE90D9CA}"/>
              </a:ext>
            </a:extLst>
          </p:cNvPr>
          <p:cNvGrpSpPr/>
          <p:nvPr/>
        </p:nvGrpSpPr>
        <p:grpSpPr>
          <a:xfrm>
            <a:off x="9805852" y="1639757"/>
            <a:ext cx="2331720" cy="2948798"/>
            <a:chOff x="9629503" y="1623659"/>
            <a:chExt cx="2331720" cy="2948798"/>
          </a:xfrm>
        </p:grpSpPr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F9930F05-9FFD-4040-FA90-39BA8B55D097}"/>
                </a:ext>
              </a:extLst>
            </p:cNvPr>
            <p:cNvSpPr/>
            <p:nvPr/>
          </p:nvSpPr>
          <p:spPr>
            <a:xfrm>
              <a:off x="9629503" y="1623659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solidFill>
                    <a:srgbClr val="334155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Function Instances</a:t>
              </a:r>
              <a:endParaRPr lang="en-US" sz="1600" b="1" dirty="0"/>
            </a:p>
          </p:txBody>
        </p:sp>
        <p:sp>
          <p:nvSpPr>
            <p:cNvPr id="31" name="Shape 27">
              <a:extLst>
                <a:ext uri="{FF2B5EF4-FFF2-40B4-BE49-F238E27FC236}">
                  <a16:creationId xmlns:a16="http://schemas.microsoft.com/office/drawing/2014/main" id="{70BB2613-66AD-8CAE-1856-539DA4978043}"/>
                </a:ext>
              </a:extLst>
            </p:cNvPr>
            <p:cNvSpPr/>
            <p:nvPr/>
          </p:nvSpPr>
          <p:spPr>
            <a:xfrm>
              <a:off x="9629503" y="1966417"/>
              <a:ext cx="2331720" cy="2606040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4" name="Shape 30">
              <a:extLst>
                <a:ext uri="{FF2B5EF4-FFF2-40B4-BE49-F238E27FC236}">
                  <a16:creationId xmlns:a16="http://schemas.microsoft.com/office/drawing/2014/main" id="{13E49B70-BC5F-6E6C-9019-81176F445DA3}"/>
                </a:ext>
              </a:extLst>
            </p:cNvPr>
            <p:cNvSpPr/>
            <p:nvPr/>
          </p:nvSpPr>
          <p:spPr>
            <a:xfrm>
              <a:off x="9812383" y="2240737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677EF4C9-2365-83A6-77BB-2DF3C25A5492}"/>
                </a:ext>
              </a:extLst>
            </p:cNvPr>
            <p:cNvSpPr/>
            <p:nvPr/>
          </p:nvSpPr>
          <p:spPr>
            <a:xfrm>
              <a:off x="9903823" y="2286457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Normal</a:t>
              </a:r>
            </a:p>
          </p:txBody>
        </p:sp>
        <p:sp>
          <p:nvSpPr>
            <p:cNvPr id="36" name="Shape 32">
              <a:extLst>
                <a:ext uri="{FF2B5EF4-FFF2-40B4-BE49-F238E27FC236}">
                  <a16:creationId xmlns:a16="http://schemas.microsoft.com/office/drawing/2014/main" id="{CE9A3ACE-CD4C-527F-276F-26F49344B259}"/>
                </a:ext>
              </a:extLst>
            </p:cNvPr>
            <p:cNvSpPr/>
            <p:nvPr/>
          </p:nvSpPr>
          <p:spPr>
            <a:xfrm>
              <a:off x="9812383" y="2944825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B58A918D-A321-5480-3757-03E56D2E1A00}"/>
                </a:ext>
              </a:extLst>
            </p:cNvPr>
            <p:cNvSpPr/>
            <p:nvPr/>
          </p:nvSpPr>
          <p:spPr>
            <a:xfrm>
              <a:off x="9903823" y="2990545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</a:t>
              </a:r>
            </a:p>
          </p:txBody>
        </p:sp>
        <p:sp>
          <p:nvSpPr>
            <p:cNvPr id="38" name="Shape 34">
              <a:extLst>
                <a:ext uri="{FF2B5EF4-FFF2-40B4-BE49-F238E27FC236}">
                  <a16:creationId xmlns:a16="http://schemas.microsoft.com/office/drawing/2014/main" id="{A1986CEE-1409-4BEB-58CC-B6F12CC40CCE}"/>
                </a:ext>
              </a:extLst>
            </p:cNvPr>
            <p:cNvSpPr/>
            <p:nvPr/>
          </p:nvSpPr>
          <p:spPr>
            <a:xfrm>
              <a:off x="9812383" y="3648913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29B49F60-7EA0-EDE3-C15A-2420B7630F10}"/>
                </a:ext>
              </a:extLst>
            </p:cNvPr>
            <p:cNvSpPr/>
            <p:nvPr/>
          </p:nvSpPr>
          <p:spPr>
            <a:xfrm>
              <a:off x="9903823" y="3694633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Commit</a:t>
              </a:r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FCA2AD1-7029-65B0-88D5-DD0D714944FE}"/>
              </a:ext>
            </a:extLst>
          </p:cNvPr>
          <p:cNvGrpSpPr/>
          <p:nvPr/>
        </p:nvGrpSpPr>
        <p:grpSpPr>
          <a:xfrm>
            <a:off x="101781" y="2286457"/>
            <a:ext cx="2736669" cy="1828606"/>
            <a:chOff x="113211" y="1929841"/>
            <a:chExt cx="2736669" cy="1828606"/>
          </a:xfrm>
        </p:grpSpPr>
        <p:sp>
          <p:nvSpPr>
            <p:cNvPr id="5" name="Shape 1">
              <a:extLst>
                <a:ext uri="{FF2B5EF4-FFF2-40B4-BE49-F238E27FC236}">
                  <a16:creationId xmlns:a16="http://schemas.microsoft.com/office/drawing/2014/main" id="{617F978E-4CC9-21DB-A1A5-8479C2B4B4BC}"/>
                </a:ext>
              </a:extLst>
            </p:cNvPr>
            <p:cNvSpPr/>
            <p:nvPr/>
          </p:nvSpPr>
          <p:spPr>
            <a:xfrm>
              <a:off x="113211" y="1929841"/>
              <a:ext cx="2736669" cy="1828606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8C97E19C-EDF3-8987-3B47-53F26427482F}"/>
                </a:ext>
              </a:extLst>
            </p:cNvPr>
            <p:cNvSpPr/>
            <p:nvPr/>
          </p:nvSpPr>
          <p:spPr>
            <a:xfrm>
              <a:off x="425591" y="1985337"/>
              <a:ext cx="2148840" cy="3982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Workflow Spec 𝓦</a:t>
              </a:r>
            </a:p>
          </p:txBody>
        </p: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069C6B18-A234-1DFE-9D13-FC606F1945DB}"/>
                </a:ext>
              </a:extLst>
            </p:cNvPr>
            <p:cNvGrpSpPr/>
            <p:nvPr/>
          </p:nvGrpSpPr>
          <p:grpSpPr>
            <a:xfrm>
              <a:off x="223563" y="2436876"/>
              <a:ext cx="2494055" cy="1090159"/>
              <a:chOff x="755875" y="5441726"/>
              <a:chExt cx="2494055" cy="1090159"/>
            </a:xfrm>
          </p:grpSpPr>
          <p:sp>
            <p:nvSpPr>
              <p:cNvPr id="60" name="矩形: 圆角 59">
                <a:extLst>
                  <a:ext uri="{FF2B5EF4-FFF2-40B4-BE49-F238E27FC236}">
                    <a16:creationId xmlns:a16="http://schemas.microsoft.com/office/drawing/2014/main" id="{81DE4F76-B578-FE61-5EC0-CF69EB9094DC}"/>
                  </a:ext>
                </a:extLst>
              </p:cNvPr>
              <p:cNvSpPr/>
              <p:nvPr/>
            </p:nvSpPr>
            <p:spPr>
              <a:xfrm>
                <a:off x="1764030" y="6207448"/>
                <a:ext cx="480117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B1</a:t>
                </a:r>
                <a:endParaRPr lang="zh-CN" altLang="en-US" dirty="0"/>
              </a:p>
            </p:txBody>
          </p: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E6FFC25E-84C7-494F-42F4-D73FF6A83187}"/>
                  </a:ext>
                </a:extLst>
              </p:cNvPr>
              <p:cNvSpPr/>
              <p:nvPr/>
            </p:nvSpPr>
            <p:spPr>
              <a:xfrm>
                <a:off x="1764029" y="5441726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B2</a:t>
                </a:r>
                <a:endParaRPr lang="zh-CN" altLang="en-US" dirty="0"/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0EAAD55B-06E2-8414-FE66-0089AC9A6A3B}"/>
                  </a:ext>
                </a:extLst>
              </p:cNvPr>
              <p:cNvSpPr/>
              <p:nvPr/>
            </p:nvSpPr>
            <p:spPr>
              <a:xfrm>
                <a:off x="2769812" y="5831673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</a:t>
                </a:r>
                <a:endParaRPr lang="zh-CN" altLang="en-US" dirty="0"/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872A5504-6B00-01EC-7F66-6070EEBB8412}"/>
                  </a:ext>
                </a:extLst>
              </p:cNvPr>
              <p:cNvSpPr/>
              <p:nvPr/>
            </p:nvSpPr>
            <p:spPr>
              <a:xfrm>
                <a:off x="755875" y="5818828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A</a:t>
                </a:r>
                <a:endParaRPr lang="zh-CN" altLang="en-US" dirty="0"/>
              </a:p>
            </p:txBody>
          </p:sp>
          <p:cxnSp>
            <p:nvCxnSpPr>
              <p:cNvPr id="72" name="连接符: 肘形 71">
                <a:extLst>
                  <a:ext uri="{FF2B5EF4-FFF2-40B4-BE49-F238E27FC236}">
                    <a16:creationId xmlns:a16="http://schemas.microsoft.com/office/drawing/2014/main" id="{DF2154C1-5460-B2E1-811B-E546659058E0}"/>
                  </a:ext>
                </a:extLst>
              </p:cNvPr>
              <p:cNvCxnSpPr>
                <a:stCxn id="70" idx="3"/>
                <a:endCxn id="61" idx="1"/>
              </p:cNvCxnSpPr>
              <p:nvPr/>
            </p:nvCxnSpPr>
            <p:spPr>
              <a:xfrm flipV="1">
                <a:off x="1235993" y="5603945"/>
                <a:ext cx="528036" cy="377102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连接符: 肘形 72">
                <a:extLst>
                  <a:ext uri="{FF2B5EF4-FFF2-40B4-BE49-F238E27FC236}">
                    <a16:creationId xmlns:a16="http://schemas.microsoft.com/office/drawing/2014/main" id="{FE8BDA60-FD45-1BD4-19B0-FD98D144DAD4}"/>
                  </a:ext>
                </a:extLst>
              </p:cNvPr>
              <p:cNvCxnSpPr>
                <a:cxnSpLocks/>
                <a:stCxn id="70" idx="3"/>
                <a:endCxn id="60" idx="1"/>
              </p:cNvCxnSpPr>
              <p:nvPr/>
            </p:nvCxnSpPr>
            <p:spPr>
              <a:xfrm>
                <a:off x="1235993" y="5981047"/>
                <a:ext cx="528037" cy="388620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连接符: 肘形 75">
                <a:extLst>
                  <a:ext uri="{FF2B5EF4-FFF2-40B4-BE49-F238E27FC236}">
                    <a16:creationId xmlns:a16="http://schemas.microsoft.com/office/drawing/2014/main" id="{90ECA90B-17E3-FBC4-1499-8F57B4665D84}"/>
                  </a:ext>
                </a:extLst>
              </p:cNvPr>
              <p:cNvCxnSpPr>
                <a:cxnSpLocks/>
                <a:stCxn id="61" idx="3"/>
                <a:endCxn id="69" idx="1"/>
              </p:cNvCxnSpPr>
              <p:nvPr/>
            </p:nvCxnSpPr>
            <p:spPr>
              <a:xfrm>
                <a:off x="2244147" y="5603945"/>
                <a:ext cx="525665" cy="389947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连接符: 肘形 78">
                <a:extLst>
                  <a:ext uri="{FF2B5EF4-FFF2-40B4-BE49-F238E27FC236}">
                    <a16:creationId xmlns:a16="http://schemas.microsoft.com/office/drawing/2014/main" id="{7C1116C9-71F2-DBEC-1FB9-E80570F5DC6F}"/>
                  </a:ext>
                </a:extLst>
              </p:cNvPr>
              <p:cNvCxnSpPr>
                <a:cxnSpLocks/>
                <a:stCxn id="60" idx="3"/>
                <a:endCxn id="69" idx="1"/>
              </p:cNvCxnSpPr>
              <p:nvPr/>
            </p:nvCxnSpPr>
            <p:spPr>
              <a:xfrm flipV="1">
                <a:off x="2244147" y="5993892"/>
                <a:ext cx="525665" cy="375775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E91F3F0E-CBC7-E59A-6F87-219828956E1A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5862334" y="2880332"/>
            <a:ext cx="764798" cy="269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EFDBF507-3ED8-AED5-6A87-7EC8218B4368}"/>
              </a:ext>
            </a:extLst>
          </p:cNvPr>
          <p:cNvGrpSpPr/>
          <p:nvPr/>
        </p:nvGrpSpPr>
        <p:grpSpPr>
          <a:xfrm>
            <a:off x="692251" y="4999200"/>
            <a:ext cx="3361606" cy="1083275"/>
            <a:chOff x="8508697" y="5161222"/>
            <a:chExt cx="3361606" cy="1083275"/>
          </a:xfrm>
        </p:grpSpPr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348F08A3-F506-64D8-F1B8-E2071A0DC33B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722716"/>
              <a:ext cx="1275806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0FEBDADE-40E3-1E6A-1554-18E106C6DE72}"/>
                </a:ext>
              </a:extLst>
            </p:cNvPr>
            <p:cNvSpPr txBox="1"/>
            <p:nvPr/>
          </p:nvSpPr>
          <p:spPr>
            <a:xfrm>
              <a:off x="9146600" y="5522236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Data / State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D0F9BB25-C330-90B2-F766-CC2543E94878}"/>
                </a:ext>
              </a:extLst>
            </p:cNvPr>
            <p:cNvSpPr txBox="1"/>
            <p:nvPr/>
          </p:nvSpPr>
          <p:spPr>
            <a:xfrm>
              <a:off x="9663060" y="5161222"/>
              <a:ext cx="18951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Control / Event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cxnSp>
          <p:nvCxnSpPr>
            <p:cNvPr id="113" name="直接箭头连接符 112">
              <a:extLst>
                <a:ext uri="{FF2B5EF4-FFF2-40B4-BE49-F238E27FC236}">
                  <a16:creationId xmlns:a16="http://schemas.microsoft.com/office/drawing/2014/main" id="{5F964473-4D41-0918-D06F-14D36E892B06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370019"/>
              <a:ext cx="127580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BC1D6D44-AA16-534D-92D3-2DE45659BA45}"/>
                </a:ext>
              </a:extLst>
            </p:cNvPr>
            <p:cNvCxnSpPr>
              <a:cxnSpLocks/>
            </p:cNvCxnSpPr>
            <p:nvPr/>
          </p:nvCxnSpPr>
          <p:spPr>
            <a:xfrm>
              <a:off x="8522637" y="6064747"/>
              <a:ext cx="1247926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215D147F-D085-9566-335C-0789785AD547}"/>
                </a:ext>
              </a:extLst>
            </p:cNvPr>
            <p:cNvSpPr txBox="1"/>
            <p:nvPr/>
          </p:nvSpPr>
          <p:spPr>
            <a:xfrm>
              <a:off x="9238560" y="5875165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Static / Config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</p:grp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DC96C169-D42A-B064-2437-31B24CB8D112}"/>
              </a:ext>
            </a:extLst>
          </p:cNvPr>
          <p:cNvCxnSpPr>
            <a:cxnSpLocks/>
          </p:cNvCxnSpPr>
          <p:nvPr/>
        </p:nvCxnSpPr>
        <p:spPr>
          <a:xfrm>
            <a:off x="2838450" y="3243583"/>
            <a:ext cx="480117" cy="0"/>
          </a:xfrm>
          <a:prstGeom prst="straightConnector1">
            <a:avLst/>
          </a:prstGeom>
          <a:ln w="38100">
            <a:solidFill>
              <a:srgbClr val="00B050"/>
            </a:solidFill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Text 2">
            <a:extLst>
              <a:ext uri="{FF2B5EF4-FFF2-40B4-BE49-F238E27FC236}">
                <a16:creationId xmlns:a16="http://schemas.microsoft.com/office/drawing/2014/main" id="{E0D9D341-BED4-1A37-58A4-F3AADCD5E8DA}"/>
              </a:ext>
            </a:extLst>
          </p:cNvPr>
          <p:cNvSpPr/>
          <p:nvPr/>
        </p:nvSpPr>
        <p:spPr>
          <a:xfrm>
            <a:off x="2005291" y="2864118"/>
            <a:ext cx="21488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load</a:t>
            </a:r>
          </a:p>
        </p:txBody>
      </p: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5BD68205-9BBB-99F6-E4C1-33F369F0653B}"/>
              </a:ext>
            </a:extLst>
          </p:cNvPr>
          <p:cNvCxnSpPr>
            <a:cxnSpLocks/>
          </p:cNvCxnSpPr>
          <p:nvPr/>
        </p:nvCxnSpPr>
        <p:spPr>
          <a:xfrm>
            <a:off x="9031389" y="2864118"/>
            <a:ext cx="774463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Text 2">
            <a:extLst>
              <a:ext uri="{FF2B5EF4-FFF2-40B4-BE49-F238E27FC236}">
                <a16:creationId xmlns:a16="http://schemas.microsoft.com/office/drawing/2014/main" id="{D364B490-E458-4CDB-F740-930506A8EACA}"/>
              </a:ext>
            </a:extLst>
          </p:cNvPr>
          <p:cNvSpPr/>
          <p:nvPr/>
        </p:nvSpPr>
        <p:spPr>
          <a:xfrm>
            <a:off x="8948327" y="2482806"/>
            <a:ext cx="1074420" cy="32397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invoke</a:t>
            </a: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4FCF79A1-7DA1-5629-A007-2E76AF2B5991}"/>
              </a:ext>
            </a:extLst>
          </p:cNvPr>
          <p:cNvSpPr txBox="1"/>
          <p:nvPr/>
        </p:nvSpPr>
        <p:spPr>
          <a:xfrm>
            <a:off x="3171610" y="2496222"/>
            <a:ext cx="610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S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2AB3782F-7773-7961-AF8B-4870515DA63A}"/>
              </a:ext>
            </a:extLst>
          </p:cNvPr>
          <p:cNvSpPr txBox="1"/>
          <p:nvPr/>
        </p:nvSpPr>
        <p:spPr>
          <a:xfrm>
            <a:off x="8810873" y="2801262"/>
            <a:ext cx="12525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B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9A8BB600-4DC1-A936-36BA-88885DA17C7A}"/>
              </a:ext>
            </a:extLst>
          </p:cNvPr>
          <p:cNvCxnSpPr>
            <a:cxnSpLocks/>
          </p:cNvCxnSpPr>
          <p:nvPr/>
        </p:nvCxnSpPr>
        <p:spPr>
          <a:xfrm flipH="1">
            <a:off x="9031389" y="4013817"/>
            <a:ext cx="774463" cy="0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Text 2">
            <a:extLst>
              <a:ext uri="{FF2B5EF4-FFF2-40B4-BE49-F238E27FC236}">
                <a16:creationId xmlns:a16="http://schemas.microsoft.com/office/drawing/2014/main" id="{20A89689-6BE9-A6D1-9802-4866BF893AEE}"/>
              </a:ext>
            </a:extLst>
          </p:cNvPr>
          <p:cNvSpPr/>
          <p:nvPr/>
        </p:nvSpPr>
        <p:spPr>
          <a:xfrm>
            <a:off x="8768504" y="3604016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read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C67E0791-DBC1-5A92-DB1B-E82D47BA621B}"/>
              </a:ext>
            </a:extLst>
          </p:cNvPr>
          <p:cNvCxnSpPr>
            <a:cxnSpLocks/>
          </p:cNvCxnSpPr>
          <p:nvPr/>
        </p:nvCxnSpPr>
        <p:spPr>
          <a:xfrm flipV="1">
            <a:off x="7650614" y="4268353"/>
            <a:ext cx="0" cy="717174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9" name="Text 2">
            <a:extLst>
              <a:ext uri="{FF2B5EF4-FFF2-40B4-BE49-F238E27FC236}">
                <a16:creationId xmlns:a16="http://schemas.microsoft.com/office/drawing/2014/main" id="{ADA6D317-7FEF-6674-0292-73ECB71FC655}"/>
              </a:ext>
            </a:extLst>
          </p:cNvPr>
          <p:cNvSpPr/>
          <p:nvPr/>
        </p:nvSpPr>
        <p:spPr>
          <a:xfrm>
            <a:off x="7650614" y="4463690"/>
            <a:ext cx="17131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 dirty="0">
                <a:solidFill>
                  <a:schemeClr val="dk1"/>
                </a:solidFill>
              </a:rPr>
              <a:t>write-commit</a:t>
            </a:r>
          </a:p>
        </p:txBody>
      </p:sp>
      <p:sp>
        <p:nvSpPr>
          <p:cNvPr id="161" name="Text 2">
            <a:extLst>
              <a:ext uri="{FF2B5EF4-FFF2-40B4-BE49-F238E27FC236}">
                <a16:creationId xmlns:a16="http://schemas.microsoft.com/office/drawing/2014/main" id="{DB2CA0F5-0762-62E8-CA50-490F934CBDCB}"/>
              </a:ext>
            </a:extLst>
          </p:cNvPr>
          <p:cNvSpPr/>
          <p:nvPr/>
        </p:nvSpPr>
        <p:spPr>
          <a:xfrm>
            <a:off x="8773099" y="3946851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write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932E8876-EAAE-1E41-12EF-79FD6B84937B}"/>
              </a:ext>
            </a:extLst>
          </p:cNvPr>
          <p:cNvSpPr txBox="1"/>
          <p:nvPr/>
        </p:nvSpPr>
        <p:spPr>
          <a:xfrm>
            <a:off x="6532655" y="4486210"/>
            <a:ext cx="12362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>
              <a:buNone/>
            </a:pPr>
            <a:r>
              <a:rPr lang="en-US" altLang="zh-CN" dirty="0">
                <a:solidFill>
                  <a:schemeClr val="dk1"/>
                </a:solidFill>
              </a:rPr>
              <a:t>read-miss</a:t>
            </a:r>
          </a:p>
        </p:txBody>
      </p:sp>
      <p:cxnSp>
        <p:nvCxnSpPr>
          <p:cNvPr id="166" name="直接箭头连接符 165">
            <a:extLst>
              <a:ext uri="{FF2B5EF4-FFF2-40B4-BE49-F238E27FC236}">
                <a16:creationId xmlns:a16="http://schemas.microsoft.com/office/drawing/2014/main" id="{F0EAC08F-5C7A-1611-949B-54AB9CEB8429}"/>
              </a:ext>
            </a:extLst>
          </p:cNvPr>
          <p:cNvCxnSpPr>
            <a:cxnSpLocks/>
            <a:stCxn id="25" idx="3"/>
            <a:endCxn id="23" idx="1"/>
          </p:cNvCxnSpPr>
          <p:nvPr/>
        </p:nvCxnSpPr>
        <p:spPr>
          <a:xfrm flipV="1">
            <a:off x="5862334" y="3919922"/>
            <a:ext cx="764798" cy="1209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 2">
            <a:extLst>
              <a:ext uri="{FF2B5EF4-FFF2-40B4-BE49-F238E27FC236}">
                <a16:creationId xmlns:a16="http://schemas.microsoft.com/office/drawing/2014/main" id="{6375F318-46BF-1AC1-E728-618B2E6D2900}"/>
              </a:ext>
            </a:extLst>
          </p:cNvPr>
          <p:cNvSpPr/>
          <p:nvPr/>
        </p:nvSpPr>
        <p:spPr>
          <a:xfrm>
            <a:off x="5709678" y="3579699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commit</a:t>
            </a:r>
          </a:p>
        </p:txBody>
      </p:sp>
      <p:cxnSp>
        <p:nvCxnSpPr>
          <p:cNvPr id="177" name="连接符: 肘形 176">
            <a:extLst>
              <a:ext uri="{FF2B5EF4-FFF2-40B4-BE49-F238E27FC236}">
                <a16:creationId xmlns:a16="http://schemas.microsoft.com/office/drawing/2014/main" id="{4E919181-429C-1FA0-D8F8-9FF0809FE6AB}"/>
              </a:ext>
            </a:extLst>
          </p:cNvPr>
          <p:cNvCxnSpPr>
            <a:stCxn id="31" idx="2"/>
            <a:endCxn id="25" idx="2"/>
          </p:cNvCxnSpPr>
          <p:nvPr/>
        </p:nvCxnSpPr>
        <p:spPr>
          <a:xfrm rot="5400000" flipH="1">
            <a:off x="7651407" y="1268250"/>
            <a:ext cx="333570" cy="6307040"/>
          </a:xfrm>
          <a:prstGeom prst="bentConnector3">
            <a:avLst>
              <a:gd name="adj1" fmla="val -371374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9" name="Text 2">
            <a:extLst>
              <a:ext uri="{FF2B5EF4-FFF2-40B4-BE49-F238E27FC236}">
                <a16:creationId xmlns:a16="http://schemas.microsoft.com/office/drawing/2014/main" id="{26FE387D-B03C-CD93-71BF-8DDB721E723D}"/>
              </a:ext>
            </a:extLst>
          </p:cNvPr>
          <p:cNvSpPr/>
          <p:nvPr/>
        </p:nvSpPr>
        <p:spPr>
          <a:xfrm>
            <a:off x="7231660" y="5472186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events</a:t>
            </a:r>
          </a:p>
        </p:txBody>
      </p:sp>
      <p:cxnSp>
        <p:nvCxnSpPr>
          <p:cNvPr id="181" name="连接符: 肘形 180">
            <a:extLst>
              <a:ext uri="{FF2B5EF4-FFF2-40B4-BE49-F238E27FC236}">
                <a16:creationId xmlns:a16="http://schemas.microsoft.com/office/drawing/2014/main" id="{2F4DC391-A4D0-5704-7E40-FF4310CA44F6}"/>
              </a:ext>
            </a:extLst>
          </p:cNvPr>
          <p:cNvCxnSpPr>
            <a:cxnSpLocks/>
          </p:cNvCxnSpPr>
          <p:nvPr/>
        </p:nvCxnSpPr>
        <p:spPr>
          <a:xfrm>
            <a:off x="4410931" y="4281934"/>
            <a:ext cx="6893572" cy="313810"/>
          </a:xfrm>
          <a:prstGeom prst="bentConnector4">
            <a:avLst>
              <a:gd name="adj1" fmla="val 234"/>
              <a:gd name="adj2" fmla="val 608539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 2">
            <a:extLst>
              <a:ext uri="{FF2B5EF4-FFF2-40B4-BE49-F238E27FC236}">
                <a16:creationId xmlns:a16="http://schemas.microsoft.com/office/drawing/2014/main" id="{10257C9B-6124-6ABB-FF34-A6307B8E7807}"/>
              </a:ext>
            </a:extLst>
          </p:cNvPr>
          <p:cNvSpPr/>
          <p:nvPr/>
        </p:nvSpPr>
        <p:spPr>
          <a:xfrm>
            <a:off x="7405181" y="6139445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squash</a:t>
            </a:r>
          </a:p>
        </p:txBody>
      </p:sp>
    </p:spTree>
    <p:extLst>
      <p:ext uri="{BB962C8B-B14F-4D97-AF65-F5344CB8AC3E}">
        <p14:creationId xmlns:p14="http://schemas.microsoft.com/office/powerpoint/2010/main" val="3842935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组合 83">
            <a:extLst>
              <a:ext uri="{FF2B5EF4-FFF2-40B4-BE49-F238E27FC236}">
                <a16:creationId xmlns:a16="http://schemas.microsoft.com/office/drawing/2014/main" id="{38677326-6D13-CB27-5F03-9C1AEF727263}"/>
              </a:ext>
            </a:extLst>
          </p:cNvPr>
          <p:cNvGrpSpPr/>
          <p:nvPr/>
        </p:nvGrpSpPr>
        <p:grpSpPr>
          <a:xfrm>
            <a:off x="3010027" y="730432"/>
            <a:ext cx="5806440" cy="2468227"/>
            <a:chOff x="3274850" y="1511590"/>
            <a:chExt cx="5806440" cy="3749040"/>
          </a:xfrm>
        </p:grpSpPr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BE7DAD37-A1A8-2BF6-0C8A-4F2215C8021A}"/>
                </a:ext>
              </a:extLst>
            </p:cNvPr>
            <p:cNvSpPr/>
            <p:nvPr/>
          </p:nvSpPr>
          <p:spPr>
            <a:xfrm>
              <a:off x="3274850" y="1511590"/>
              <a:ext cx="5806440" cy="3749040"/>
            </a:xfrm>
            <a:prstGeom prst="roundRect">
              <a:avLst/>
            </a:prstGeom>
            <a:solidFill>
              <a:srgbClr val="F8FAFC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7797F42C-C1E2-9E40-67A7-1DDEFD6275F5}"/>
                </a:ext>
              </a:extLst>
            </p:cNvPr>
            <p:cNvSpPr/>
            <p:nvPr/>
          </p:nvSpPr>
          <p:spPr>
            <a:xfrm>
              <a:off x="4635624" y="1597370"/>
              <a:ext cx="3063240" cy="5943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Controller 𝓒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D6A6C37A-6789-B05B-799E-AAB770F4C97C}"/>
              </a:ext>
            </a:extLst>
          </p:cNvPr>
          <p:cNvGrpSpPr/>
          <p:nvPr/>
        </p:nvGrpSpPr>
        <p:grpSpPr>
          <a:xfrm>
            <a:off x="3158470" y="1267440"/>
            <a:ext cx="2395324" cy="667708"/>
            <a:chOff x="3489960" y="2446020"/>
            <a:chExt cx="1325880" cy="960120"/>
          </a:xfrm>
        </p:grpSpPr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2984075E-D2FD-C4EF-BCE0-178548926777}"/>
                </a:ext>
              </a:extLst>
            </p:cNvPr>
            <p:cNvSpPr/>
            <p:nvPr/>
          </p:nvSpPr>
          <p:spPr>
            <a:xfrm>
              <a:off x="3489960" y="2446020"/>
              <a:ext cx="1325880" cy="960120"/>
            </a:xfrm>
            <a:prstGeom prst="roundRect">
              <a:avLst/>
            </a:prstGeom>
            <a:solidFill>
              <a:srgbClr val="EEF2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256C8D91-6D8A-1018-1BAE-4F548A6805AC}"/>
                </a:ext>
              </a:extLst>
            </p:cNvPr>
            <p:cNvSpPr/>
            <p:nvPr/>
          </p:nvSpPr>
          <p:spPr>
            <a:xfrm>
              <a:off x="3581400" y="2516786"/>
              <a:ext cx="1143000" cy="868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Predictor</a:t>
              </a:r>
            </a:p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𝓟</a:t>
              </a:r>
            </a:p>
          </p:txBody>
        </p:sp>
      </p:grpSp>
      <p:sp>
        <p:nvSpPr>
          <p:cNvPr id="21" name="Shape 17">
            <a:extLst>
              <a:ext uri="{FF2B5EF4-FFF2-40B4-BE49-F238E27FC236}">
                <a16:creationId xmlns:a16="http://schemas.microsoft.com/office/drawing/2014/main" id="{B2A87D4C-30A9-D198-84D8-5288C3BC6468}"/>
              </a:ext>
            </a:extLst>
          </p:cNvPr>
          <p:cNvSpPr/>
          <p:nvPr/>
        </p:nvSpPr>
        <p:spPr>
          <a:xfrm>
            <a:off x="6318592" y="1270137"/>
            <a:ext cx="2395324" cy="6677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Gating &amp; Budgeting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𝓖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D89ED18-852B-9F68-44E8-B4A56DD14102}"/>
              </a:ext>
            </a:extLst>
          </p:cNvPr>
          <p:cNvSpPr/>
          <p:nvPr/>
        </p:nvSpPr>
        <p:spPr>
          <a:xfrm>
            <a:off x="6050596" y="1454889"/>
            <a:ext cx="1583255" cy="60411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275F669F-DB96-ACC1-6498-F2D040AF1415}"/>
              </a:ext>
            </a:extLst>
          </p:cNvPr>
          <p:cNvSpPr/>
          <p:nvPr/>
        </p:nvSpPr>
        <p:spPr>
          <a:xfrm>
            <a:off x="6318592" y="2307030"/>
            <a:ext cx="2395324" cy="6677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Buffer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𝓑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927649A-4D34-2956-6047-7185D0E0B6FB}"/>
              </a:ext>
            </a:extLst>
          </p:cNvPr>
          <p:cNvSpPr/>
          <p:nvPr/>
        </p:nvSpPr>
        <p:spPr>
          <a:xfrm>
            <a:off x="3255537" y="2913475"/>
            <a:ext cx="1143000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AEA9170F-F207-2B86-5BCB-C4AA2E34D0AC}"/>
              </a:ext>
            </a:extLst>
          </p:cNvPr>
          <p:cNvSpPr/>
          <p:nvPr/>
        </p:nvSpPr>
        <p:spPr>
          <a:xfrm>
            <a:off x="3158469" y="2308239"/>
            <a:ext cx="2395325" cy="6677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Validation  &amp; Recovery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𝓡</a:t>
            </a:r>
          </a:p>
          <a:p>
            <a:endParaRPr lang="zh-CN" altLang="en-US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E2B91C2-CBD2-9484-57B7-4559BC724F7F}"/>
              </a:ext>
            </a:extLst>
          </p:cNvPr>
          <p:cNvSpPr/>
          <p:nvPr/>
        </p:nvSpPr>
        <p:spPr>
          <a:xfrm>
            <a:off x="5514057" y="3096157"/>
            <a:ext cx="3388114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0" name="Shape 36">
            <a:extLst>
              <a:ext uri="{FF2B5EF4-FFF2-40B4-BE49-F238E27FC236}">
                <a16:creationId xmlns:a16="http://schemas.microsoft.com/office/drawing/2014/main" id="{4B412775-9F75-0EB1-2180-4783B5B3E0CF}"/>
              </a:ext>
            </a:extLst>
          </p:cNvPr>
          <p:cNvSpPr/>
          <p:nvPr/>
        </p:nvSpPr>
        <p:spPr>
          <a:xfrm>
            <a:off x="5680361" y="3723895"/>
            <a:ext cx="3154680" cy="4119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External State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315DB343-B753-2A02-9112-7E2D7F44DE51}"/>
              </a:ext>
            </a:extLst>
          </p:cNvPr>
          <p:cNvSpPr/>
          <p:nvPr/>
        </p:nvSpPr>
        <p:spPr>
          <a:xfrm>
            <a:off x="4427347" y="3769012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2AD12AA8-5D3A-9467-EA63-EDF6AE90D9CA}"/>
              </a:ext>
            </a:extLst>
          </p:cNvPr>
          <p:cNvGrpSpPr/>
          <p:nvPr/>
        </p:nvGrpSpPr>
        <p:grpSpPr>
          <a:xfrm>
            <a:off x="9497312" y="360719"/>
            <a:ext cx="2331720" cy="2948798"/>
            <a:chOff x="9629503" y="1623659"/>
            <a:chExt cx="2331720" cy="2948798"/>
          </a:xfrm>
        </p:grpSpPr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F9930F05-9FFD-4040-FA90-39BA8B55D097}"/>
                </a:ext>
              </a:extLst>
            </p:cNvPr>
            <p:cNvSpPr/>
            <p:nvPr/>
          </p:nvSpPr>
          <p:spPr>
            <a:xfrm>
              <a:off x="9629503" y="1623659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solidFill>
                    <a:srgbClr val="334155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Function Instances</a:t>
              </a:r>
              <a:endParaRPr lang="en-US" sz="1600" b="1" dirty="0"/>
            </a:p>
          </p:txBody>
        </p:sp>
        <p:sp>
          <p:nvSpPr>
            <p:cNvPr id="31" name="Shape 27">
              <a:extLst>
                <a:ext uri="{FF2B5EF4-FFF2-40B4-BE49-F238E27FC236}">
                  <a16:creationId xmlns:a16="http://schemas.microsoft.com/office/drawing/2014/main" id="{70BB2613-66AD-8CAE-1856-539DA4978043}"/>
                </a:ext>
              </a:extLst>
            </p:cNvPr>
            <p:cNvSpPr/>
            <p:nvPr/>
          </p:nvSpPr>
          <p:spPr>
            <a:xfrm>
              <a:off x="9629503" y="1966417"/>
              <a:ext cx="2331720" cy="2606040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4" name="Shape 30">
              <a:extLst>
                <a:ext uri="{FF2B5EF4-FFF2-40B4-BE49-F238E27FC236}">
                  <a16:creationId xmlns:a16="http://schemas.microsoft.com/office/drawing/2014/main" id="{13E49B70-BC5F-6E6C-9019-81176F445DA3}"/>
                </a:ext>
              </a:extLst>
            </p:cNvPr>
            <p:cNvSpPr/>
            <p:nvPr/>
          </p:nvSpPr>
          <p:spPr>
            <a:xfrm>
              <a:off x="9812383" y="2240737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677EF4C9-2365-83A6-77BB-2DF3C25A5492}"/>
                </a:ext>
              </a:extLst>
            </p:cNvPr>
            <p:cNvSpPr/>
            <p:nvPr/>
          </p:nvSpPr>
          <p:spPr>
            <a:xfrm>
              <a:off x="9903823" y="2286457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Normal</a:t>
              </a:r>
            </a:p>
          </p:txBody>
        </p:sp>
        <p:sp>
          <p:nvSpPr>
            <p:cNvPr id="36" name="Shape 32">
              <a:extLst>
                <a:ext uri="{FF2B5EF4-FFF2-40B4-BE49-F238E27FC236}">
                  <a16:creationId xmlns:a16="http://schemas.microsoft.com/office/drawing/2014/main" id="{CE9A3ACE-CD4C-527F-276F-26F49344B259}"/>
                </a:ext>
              </a:extLst>
            </p:cNvPr>
            <p:cNvSpPr/>
            <p:nvPr/>
          </p:nvSpPr>
          <p:spPr>
            <a:xfrm>
              <a:off x="9812383" y="2944825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B58A918D-A321-5480-3757-03E56D2E1A00}"/>
                </a:ext>
              </a:extLst>
            </p:cNvPr>
            <p:cNvSpPr/>
            <p:nvPr/>
          </p:nvSpPr>
          <p:spPr>
            <a:xfrm>
              <a:off x="9903823" y="2990545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</a:t>
              </a:r>
            </a:p>
          </p:txBody>
        </p:sp>
        <p:sp>
          <p:nvSpPr>
            <p:cNvPr id="38" name="Shape 34">
              <a:extLst>
                <a:ext uri="{FF2B5EF4-FFF2-40B4-BE49-F238E27FC236}">
                  <a16:creationId xmlns:a16="http://schemas.microsoft.com/office/drawing/2014/main" id="{A1986CEE-1409-4BEB-58CC-B6F12CC40CCE}"/>
                </a:ext>
              </a:extLst>
            </p:cNvPr>
            <p:cNvSpPr/>
            <p:nvPr/>
          </p:nvSpPr>
          <p:spPr>
            <a:xfrm>
              <a:off x="9812383" y="3648913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29B49F60-7EA0-EDE3-C15A-2420B7630F10}"/>
                </a:ext>
              </a:extLst>
            </p:cNvPr>
            <p:cNvSpPr/>
            <p:nvPr/>
          </p:nvSpPr>
          <p:spPr>
            <a:xfrm>
              <a:off x="9903823" y="3694633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Commit</a:t>
              </a:r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FCA2AD1-7029-65B0-88D5-DD0D714944FE}"/>
              </a:ext>
            </a:extLst>
          </p:cNvPr>
          <p:cNvGrpSpPr/>
          <p:nvPr/>
        </p:nvGrpSpPr>
        <p:grpSpPr>
          <a:xfrm>
            <a:off x="-206759" y="1007419"/>
            <a:ext cx="2736669" cy="1828606"/>
            <a:chOff x="113211" y="1929841"/>
            <a:chExt cx="2736669" cy="1828606"/>
          </a:xfrm>
        </p:grpSpPr>
        <p:sp>
          <p:nvSpPr>
            <p:cNvPr id="5" name="Shape 1">
              <a:extLst>
                <a:ext uri="{FF2B5EF4-FFF2-40B4-BE49-F238E27FC236}">
                  <a16:creationId xmlns:a16="http://schemas.microsoft.com/office/drawing/2014/main" id="{617F978E-4CC9-21DB-A1A5-8479C2B4B4BC}"/>
                </a:ext>
              </a:extLst>
            </p:cNvPr>
            <p:cNvSpPr/>
            <p:nvPr/>
          </p:nvSpPr>
          <p:spPr>
            <a:xfrm>
              <a:off x="113211" y="1929841"/>
              <a:ext cx="2736669" cy="1828606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8C97E19C-EDF3-8987-3B47-53F26427482F}"/>
                </a:ext>
              </a:extLst>
            </p:cNvPr>
            <p:cNvSpPr/>
            <p:nvPr/>
          </p:nvSpPr>
          <p:spPr>
            <a:xfrm>
              <a:off x="425591" y="1985337"/>
              <a:ext cx="2148840" cy="3982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Workflow Spec 𝓦</a:t>
              </a:r>
            </a:p>
          </p:txBody>
        </p: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069C6B18-A234-1DFE-9D13-FC606F1945DB}"/>
                </a:ext>
              </a:extLst>
            </p:cNvPr>
            <p:cNvGrpSpPr/>
            <p:nvPr/>
          </p:nvGrpSpPr>
          <p:grpSpPr>
            <a:xfrm>
              <a:off x="223563" y="2436876"/>
              <a:ext cx="2494055" cy="1090159"/>
              <a:chOff x="755875" y="5441726"/>
              <a:chExt cx="2494055" cy="1090159"/>
            </a:xfrm>
          </p:grpSpPr>
          <p:sp>
            <p:nvSpPr>
              <p:cNvPr id="60" name="矩形: 圆角 59">
                <a:extLst>
                  <a:ext uri="{FF2B5EF4-FFF2-40B4-BE49-F238E27FC236}">
                    <a16:creationId xmlns:a16="http://schemas.microsoft.com/office/drawing/2014/main" id="{81DE4F76-B578-FE61-5EC0-CF69EB9094DC}"/>
                  </a:ext>
                </a:extLst>
              </p:cNvPr>
              <p:cNvSpPr/>
              <p:nvPr/>
            </p:nvSpPr>
            <p:spPr>
              <a:xfrm>
                <a:off x="1764030" y="6207448"/>
                <a:ext cx="480117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B1</a:t>
                </a:r>
                <a:endParaRPr lang="zh-CN" altLang="en-US" dirty="0"/>
              </a:p>
            </p:txBody>
          </p: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E6FFC25E-84C7-494F-42F4-D73FF6A83187}"/>
                  </a:ext>
                </a:extLst>
              </p:cNvPr>
              <p:cNvSpPr/>
              <p:nvPr/>
            </p:nvSpPr>
            <p:spPr>
              <a:xfrm>
                <a:off x="1764029" y="5441726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B2</a:t>
                </a:r>
                <a:endParaRPr lang="zh-CN" altLang="en-US" dirty="0"/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0EAAD55B-06E2-8414-FE66-0089AC9A6A3B}"/>
                  </a:ext>
                </a:extLst>
              </p:cNvPr>
              <p:cNvSpPr/>
              <p:nvPr/>
            </p:nvSpPr>
            <p:spPr>
              <a:xfrm>
                <a:off x="2769812" y="5831673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</a:t>
                </a:r>
                <a:endParaRPr lang="zh-CN" altLang="en-US" dirty="0"/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872A5504-6B00-01EC-7F66-6070EEBB8412}"/>
                  </a:ext>
                </a:extLst>
              </p:cNvPr>
              <p:cNvSpPr/>
              <p:nvPr/>
            </p:nvSpPr>
            <p:spPr>
              <a:xfrm>
                <a:off x="755875" y="5818828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A</a:t>
                </a:r>
                <a:endParaRPr lang="zh-CN" altLang="en-US" dirty="0"/>
              </a:p>
            </p:txBody>
          </p:sp>
          <p:cxnSp>
            <p:nvCxnSpPr>
              <p:cNvPr id="72" name="连接符: 肘形 71">
                <a:extLst>
                  <a:ext uri="{FF2B5EF4-FFF2-40B4-BE49-F238E27FC236}">
                    <a16:creationId xmlns:a16="http://schemas.microsoft.com/office/drawing/2014/main" id="{DF2154C1-5460-B2E1-811B-E546659058E0}"/>
                  </a:ext>
                </a:extLst>
              </p:cNvPr>
              <p:cNvCxnSpPr>
                <a:stCxn id="70" idx="3"/>
                <a:endCxn id="61" idx="1"/>
              </p:cNvCxnSpPr>
              <p:nvPr/>
            </p:nvCxnSpPr>
            <p:spPr>
              <a:xfrm flipV="1">
                <a:off x="1235993" y="5603945"/>
                <a:ext cx="528036" cy="377102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连接符: 肘形 72">
                <a:extLst>
                  <a:ext uri="{FF2B5EF4-FFF2-40B4-BE49-F238E27FC236}">
                    <a16:creationId xmlns:a16="http://schemas.microsoft.com/office/drawing/2014/main" id="{FE8BDA60-FD45-1BD4-19B0-FD98D144DAD4}"/>
                  </a:ext>
                </a:extLst>
              </p:cNvPr>
              <p:cNvCxnSpPr>
                <a:cxnSpLocks/>
                <a:stCxn id="70" idx="3"/>
                <a:endCxn id="60" idx="1"/>
              </p:cNvCxnSpPr>
              <p:nvPr/>
            </p:nvCxnSpPr>
            <p:spPr>
              <a:xfrm>
                <a:off x="1235993" y="5981047"/>
                <a:ext cx="528037" cy="388620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连接符: 肘形 75">
                <a:extLst>
                  <a:ext uri="{FF2B5EF4-FFF2-40B4-BE49-F238E27FC236}">
                    <a16:creationId xmlns:a16="http://schemas.microsoft.com/office/drawing/2014/main" id="{90ECA90B-17E3-FBC4-1499-8F57B4665D84}"/>
                  </a:ext>
                </a:extLst>
              </p:cNvPr>
              <p:cNvCxnSpPr>
                <a:cxnSpLocks/>
                <a:stCxn id="61" idx="3"/>
                <a:endCxn id="69" idx="1"/>
              </p:cNvCxnSpPr>
              <p:nvPr/>
            </p:nvCxnSpPr>
            <p:spPr>
              <a:xfrm>
                <a:off x="2244147" y="5603945"/>
                <a:ext cx="525665" cy="389947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连接符: 肘形 78">
                <a:extLst>
                  <a:ext uri="{FF2B5EF4-FFF2-40B4-BE49-F238E27FC236}">
                    <a16:creationId xmlns:a16="http://schemas.microsoft.com/office/drawing/2014/main" id="{7C1116C9-71F2-DBEC-1FB9-E80570F5DC6F}"/>
                  </a:ext>
                </a:extLst>
              </p:cNvPr>
              <p:cNvCxnSpPr>
                <a:cxnSpLocks/>
                <a:stCxn id="60" idx="3"/>
                <a:endCxn id="69" idx="1"/>
              </p:cNvCxnSpPr>
              <p:nvPr/>
            </p:nvCxnSpPr>
            <p:spPr>
              <a:xfrm flipV="1">
                <a:off x="2244147" y="5993892"/>
                <a:ext cx="525665" cy="375775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E91F3F0E-CBC7-E59A-6F87-219828956E1A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5553794" y="1601294"/>
            <a:ext cx="764798" cy="269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EFDBF507-3ED8-AED5-6A87-7EC8218B4368}"/>
              </a:ext>
            </a:extLst>
          </p:cNvPr>
          <p:cNvGrpSpPr/>
          <p:nvPr/>
        </p:nvGrpSpPr>
        <p:grpSpPr>
          <a:xfrm>
            <a:off x="8090829" y="5154815"/>
            <a:ext cx="3361606" cy="1083275"/>
            <a:chOff x="8508697" y="5161222"/>
            <a:chExt cx="3361606" cy="1083275"/>
          </a:xfrm>
        </p:grpSpPr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348F08A3-F506-64D8-F1B8-E2071A0DC33B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722716"/>
              <a:ext cx="1275806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0FEBDADE-40E3-1E6A-1554-18E106C6DE72}"/>
                </a:ext>
              </a:extLst>
            </p:cNvPr>
            <p:cNvSpPr txBox="1"/>
            <p:nvPr/>
          </p:nvSpPr>
          <p:spPr>
            <a:xfrm>
              <a:off x="9146600" y="5522236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Data / State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D0F9BB25-C330-90B2-F766-CC2543E94878}"/>
                </a:ext>
              </a:extLst>
            </p:cNvPr>
            <p:cNvSpPr txBox="1"/>
            <p:nvPr/>
          </p:nvSpPr>
          <p:spPr>
            <a:xfrm>
              <a:off x="9663060" y="5161222"/>
              <a:ext cx="18951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Control / Event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cxnSp>
          <p:nvCxnSpPr>
            <p:cNvPr id="113" name="直接箭头连接符 112">
              <a:extLst>
                <a:ext uri="{FF2B5EF4-FFF2-40B4-BE49-F238E27FC236}">
                  <a16:creationId xmlns:a16="http://schemas.microsoft.com/office/drawing/2014/main" id="{5F964473-4D41-0918-D06F-14D36E892B06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370019"/>
              <a:ext cx="127580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BC1D6D44-AA16-534D-92D3-2DE45659BA45}"/>
                </a:ext>
              </a:extLst>
            </p:cNvPr>
            <p:cNvCxnSpPr>
              <a:cxnSpLocks/>
            </p:cNvCxnSpPr>
            <p:nvPr/>
          </p:nvCxnSpPr>
          <p:spPr>
            <a:xfrm>
              <a:off x="8522637" y="6064747"/>
              <a:ext cx="1247926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215D147F-D085-9566-335C-0789785AD547}"/>
                </a:ext>
              </a:extLst>
            </p:cNvPr>
            <p:cNvSpPr txBox="1"/>
            <p:nvPr/>
          </p:nvSpPr>
          <p:spPr>
            <a:xfrm>
              <a:off x="9238560" y="5875165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Static / Config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</p:grp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DC96C169-D42A-B064-2437-31B24CB8D112}"/>
              </a:ext>
            </a:extLst>
          </p:cNvPr>
          <p:cNvCxnSpPr>
            <a:cxnSpLocks/>
          </p:cNvCxnSpPr>
          <p:nvPr/>
        </p:nvCxnSpPr>
        <p:spPr>
          <a:xfrm>
            <a:off x="2529910" y="1964545"/>
            <a:ext cx="480117" cy="0"/>
          </a:xfrm>
          <a:prstGeom prst="straightConnector1">
            <a:avLst/>
          </a:prstGeom>
          <a:ln w="38100">
            <a:solidFill>
              <a:srgbClr val="00B050"/>
            </a:solidFill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Text 2">
            <a:extLst>
              <a:ext uri="{FF2B5EF4-FFF2-40B4-BE49-F238E27FC236}">
                <a16:creationId xmlns:a16="http://schemas.microsoft.com/office/drawing/2014/main" id="{E0D9D341-BED4-1A37-58A4-F3AADCD5E8DA}"/>
              </a:ext>
            </a:extLst>
          </p:cNvPr>
          <p:cNvSpPr/>
          <p:nvPr/>
        </p:nvSpPr>
        <p:spPr>
          <a:xfrm>
            <a:off x="1696751" y="1585080"/>
            <a:ext cx="21488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load</a:t>
            </a:r>
          </a:p>
        </p:txBody>
      </p: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5BD68205-9BBB-99F6-E4C1-33F369F0653B}"/>
              </a:ext>
            </a:extLst>
          </p:cNvPr>
          <p:cNvCxnSpPr>
            <a:cxnSpLocks/>
          </p:cNvCxnSpPr>
          <p:nvPr/>
        </p:nvCxnSpPr>
        <p:spPr>
          <a:xfrm>
            <a:off x="8722849" y="1585080"/>
            <a:ext cx="774463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Text 2">
            <a:extLst>
              <a:ext uri="{FF2B5EF4-FFF2-40B4-BE49-F238E27FC236}">
                <a16:creationId xmlns:a16="http://schemas.microsoft.com/office/drawing/2014/main" id="{D364B490-E458-4CDB-F740-930506A8EACA}"/>
              </a:ext>
            </a:extLst>
          </p:cNvPr>
          <p:cNvSpPr/>
          <p:nvPr/>
        </p:nvSpPr>
        <p:spPr>
          <a:xfrm>
            <a:off x="8612572" y="1230983"/>
            <a:ext cx="1074420" cy="32397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invoke</a:t>
            </a:r>
          </a:p>
        </p:txBody>
      </p: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9A8BB600-4DC1-A936-36BA-88885DA17C7A}"/>
              </a:ext>
            </a:extLst>
          </p:cNvPr>
          <p:cNvCxnSpPr>
            <a:cxnSpLocks/>
          </p:cNvCxnSpPr>
          <p:nvPr/>
        </p:nvCxnSpPr>
        <p:spPr>
          <a:xfrm flipH="1">
            <a:off x="8722849" y="2734779"/>
            <a:ext cx="774463" cy="0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Text 2">
            <a:extLst>
              <a:ext uri="{FF2B5EF4-FFF2-40B4-BE49-F238E27FC236}">
                <a16:creationId xmlns:a16="http://schemas.microsoft.com/office/drawing/2014/main" id="{20A89689-6BE9-A6D1-9802-4866BF893AEE}"/>
              </a:ext>
            </a:extLst>
          </p:cNvPr>
          <p:cNvSpPr/>
          <p:nvPr/>
        </p:nvSpPr>
        <p:spPr>
          <a:xfrm>
            <a:off x="8459964" y="2324978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read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C67E0791-DBC1-5A92-DB1B-E82D47BA621B}"/>
              </a:ext>
            </a:extLst>
          </p:cNvPr>
          <p:cNvCxnSpPr>
            <a:cxnSpLocks/>
          </p:cNvCxnSpPr>
          <p:nvPr/>
        </p:nvCxnSpPr>
        <p:spPr>
          <a:xfrm flipV="1">
            <a:off x="7342074" y="2989315"/>
            <a:ext cx="0" cy="717174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9" name="Text 2">
            <a:extLst>
              <a:ext uri="{FF2B5EF4-FFF2-40B4-BE49-F238E27FC236}">
                <a16:creationId xmlns:a16="http://schemas.microsoft.com/office/drawing/2014/main" id="{ADA6D317-7FEF-6674-0292-73ECB71FC655}"/>
              </a:ext>
            </a:extLst>
          </p:cNvPr>
          <p:cNvSpPr/>
          <p:nvPr/>
        </p:nvSpPr>
        <p:spPr>
          <a:xfrm>
            <a:off x="7342074" y="3184652"/>
            <a:ext cx="17131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 dirty="0">
                <a:solidFill>
                  <a:schemeClr val="dk1"/>
                </a:solidFill>
              </a:rPr>
              <a:t>write-commit</a:t>
            </a:r>
          </a:p>
        </p:txBody>
      </p:sp>
      <p:sp>
        <p:nvSpPr>
          <p:cNvPr id="161" name="Text 2">
            <a:extLst>
              <a:ext uri="{FF2B5EF4-FFF2-40B4-BE49-F238E27FC236}">
                <a16:creationId xmlns:a16="http://schemas.microsoft.com/office/drawing/2014/main" id="{DB2CA0F5-0762-62E8-CA50-490F934CBDCB}"/>
              </a:ext>
            </a:extLst>
          </p:cNvPr>
          <p:cNvSpPr/>
          <p:nvPr/>
        </p:nvSpPr>
        <p:spPr>
          <a:xfrm>
            <a:off x="8464559" y="2667813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write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932E8876-EAAE-1E41-12EF-79FD6B84937B}"/>
              </a:ext>
            </a:extLst>
          </p:cNvPr>
          <p:cNvSpPr txBox="1"/>
          <p:nvPr/>
        </p:nvSpPr>
        <p:spPr>
          <a:xfrm>
            <a:off x="6224115" y="3207172"/>
            <a:ext cx="12362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>
              <a:buNone/>
            </a:pPr>
            <a:r>
              <a:rPr lang="en-US" altLang="zh-CN" dirty="0">
                <a:solidFill>
                  <a:schemeClr val="dk1"/>
                </a:solidFill>
              </a:rPr>
              <a:t>read-miss</a:t>
            </a:r>
          </a:p>
        </p:txBody>
      </p:sp>
      <p:cxnSp>
        <p:nvCxnSpPr>
          <p:cNvPr id="166" name="直接箭头连接符 165">
            <a:extLst>
              <a:ext uri="{FF2B5EF4-FFF2-40B4-BE49-F238E27FC236}">
                <a16:creationId xmlns:a16="http://schemas.microsoft.com/office/drawing/2014/main" id="{F0EAC08F-5C7A-1611-949B-54AB9CEB8429}"/>
              </a:ext>
            </a:extLst>
          </p:cNvPr>
          <p:cNvCxnSpPr>
            <a:cxnSpLocks/>
            <a:stCxn id="25" idx="3"/>
            <a:endCxn id="23" idx="1"/>
          </p:cNvCxnSpPr>
          <p:nvPr/>
        </p:nvCxnSpPr>
        <p:spPr>
          <a:xfrm flipV="1">
            <a:off x="5553794" y="2640884"/>
            <a:ext cx="764798" cy="1209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 2">
            <a:extLst>
              <a:ext uri="{FF2B5EF4-FFF2-40B4-BE49-F238E27FC236}">
                <a16:creationId xmlns:a16="http://schemas.microsoft.com/office/drawing/2014/main" id="{6375F318-46BF-1AC1-E728-618B2E6D2900}"/>
              </a:ext>
            </a:extLst>
          </p:cNvPr>
          <p:cNvSpPr/>
          <p:nvPr/>
        </p:nvSpPr>
        <p:spPr>
          <a:xfrm>
            <a:off x="5401138" y="2300661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commit</a:t>
            </a:r>
          </a:p>
        </p:txBody>
      </p:sp>
      <p:cxnSp>
        <p:nvCxnSpPr>
          <p:cNvPr id="177" name="连接符: 肘形 176">
            <a:extLst>
              <a:ext uri="{FF2B5EF4-FFF2-40B4-BE49-F238E27FC236}">
                <a16:creationId xmlns:a16="http://schemas.microsoft.com/office/drawing/2014/main" id="{4E919181-429C-1FA0-D8F8-9FF0809FE6AB}"/>
              </a:ext>
            </a:extLst>
          </p:cNvPr>
          <p:cNvCxnSpPr>
            <a:stCxn id="31" idx="2"/>
            <a:endCxn id="25" idx="2"/>
          </p:cNvCxnSpPr>
          <p:nvPr/>
        </p:nvCxnSpPr>
        <p:spPr>
          <a:xfrm rot="5400000" flipH="1">
            <a:off x="7342867" y="-10788"/>
            <a:ext cx="333570" cy="6307040"/>
          </a:xfrm>
          <a:prstGeom prst="bentConnector3">
            <a:avLst>
              <a:gd name="adj1" fmla="val -371374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9" name="Text 2">
            <a:extLst>
              <a:ext uri="{FF2B5EF4-FFF2-40B4-BE49-F238E27FC236}">
                <a16:creationId xmlns:a16="http://schemas.microsoft.com/office/drawing/2014/main" id="{26FE387D-B03C-CD93-71BF-8DDB721E723D}"/>
              </a:ext>
            </a:extLst>
          </p:cNvPr>
          <p:cNvSpPr/>
          <p:nvPr/>
        </p:nvSpPr>
        <p:spPr>
          <a:xfrm>
            <a:off x="6923120" y="4193148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events</a:t>
            </a:r>
          </a:p>
        </p:txBody>
      </p:sp>
      <p:cxnSp>
        <p:nvCxnSpPr>
          <p:cNvPr id="181" name="连接符: 肘形 180">
            <a:extLst>
              <a:ext uri="{FF2B5EF4-FFF2-40B4-BE49-F238E27FC236}">
                <a16:creationId xmlns:a16="http://schemas.microsoft.com/office/drawing/2014/main" id="{2F4DC391-A4D0-5704-7E40-FF4310CA44F6}"/>
              </a:ext>
            </a:extLst>
          </p:cNvPr>
          <p:cNvCxnSpPr>
            <a:cxnSpLocks/>
          </p:cNvCxnSpPr>
          <p:nvPr/>
        </p:nvCxnSpPr>
        <p:spPr>
          <a:xfrm>
            <a:off x="4102391" y="3002896"/>
            <a:ext cx="6893572" cy="313810"/>
          </a:xfrm>
          <a:prstGeom prst="bentConnector4">
            <a:avLst>
              <a:gd name="adj1" fmla="val 234"/>
              <a:gd name="adj2" fmla="val 608539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 2">
            <a:extLst>
              <a:ext uri="{FF2B5EF4-FFF2-40B4-BE49-F238E27FC236}">
                <a16:creationId xmlns:a16="http://schemas.microsoft.com/office/drawing/2014/main" id="{10257C9B-6124-6ABB-FF34-A6307B8E7807}"/>
              </a:ext>
            </a:extLst>
          </p:cNvPr>
          <p:cNvSpPr/>
          <p:nvPr/>
        </p:nvSpPr>
        <p:spPr>
          <a:xfrm>
            <a:off x="7096641" y="4860407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squash</a:t>
            </a: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1012463B-9937-91D0-8F75-0F586A33F105}"/>
              </a:ext>
            </a:extLst>
          </p:cNvPr>
          <p:cNvSpPr/>
          <p:nvPr/>
        </p:nvSpPr>
        <p:spPr>
          <a:xfrm>
            <a:off x="5370860" y="1247576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967428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>
            <a:extLst>
              <a:ext uri="{FF2B5EF4-FFF2-40B4-BE49-F238E27FC236}">
                <a16:creationId xmlns:a16="http://schemas.microsoft.com/office/drawing/2014/main" id="{61A01840-B520-69D3-44DD-1446CCDD15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5114330"/>
              </p:ext>
            </p:extLst>
          </p:nvPr>
        </p:nvGraphicFramePr>
        <p:xfrm>
          <a:off x="822960" y="1417320"/>
          <a:ext cx="553212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hape 5">
            <a:extLst>
              <a:ext uri="{FF2B5EF4-FFF2-40B4-BE49-F238E27FC236}">
                <a16:creationId xmlns:a16="http://schemas.microsoft.com/office/drawing/2014/main" id="{1EB9378F-EA02-191C-D076-250E6C6C726B}"/>
              </a:ext>
            </a:extLst>
          </p:cNvPr>
          <p:cNvSpPr/>
          <p:nvPr/>
        </p:nvSpPr>
        <p:spPr>
          <a:xfrm>
            <a:off x="4871369" y="1554480"/>
            <a:ext cx="0" cy="297180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90B8D69-79BD-8A3B-42E1-7B343668CBBA}"/>
              </a:ext>
            </a:extLst>
          </p:cNvPr>
          <p:cNvSpPr/>
          <p:nvPr/>
        </p:nvSpPr>
        <p:spPr>
          <a:xfrm>
            <a:off x="4569811" y="1211580"/>
            <a:ext cx="13997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τ = 0.45</a:t>
            </a:r>
            <a:endParaRPr lang="en-US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3EB4318-34CB-5560-6707-1F30F530D923}"/>
              </a:ext>
            </a:extLst>
          </p:cNvPr>
          <p:cNvSpPr/>
          <p:nvPr/>
        </p:nvSpPr>
        <p:spPr>
          <a:xfrm>
            <a:off x="7526968" y="1534053"/>
            <a:ext cx="2895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 vs </a:t>
            </a:r>
            <a:r>
              <a:rPr lang="en-US" sz="1400" b="1" dirty="0" err="1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N-way（τ-</a:t>
            </a:r>
            <a:r>
              <a:rPr lang="en-US" altLang="zh-CN" sz="1400" b="1" dirty="0" err="1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gating</a:t>
            </a:r>
            <a:r>
              <a:rPr 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400" dirty="0"/>
          </a:p>
        </p:txBody>
      </p:sp>
      <p:sp>
        <p:nvSpPr>
          <p:cNvPr id="9" name="Shape 16">
            <a:extLst>
              <a:ext uri="{FF2B5EF4-FFF2-40B4-BE49-F238E27FC236}">
                <a16:creationId xmlns:a16="http://schemas.microsoft.com/office/drawing/2014/main" id="{2BAB625A-72E3-EFB5-CE20-55062E23DEEF}"/>
              </a:ext>
            </a:extLst>
          </p:cNvPr>
          <p:cNvSpPr/>
          <p:nvPr/>
        </p:nvSpPr>
        <p:spPr>
          <a:xfrm>
            <a:off x="6277256" y="2962697"/>
            <a:ext cx="914400" cy="50292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0" name="Text 17">
            <a:extLst>
              <a:ext uri="{FF2B5EF4-FFF2-40B4-BE49-F238E27FC236}">
                <a16:creationId xmlns:a16="http://schemas.microsoft.com/office/drawing/2014/main" id="{D35F8255-C4AB-0E0D-4BFB-A8F50E282D64}"/>
              </a:ext>
            </a:extLst>
          </p:cNvPr>
          <p:cNvSpPr/>
          <p:nvPr/>
        </p:nvSpPr>
        <p:spPr>
          <a:xfrm>
            <a:off x="6277256" y="3001413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730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Shape 18">
            <a:extLst>
              <a:ext uri="{FF2B5EF4-FFF2-40B4-BE49-F238E27FC236}">
                <a16:creationId xmlns:a16="http://schemas.microsoft.com/office/drawing/2014/main" id="{42471E2C-3D6B-178C-FC89-307413106237}"/>
              </a:ext>
            </a:extLst>
          </p:cNvPr>
          <p:cNvSpPr/>
          <p:nvPr/>
        </p:nvSpPr>
        <p:spPr>
          <a:xfrm flipV="1">
            <a:off x="7234458" y="2249465"/>
            <a:ext cx="2288918" cy="934194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9">
            <a:extLst>
              <a:ext uri="{FF2B5EF4-FFF2-40B4-BE49-F238E27FC236}">
                <a16:creationId xmlns:a16="http://schemas.microsoft.com/office/drawing/2014/main" id="{A668AEC9-416B-581E-E9A7-BF8B8F1D1061}"/>
              </a:ext>
            </a:extLst>
          </p:cNvPr>
          <p:cNvSpPr/>
          <p:nvPr/>
        </p:nvSpPr>
        <p:spPr>
          <a:xfrm>
            <a:off x="10568322" y="2297129"/>
            <a:ext cx="10486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πₜ(v₁)=0.51</a:t>
            </a:r>
            <a:endParaRPr lang="en-US" sz="1200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E7A1E536-6BA5-184E-02CB-94B8EAA610C9}"/>
              </a:ext>
            </a:extLst>
          </p:cNvPr>
          <p:cNvGrpSpPr/>
          <p:nvPr/>
        </p:nvGrpSpPr>
        <p:grpSpPr>
          <a:xfrm>
            <a:off x="9523376" y="2237693"/>
            <a:ext cx="1051560" cy="424905"/>
            <a:chOff x="10241280" y="1852146"/>
            <a:chExt cx="1051560" cy="424905"/>
          </a:xfrm>
        </p:grpSpPr>
        <p:sp>
          <p:nvSpPr>
            <p:cNvPr id="13" name="Shape 20">
              <a:extLst>
                <a:ext uri="{FF2B5EF4-FFF2-40B4-BE49-F238E27FC236}">
                  <a16:creationId xmlns:a16="http://schemas.microsoft.com/office/drawing/2014/main" id="{93F5E2FC-D010-1B55-C85B-011E54A8C1D1}"/>
                </a:ext>
              </a:extLst>
            </p:cNvPr>
            <p:cNvSpPr/>
            <p:nvPr/>
          </p:nvSpPr>
          <p:spPr>
            <a:xfrm>
              <a:off x="10241280" y="1865571"/>
              <a:ext cx="1051560" cy="411480"/>
            </a:xfrm>
            <a:prstGeom prst="roundRect">
              <a:avLst/>
            </a:prstGeom>
            <a:solidFill>
              <a:srgbClr val="ECFDF5"/>
            </a:solidFill>
            <a:ln w="31750">
              <a:solidFill>
                <a:srgbClr val="16A34A"/>
              </a:solidFill>
              <a:prstDash val="solid"/>
            </a:ln>
          </p:spPr>
        </p:sp>
        <p:sp>
          <p:nvSpPr>
            <p:cNvPr id="14" name="Text 21">
              <a:extLst>
                <a:ext uri="{FF2B5EF4-FFF2-40B4-BE49-F238E27FC236}">
                  <a16:creationId xmlns:a16="http://schemas.microsoft.com/office/drawing/2014/main" id="{9558FC31-DB3F-9AAD-04A0-05292E4C9E0D}"/>
                </a:ext>
              </a:extLst>
            </p:cNvPr>
            <p:cNvSpPr/>
            <p:nvPr/>
          </p:nvSpPr>
          <p:spPr>
            <a:xfrm>
              <a:off x="10241280" y="1852146"/>
              <a:ext cx="105156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v₁</a:t>
              </a:r>
            </a:p>
          </p:txBody>
        </p:sp>
      </p:grpSp>
      <p:sp>
        <p:nvSpPr>
          <p:cNvPr id="15" name="Shape 22">
            <a:extLst>
              <a:ext uri="{FF2B5EF4-FFF2-40B4-BE49-F238E27FC236}">
                <a16:creationId xmlns:a16="http://schemas.microsoft.com/office/drawing/2014/main" id="{6D6386BE-E599-8E59-9174-4E36254C1A58}"/>
              </a:ext>
            </a:extLst>
          </p:cNvPr>
          <p:cNvSpPr/>
          <p:nvPr/>
        </p:nvSpPr>
        <p:spPr>
          <a:xfrm>
            <a:off x="7213058" y="3209585"/>
            <a:ext cx="2288918" cy="10166"/>
          </a:xfrm>
          <a:prstGeom prst="line">
            <a:avLst/>
          </a:prstGeom>
          <a:noFill/>
          <a:ln w="3175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18" name="Text 23">
            <a:extLst>
              <a:ext uri="{FF2B5EF4-FFF2-40B4-BE49-F238E27FC236}">
                <a16:creationId xmlns:a16="http://schemas.microsoft.com/office/drawing/2014/main" id="{B082E8E0-1E47-567D-EB59-CFC6007D8FAB}"/>
              </a:ext>
            </a:extLst>
          </p:cNvPr>
          <p:cNvSpPr/>
          <p:nvPr/>
        </p:nvSpPr>
        <p:spPr>
          <a:xfrm>
            <a:off x="10568322" y="3072425"/>
            <a:ext cx="10486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πₜ(v₂)=0.46</a:t>
            </a:r>
            <a:endParaRPr lang="en-US" sz="1200" dirty="0"/>
          </a:p>
        </p:txBody>
      </p: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B3ED9389-CEDB-9041-16BE-07823BAC202B}"/>
              </a:ext>
            </a:extLst>
          </p:cNvPr>
          <p:cNvGrpSpPr/>
          <p:nvPr/>
        </p:nvGrpSpPr>
        <p:grpSpPr>
          <a:xfrm>
            <a:off x="9523376" y="3003845"/>
            <a:ext cx="1051560" cy="411480"/>
            <a:chOff x="10241280" y="2514600"/>
            <a:chExt cx="1051560" cy="411480"/>
          </a:xfrm>
        </p:grpSpPr>
        <p:sp>
          <p:nvSpPr>
            <p:cNvPr id="27" name="Shape 24">
              <a:extLst>
                <a:ext uri="{FF2B5EF4-FFF2-40B4-BE49-F238E27FC236}">
                  <a16:creationId xmlns:a16="http://schemas.microsoft.com/office/drawing/2014/main" id="{98A1732A-DD8E-2E57-B27D-709D8DBD511F}"/>
                </a:ext>
              </a:extLst>
            </p:cNvPr>
            <p:cNvSpPr/>
            <p:nvPr/>
          </p:nvSpPr>
          <p:spPr>
            <a:xfrm>
              <a:off x="10241280" y="2514600"/>
              <a:ext cx="1051560" cy="41148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0">
              <a:solidFill>
                <a:schemeClr val="accent2">
                  <a:lumMod val="75000"/>
                </a:schemeClr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8" name="Text 25">
              <a:extLst>
                <a:ext uri="{FF2B5EF4-FFF2-40B4-BE49-F238E27FC236}">
                  <a16:creationId xmlns:a16="http://schemas.microsoft.com/office/drawing/2014/main" id="{8B343EC6-4016-4410-F6BD-8D74C3F67BA6}"/>
                </a:ext>
              </a:extLst>
            </p:cNvPr>
            <p:cNvSpPr/>
            <p:nvPr/>
          </p:nvSpPr>
          <p:spPr>
            <a:xfrm>
              <a:off x="10241280" y="2514600"/>
              <a:ext cx="1051560" cy="411480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 anchor="ctr"/>
            <a:lstStyle/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v₂</a:t>
              </a:r>
            </a:p>
          </p:txBody>
        </p:sp>
      </p:grpSp>
      <p:sp>
        <p:nvSpPr>
          <p:cNvPr id="30" name="Text 27">
            <a:extLst>
              <a:ext uri="{FF2B5EF4-FFF2-40B4-BE49-F238E27FC236}">
                <a16:creationId xmlns:a16="http://schemas.microsoft.com/office/drawing/2014/main" id="{00D0601B-36EC-8A59-54B9-A6B446249EFD}"/>
              </a:ext>
            </a:extLst>
          </p:cNvPr>
          <p:cNvSpPr/>
          <p:nvPr/>
        </p:nvSpPr>
        <p:spPr>
          <a:xfrm>
            <a:off x="10565404" y="389275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πₜ(v₃)=0.03</a:t>
            </a:r>
            <a:endParaRPr lang="en-US" sz="120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ACF1E5E6-8446-66B3-D38A-E87B24336944}"/>
              </a:ext>
            </a:extLst>
          </p:cNvPr>
          <p:cNvSpPr/>
          <p:nvPr/>
        </p:nvSpPr>
        <p:spPr>
          <a:xfrm>
            <a:off x="9537920" y="3852462"/>
            <a:ext cx="1051560" cy="41148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D658245C-8AEF-2963-F4CE-E52EB90312A0}"/>
              </a:ext>
            </a:extLst>
          </p:cNvPr>
          <p:cNvSpPr/>
          <p:nvPr/>
        </p:nvSpPr>
        <p:spPr>
          <a:xfrm>
            <a:off x="9523376" y="3838577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v₃</a:t>
            </a:r>
          </a:p>
        </p:txBody>
      </p:sp>
      <p:sp>
        <p:nvSpPr>
          <p:cNvPr id="56" name="Shape 34">
            <a:extLst>
              <a:ext uri="{FF2B5EF4-FFF2-40B4-BE49-F238E27FC236}">
                <a16:creationId xmlns:a16="http://schemas.microsoft.com/office/drawing/2014/main" id="{1BFA93D7-DCFB-DE84-B3FD-ACD60F9B4E69}"/>
              </a:ext>
            </a:extLst>
          </p:cNvPr>
          <p:cNvSpPr/>
          <p:nvPr/>
        </p:nvSpPr>
        <p:spPr>
          <a:xfrm>
            <a:off x="7234457" y="3245677"/>
            <a:ext cx="2267518" cy="80486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</a:ln>
        </p:spPr>
      </p:sp>
      <p:sp>
        <p:nvSpPr>
          <p:cNvPr id="59" name="Text 21">
            <a:extLst>
              <a:ext uri="{FF2B5EF4-FFF2-40B4-BE49-F238E27FC236}">
                <a16:creationId xmlns:a16="http://schemas.microsoft.com/office/drawing/2014/main" id="{E5EDB913-CE7C-1CC8-57DB-F2893009304D}"/>
              </a:ext>
            </a:extLst>
          </p:cNvPr>
          <p:cNvSpPr/>
          <p:nvPr/>
        </p:nvSpPr>
        <p:spPr>
          <a:xfrm>
            <a:off x="7762086" y="2312102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taken</a:t>
            </a:r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37C606FB-9B11-C0E3-8F1A-E96E4A01EF50}"/>
              </a:ext>
            </a:extLst>
          </p:cNvPr>
          <p:cNvSpPr/>
          <p:nvPr/>
        </p:nvSpPr>
        <p:spPr>
          <a:xfrm>
            <a:off x="7760966" y="2856687"/>
            <a:ext cx="16381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taken in N-way </a:t>
            </a:r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3724E856-AA55-786A-10BC-BFE96B808830}"/>
              </a:ext>
            </a:extLst>
          </p:cNvPr>
          <p:cNvSpPr/>
          <p:nvPr/>
        </p:nvSpPr>
        <p:spPr>
          <a:xfrm>
            <a:off x="7705131" y="3664987"/>
            <a:ext cx="116546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not taken</a:t>
            </a:r>
          </a:p>
        </p:txBody>
      </p:sp>
    </p:spTree>
    <p:extLst>
      <p:ext uri="{BB962C8B-B14F-4D97-AF65-F5344CB8AC3E}">
        <p14:creationId xmlns:p14="http://schemas.microsoft.com/office/powerpoint/2010/main" val="850857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09FD5F8-9E4F-DF52-A856-E466740DB398}"/>
              </a:ext>
            </a:extLst>
          </p:cNvPr>
          <p:cNvGrpSpPr/>
          <p:nvPr/>
        </p:nvGrpSpPr>
        <p:grpSpPr>
          <a:xfrm>
            <a:off x="2828593" y="1845856"/>
            <a:ext cx="7127567" cy="4479308"/>
            <a:chOff x="2828593" y="1845856"/>
            <a:chExt cx="7127567" cy="4479308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0538AEBF-12CF-8662-2EA4-E23026788482}"/>
                </a:ext>
              </a:extLst>
            </p:cNvPr>
            <p:cNvGrpSpPr/>
            <p:nvPr/>
          </p:nvGrpSpPr>
          <p:grpSpPr>
            <a:xfrm>
              <a:off x="4663440" y="1845856"/>
              <a:ext cx="2743200" cy="1350791"/>
              <a:chOff x="914400" y="1903212"/>
              <a:chExt cx="2743200" cy="1350791"/>
            </a:xfrm>
          </p:grpSpPr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AF4AAB5F-98AE-8C26-7DA0-0FBD14359798}"/>
                  </a:ext>
                </a:extLst>
              </p:cNvPr>
              <p:cNvSpPr/>
              <p:nvPr/>
            </p:nvSpPr>
            <p:spPr>
              <a:xfrm>
                <a:off x="1611000" y="1903212"/>
                <a:ext cx="1350000" cy="1350791"/>
              </a:xfrm>
              <a:prstGeom prst="ellipse">
                <a:avLst/>
              </a:prstGeom>
              <a:solidFill>
                <a:srgbClr val="E8F1FF"/>
              </a:solidFill>
              <a:ln w="25400">
                <a:solidFill>
                  <a:srgbClr val="2563EB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" name="Text 3">
                <a:extLst>
                  <a:ext uri="{FF2B5EF4-FFF2-40B4-BE49-F238E27FC236}">
                    <a16:creationId xmlns:a16="http://schemas.microsoft.com/office/drawing/2014/main" id="{A1AA3030-D158-D69C-1828-5214E8A737F6}"/>
                  </a:ext>
                </a:extLst>
              </p:cNvPr>
              <p:cNvSpPr/>
              <p:nvPr/>
            </p:nvSpPr>
            <p:spPr>
              <a:xfrm>
                <a:off x="914400" y="2304288"/>
                <a:ext cx="27432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Normal</a:t>
                </a:r>
                <a:endParaRPr lang="en-US" sz="2200" dirty="0"/>
              </a:p>
            </p:txBody>
          </p:sp>
        </p:grpSp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8F5DBFDF-AA26-73C2-450D-F9AEC3D2FE05}"/>
                </a:ext>
              </a:extLst>
            </p:cNvPr>
            <p:cNvGrpSpPr/>
            <p:nvPr/>
          </p:nvGrpSpPr>
          <p:grpSpPr>
            <a:xfrm>
              <a:off x="4663440" y="3460712"/>
              <a:ext cx="2743200" cy="1350791"/>
              <a:chOff x="4663440" y="3460712"/>
              <a:chExt cx="2743200" cy="1350791"/>
            </a:xfrm>
          </p:grpSpPr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34EC5890-C0F2-A9E5-394F-CADF81CAA2AB}"/>
                  </a:ext>
                </a:extLst>
              </p:cNvPr>
              <p:cNvSpPr/>
              <p:nvPr/>
            </p:nvSpPr>
            <p:spPr>
              <a:xfrm>
                <a:off x="5360040" y="3460712"/>
                <a:ext cx="1350000" cy="1350791"/>
              </a:xfrm>
              <a:prstGeom prst="ellipse">
                <a:avLst/>
              </a:prstGeom>
              <a:solidFill>
                <a:srgbClr val="ECFDF5"/>
              </a:solidFill>
              <a:ln w="25400">
                <a:solidFill>
                  <a:srgbClr val="10B981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" name="Text 5">
                <a:extLst>
                  <a:ext uri="{FF2B5EF4-FFF2-40B4-BE49-F238E27FC236}">
                    <a16:creationId xmlns:a16="http://schemas.microsoft.com/office/drawing/2014/main" id="{BC45E475-DBD1-6FC6-C437-660A7A40DAF7}"/>
                  </a:ext>
                </a:extLst>
              </p:cNvPr>
              <p:cNvSpPr/>
              <p:nvPr/>
            </p:nvSpPr>
            <p:spPr>
              <a:xfrm>
                <a:off x="4663440" y="3858768"/>
                <a:ext cx="27432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Spec</a:t>
                </a:r>
                <a:endParaRPr lang="en-US" sz="2200" dirty="0"/>
              </a:p>
            </p:txBody>
          </p:sp>
        </p:grp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7F1548E3-D23B-7805-0435-6DCB2481788A}"/>
                </a:ext>
              </a:extLst>
            </p:cNvPr>
            <p:cNvGrpSpPr/>
            <p:nvPr/>
          </p:nvGrpSpPr>
          <p:grpSpPr>
            <a:xfrm>
              <a:off x="8606160" y="1920239"/>
              <a:ext cx="1350000" cy="1350791"/>
              <a:chOff x="9109080" y="1985061"/>
              <a:chExt cx="1350000" cy="1350791"/>
            </a:xfrm>
          </p:grpSpPr>
          <p:sp>
            <p:nvSpPr>
              <p:cNvPr id="49" name="椭圆 48">
                <a:extLst>
                  <a:ext uri="{FF2B5EF4-FFF2-40B4-BE49-F238E27FC236}">
                    <a16:creationId xmlns:a16="http://schemas.microsoft.com/office/drawing/2014/main" id="{7B27A3B2-9C8D-0F18-F12C-3A5409E35009}"/>
                  </a:ext>
                </a:extLst>
              </p:cNvPr>
              <p:cNvSpPr/>
              <p:nvPr/>
            </p:nvSpPr>
            <p:spPr>
              <a:xfrm>
                <a:off x="9109080" y="1985061"/>
                <a:ext cx="1350000" cy="1350791"/>
              </a:xfrm>
              <a:prstGeom prst="ellipse">
                <a:avLst/>
              </a:prstGeom>
              <a:solidFill>
                <a:srgbClr val="FFF7ED"/>
              </a:solidFill>
              <a:ln w="25400">
                <a:solidFill>
                  <a:srgbClr val="F9731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Text 7">
                <a:extLst>
                  <a:ext uri="{FF2B5EF4-FFF2-40B4-BE49-F238E27FC236}">
                    <a16:creationId xmlns:a16="http://schemas.microsoft.com/office/drawing/2014/main" id="{F4B2144E-6122-EEBE-7A72-A750DF78F4C9}"/>
                  </a:ext>
                </a:extLst>
              </p:cNvPr>
              <p:cNvSpPr/>
              <p:nvPr/>
            </p:nvSpPr>
            <p:spPr>
              <a:xfrm>
                <a:off x="9227171" y="2382595"/>
                <a:ext cx="1113817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zh-CN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Commit</a:t>
                </a:r>
                <a:endParaRPr lang="en-US" altLang="zh-CN" sz="2200" dirty="0"/>
              </a:p>
            </p:txBody>
          </p:sp>
        </p:grp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6DB3A0EF-A534-CBA0-457E-578304D23F92}"/>
                </a:ext>
              </a:extLst>
            </p:cNvPr>
            <p:cNvSpPr/>
            <p:nvPr/>
          </p:nvSpPr>
          <p:spPr>
            <a:xfrm flipV="1">
              <a:off x="3660213" y="2587992"/>
              <a:ext cx="1644073" cy="841007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18" name="Shape 14">
              <a:extLst>
                <a:ext uri="{FF2B5EF4-FFF2-40B4-BE49-F238E27FC236}">
                  <a16:creationId xmlns:a16="http://schemas.microsoft.com/office/drawing/2014/main" id="{3D6AEAE1-95EF-6049-5ECB-52479BC303B4}"/>
                </a:ext>
              </a:extLst>
            </p:cNvPr>
            <p:cNvSpPr/>
            <p:nvPr/>
          </p:nvSpPr>
          <p:spPr>
            <a:xfrm>
              <a:off x="3715966" y="3661354"/>
              <a:ext cx="1644074" cy="562151"/>
            </a:xfrm>
            <a:prstGeom prst="line">
              <a:avLst/>
            </a:prstGeom>
            <a:noFill/>
            <a:ln w="31750">
              <a:solidFill>
                <a:srgbClr val="10B981"/>
              </a:solidFill>
              <a:prstDash val="solid"/>
              <a:headEnd type="none"/>
              <a:tailEnd type="triangle"/>
            </a:ln>
          </p:spPr>
        </p:sp>
        <p:sp>
          <p:nvSpPr>
            <p:cNvPr id="21" name="Shape 17">
              <a:extLst>
                <a:ext uri="{FF2B5EF4-FFF2-40B4-BE49-F238E27FC236}">
                  <a16:creationId xmlns:a16="http://schemas.microsoft.com/office/drawing/2014/main" id="{16323C6F-44BE-7D98-01B9-9979E8E1DF13}"/>
                </a:ext>
              </a:extLst>
            </p:cNvPr>
            <p:cNvSpPr/>
            <p:nvPr/>
          </p:nvSpPr>
          <p:spPr>
            <a:xfrm>
              <a:off x="6772288" y="2514601"/>
              <a:ext cx="1777352" cy="20427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24" name="Shape 20">
              <a:extLst>
                <a:ext uri="{FF2B5EF4-FFF2-40B4-BE49-F238E27FC236}">
                  <a16:creationId xmlns:a16="http://schemas.microsoft.com/office/drawing/2014/main" id="{CE73AE18-2BC1-FF27-5B77-14906CCD3EE0}"/>
                </a:ext>
              </a:extLst>
            </p:cNvPr>
            <p:cNvSpPr/>
            <p:nvPr/>
          </p:nvSpPr>
          <p:spPr>
            <a:xfrm flipV="1">
              <a:off x="6780179" y="3200400"/>
              <a:ext cx="2110901" cy="937723"/>
            </a:xfrm>
            <a:prstGeom prst="line">
              <a:avLst/>
            </a:prstGeom>
            <a:noFill/>
            <a:ln w="31750">
              <a:solidFill>
                <a:srgbClr val="10B981"/>
              </a:solidFill>
              <a:prstDash val="solid"/>
              <a:headEnd type="none"/>
              <a:tailEnd type="triangle"/>
            </a:ln>
          </p:spPr>
        </p:sp>
        <p:sp>
          <p:nvSpPr>
            <p:cNvPr id="26" name="Text 22">
              <a:extLst>
                <a:ext uri="{FF2B5EF4-FFF2-40B4-BE49-F238E27FC236}">
                  <a16:creationId xmlns:a16="http://schemas.microsoft.com/office/drawing/2014/main" id="{26717E2D-F4EB-03B1-5980-186575F7CA8C}"/>
                </a:ext>
              </a:extLst>
            </p:cNvPr>
            <p:cNvSpPr/>
            <p:nvPr/>
          </p:nvSpPr>
          <p:spPr>
            <a:xfrm>
              <a:off x="6096000" y="3374136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Verified</a:t>
              </a:r>
            </a:p>
          </p:txBody>
        </p:sp>
        <p:sp>
          <p:nvSpPr>
            <p:cNvPr id="27" name="Shape 23">
              <a:extLst>
                <a:ext uri="{FF2B5EF4-FFF2-40B4-BE49-F238E27FC236}">
                  <a16:creationId xmlns:a16="http://schemas.microsoft.com/office/drawing/2014/main" id="{E757D180-73A6-9A90-92DB-8BEB7743FA35}"/>
                </a:ext>
              </a:extLst>
            </p:cNvPr>
            <p:cNvSpPr/>
            <p:nvPr/>
          </p:nvSpPr>
          <p:spPr>
            <a:xfrm flipH="1">
              <a:off x="6001966" y="4867812"/>
              <a:ext cx="9728" cy="1110549"/>
            </a:xfrm>
            <a:prstGeom prst="line">
              <a:avLst/>
            </a:prstGeom>
            <a:noFill/>
            <a:ln w="31750">
              <a:solidFill>
                <a:srgbClr val="EF4444"/>
              </a:solidFill>
              <a:prstDash val="solid"/>
              <a:headEnd type="none"/>
              <a:tailEnd type="triangle"/>
            </a:ln>
          </p:spPr>
        </p:sp>
        <p:sp>
          <p:nvSpPr>
            <p:cNvPr id="29" name="Text 25">
              <a:extLst>
                <a:ext uri="{FF2B5EF4-FFF2-40B4-BE49-F238E27FC236}">
                  <a16:creationId xmlns:a16="http://schemas.microsoft.com/office/drawing/2014/main" id="{AA7C197E-EC2B-1152-A836-483BB1EDC2E3}"/>
                </a:ext>
              </a:extLst>
            </p:cNvPr>
            <p:cNvSpPr/>
            <p:nvPr/>
          </p:nvSpPr>
          <p:spPr>
            <a:xfrm>
              <a:off x="3639532" y="519980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Abort and</a:t>
              </a:r>
              <a:r>
                <a:rPr lang="zh-CN" altLang="en-US" dirty="0">
                  <a:solidFill>
                    <a:schemeClr val="dk1"/>
                  </a:solidFill>
                </a:rPr>
                <a:t> </a:t>
              </a:r>
              <a:r>
                <a:rPr lang="en-US" altLang="zh-CN" dirty="0">
                  <a:solidFill>
                    <a:schemeClr val="dk1"/>
                  </a:solidFill>
                </a:rPr>
                <a:t>Squash</a:t>
              </a:r>
              <a:endParaRPr lang="en-US" dirty="0">
                <a:solidFill>
                  <a:schemeClr val="dk1"/>
                </a:solidFill>
              </a:endParaRPr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7F0A4DE0-4E81-C169-84D0-3DD2B91FE5EE}"/>
                </a:ext>
              </a:extLst>
            </p:cNvPr>
            <p:cNvSpPr/>
            <p:nvPr/>
          </p:nvSpPr>
          <p:spPr>
            <a:xfrm>
              <a:off x="6152345" y="6005124"/>
              <a:ext cx="124347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End</a:t>
              </a:r>
            </a:p>
          </p:txBody>
        </p: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E2BD3646-9BEC-2ED0-E03C-D629FE36D71C}"/>
                </a:ext>
              </a:extLst>
            </p:cNvPr>
            <p:cNvGrpSpPr/>
            <p:nvPr/>
          </p:nvGrpSpPr>
          <p:grpSpPr>
            <a:xfrm>
              <a:off x="7270925" y="5201024"/>
              <a:ext cx="2254841" cy="822960"/>
              <a:chOff x="8280214" y="5174451"/>
              <a:chExt cx="2254841" cy="822960"/>
            </a:xfrm>
          </p:grpSpPr>
          <p:sp>
            <p:nvSpPr>
              <p:cNvPr id="35" name="Shape 31">
                <a:extLst>
                  <a:ext uri="{FF2B5EF4-FFF2-40B4-BE49-F238E27FC236}">
                    <a16:creationId xmlns:a16="http://schemas.microsoft.com/office/drawing/2014/main" id="{926F4B2B-57A6-8520-0889-64369CF84C91}"/>
                  </a:ext>
                </a:extLst>
              </p:cNvPr>
              <p:cNvSpPr/>
              <p:nvPr/>
            </p:nvSpPr>
            <p:spPr>
              <a:xfrm>
                <a:off x="8280214" y="531453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2563EB"/>
                </a:solidFill>
                <a:prstDash val="solid"/>
                <a:tailEnd type="triangle"/>
              </a:ln>
            </p:spPr>
          </p:sp>
          <p:sp>
            <p:nvSpPr>
              <p:cNvPr id="36" name="Text 32">
                <a:extLst>
                  <a:ext uri="{FF2B5EF4-FFF2-40B4-BE49-F238E27FC236}">
                    <a16:creationId xmlns:a16="http://schemas.microsoft.com/office/drawing/2014/main" id="{480F3952-3515-A043-5A26-E38D186FB100}"/>
                  </a:ext>
                </a:extLst>
              </p:cNvPr>
              <p:cNvSpPr/>
              <p:nvPr/>
            </p:nvSpPr>
            <p:spPr>
              <a:xfrm>
                <a:off x="9148894" y="5174451"/>
                <a:ext cx="1065148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chemeClr val="dk1"/>
                    </a:solidFill>
                  </a:rPr>
                  <a:t>Strict Path</a:t>
                </a:r>
              </a:p>
            </p:txBody>
          </p:sp>
          <p:sp>
            <p:nvSpPr>
              <p:cNvPr id="37" name="Shape 33">
                <a:extLst>
                  <a:ext uri="{FF2B5EF4-FFF2-40B4-BE49-F238E27FC236}">
                    <a16:creationId xmlns:a16="http://schemas.microsoft.com/office/drawing/2014/main" id="{40C19796-45DD-74BE-131F-1773749AD9E1}"/>
                  </a:ext>
                </a:extLst>
              </p:cNvPr>
              <p:cNvSpPr/>
              <p:nvPr/>
            </p:nvSpPr>
            <p:spPr>
              <a:xfrm>
                <a:off x="8280214" y="558885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10B981"/>
                </a:solidFill>
                <a:prstDash val="solid"/>
                <a:tailEnd type="triangle"/>
              </a:ln>
            </p:spPr>
          </p:sp>
          <p:sp>
            <p:nvSpPr>
              <p:cNvPr id="38" name="Text 34">
                <a:extLst>
                  <a:ext uri="{FF2B5EF4-FFF2-40B4-BE49-F238E27FC236}">
                    <a16:creationId xmlns:a16="http://schemas.microsoft.com/office/drawing/2014/main" id="{84C60B2C-BA74-E11D-69D5-01A8D8586637}"/>
                  </a:ext>
                </a:extLst>
              </p:cNvPr>
              <p:cNvSpPr/>
              <p:nvPr/>
            </p:nvSpPr>
            <p:spPr>
              <a:xfrm>
                <a:off x="9148894" y="5448771"/>
                <a:ext cx="1386161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altLang="zh-CN" sz="1400" dirty="0">
                    <a:solidFill>
                      <a:schemeClr val="dk1"/>
                    </a:solidFill>
                  </a:rPr>
                  <a:t>Speculative Path</a:t>
                </a:r>
                <a:endParaRPr lang="en-US" sz="1400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39" name="Shape 35">
                <a:extLst>
                  <a:ext uri="{FF2B5EF4-FFF2-40B4-BE49-F238E27FC236}">
                    <a16:creationId xmlns:a16="http://schemas.microsoft.com/office/drawing/2014/main" id="{5994F671-3981-FB08-C7B9-FDA6FBE38F27}"/>
                  </a:ext>
                </a:extLst>
              </p:cNvPr>
              <p:cNvSpPr/>
              <p:nvPr/>
            </p:nvSpPr>
            <p:spPr>
              <a:xfrm>
                <a:off x="8280214" y="586317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EF4444"/>
                </a:solidFill>
                <a:prstDash val="solid"/>
                <a:tailEnd type="triangle"/>
              </a:ln>
            </p:spPr>
          </p:sp>
          <p:sp>
            <p:nvSpPr>
              <p:cNvPr id="40" name="Text 36">
                <a:extLst>
                  <a:ext uri="{FF2B5EF4-FFF2-40B4-BE49-F238E27FC236}">
                    <a16:creationId xmlns:a16="http://schemas.microsoft.com/office/drawing/2014/main" id="{A1D4A6B6-584D-F1B5-B47A-337B1FE31152}"/>
                  </a:ext>
                </a:extLst>
              </p:cNvPr>
              <p:cNvSpPr/>
              <p:nvPr/>
            </p:nvSpPr>
            <p:spPr>
              <a:xfrm>
                <a:off x="9148894" y="5723091"/>
                <a:ext cx="118188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chemeClr val="dk1"/>
                    </a:solidFill>
                  </a:rPr>
                  <a:t>Undo actions</a:t>
                </a:r>
              </a:p>
            </p:txBody>
          </p:sp>
        </p:grpSp>
        <p:sp>
          <p:nvSpPr>
            <p:cNvPr id="45" name="Shape 26">
              <a:extLst>
                <a:ext uri="{FF2B5EF4-FFF2-40B4-BE49-F238E27FC236}">
                  <a16:creationId xmlns:a16="http://schemas.microsoft.com/office/drawing/2014/main" id="{E63160BE-E00D-188D-6DC3-A94E4038ECD9}"/>
                </a:ext>
              </a:extLst>
            </p:cNvPr>
            <p:cNvSpPr/>
            <p:nvPr/>
          </p:nvSpPr>
          <p:spPr>
            <a:xfrm>
              <a:off x="3461441" y="3458432"/>
              <a:ext cx="219456" cy="219456"/>
            </a:xfrm>
            <a:prstGeom prst="ellipse">
              <a:avLst/>
            </a:prstGeom>
            <a:solidFill>
              <a:srgbClr val="111827"/>
            </a:solidFill>
            <a:ln w="12700">
              <a:solidFill>
                <a:srgbClr val="111827"/>
              </a:solidFill>
              <a:prstDash val="solid"/>
            </a:ln>
          </p:spPr>
        </p: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DD100D1-4F8D-DFB4-0374-BC5AA2E18BDE}"/>
                </a:ext>
              </a:extLst>
            </p:cNvPr>
            <p:cNvGrpSpPr/>
            <p:nvPr/>
          </p:nvGrpSpPr>
          <p:grpSpPr>
            <a:xfrm>
              <a:off x="5841440" y="5997411"/>
              <a:ext cx="324000" cy="324000"/>
              <a:chOff x="5075801" y="5784370"/>
              <a:chExt cx="324000" cy="324000"/>
            </a:xfrm>
          </p:grpSpPr>
          <p:sp>
            <p:nvSpPr>
              <p:cNvPr id="30" name="Shape 26">
                <a:extLst>
                  <a:ext uri="{FF2B5EF4-FFF2-40B4-BE49-F238E27FC236}">
                    <a16:creationId xmlns:a16="http://schemas.microsoft.com/office/drawing/2014/main" id="{819B690B-885A-3B21-FF0A-87067E791F4B}"/>
                  </a:ext>
                </a:extLst>
              </p:cNvPr>
              <p:cNvSpPr/>
              <p:nvPr/>
            </p:nvSpPr>
            <p:spPr>
              <a:xfrm>
                <a:off x="5128073" y="5840680"/>
                <a:ext cx="219456" cy="219456"/>
              </a:xfrm>
              <a:prstGeom prst="ellipse">
                <a:avLst/>
              </a:prstGeom>
              <a:solidFill>
                <a:srgbClr val="111827"/>
              </a:solidFill>
              <a:ln w="12700">
                <a:solidFill>
                  <a:srgbClr val="111827"/>
                </a:solidFill>
                <a:prstDash val="solid"/>
              </a:ln>
            </p:spPr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30C65B19-6BE3-BF1D-AAC8-9F7F79CDA7A0}"/>
                  </a:ext>
                </a:extLst>
              </p:cNvPr>
              <p:cNvSpPr/>
              <p:nvPr/>
            </p:nvSpPr>
            <p:spPr>
              <a:xfrm>
                <a:off x="5075801" y="5784370"/>
                <a:ext cx="324000" cy="324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56" name="Text 27">
              <a:extLst>
                <a:ext uri="{FF2B5EF4-FFF2-40B4-BE49-F238E27FC236}">
                  <a16:creationId xmlns:a16="http://schemas.microsoft.com/office/drawing/2014/main" id="{533F6C28-8F02-F9FF-0A02-5F6B591C44D4}"/>
                </a:ext>
              </a:extLst>
            </p:cNvPr>
            <p:cNvSpPr/>
            <p:nvPr/>
          </p:nvSpPr>
          <p:spPr>
            <a:xfrm>
              <a:off x="2828593" y="3328416"/>
              <a:ext cx="81093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Start</a:t>
              </a:r>
            </a:p>
          </p:txBody>
        </p:sp>
        <p:sp>
          <p:nvSpPr>
            <p:cNvPr id="57" name="Text 25">
              <a:extLst>
                <a:ext uri="{FF2B5EF4-FFF2-40B4-BE49-F238E27FC236}">
                  <a16:creationId xmlns:a16="http://schemas.microsoft.com/office/drawing/2014/main" id="{A009D271-873B-A53E-1557-FBDE630F3B6C}"/>
                </a:ext>
              </a:extLst>
            </p:cNvPr>
            <p:cNvSpPr/>
            <p:nvPr/>
          </p:nvSpPr>
          <p:spPr>
            <a:xfrm>
              <a:off x="3350008" y="2710689"/>
              <a:ext cx="14102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Strict invoke</a:t>
              </a:r>
            </a:p>
          </p:txBody>
        </p:sp>
        <p:sp>
          <p:nvSpPr>
            <p:cNvPr id="62" name="Shape 17">
              <a:extLst>
                <a:ext uri="{FF2B5EF4-FFF2-40B4-BE49-F238E27FC236}">
                  <a16:creationId xmlns:a16="http://schemas.microsoft.com/office/drawing/2014/main" id="{444C40B5-D71A-74B4-3853-42B5B0A349FF}"/>
                </a:ext>
              </a:extLst>
            </p:cNvPr>
            <p:cNvSpPr/>
            <p:nvPr/>
          </p:nvSpPr>
          <p:spPr>
            <a:xfrm flipH="1">
              <a:off x="6151754" y="3328416"/>
              <a:ext cx="2870326" cy="2676708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63" name="Text 25">
              <a:extLst>
                <a:ext uri="{FF2B5EF4-FFF2-40B4-BE49-F238E27FC236}">
                  <a16:creationId xmlns:a16="http://schemas.microsoft.com/office/drawing/2014/main" id="{EFA1AF10-26F8-B5F8-D7B0-FFF9F0BA1949}"/>
                </a:ext>
              </a:extLst>
            </p:cNvPr>
            <p:cNvSpPr/>
            <p:nvPr/>
          </p:nvSpPr>
          <p:spPr>
            <a:xfrm>
              <a:off x="2877374" y="4134854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Speculative invoke</a:t>
              </a:r>
            </a:p>
          </p:txBody>
        </p:sp>
        <p:sp>
          <p:nvSpPr>
            <p:cNvPr id="64" name="Text 22">
              <a:extLst>
                <a:ext uri="{FF2B5EF4-FFF2-40B4-BE49-F238E27FC236}">
                  <a16:creationId xmlns:a16="http://schemas.microsoft.com/office/drawing/2014/main" id="{1BD34F0B-7F1F-6617-C11F-368852BEBBB9}"/>
                </a:ext>
              </a:extLst>
            </p:cNvPr>
            <p:cNvSpPr/>
            <p:nvPr/>
          </p:nvSpPr>
          <p:spPr>
            <a:xfrm>
              <a:off x="6207008" y="2210448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Commit</a:t>
              </a:r>
              <a:endParaRPr lang="en-US" dirty="0">
                <a:solidFill>
                  <a:schemeClr val="dk1"/>
                </a:solidFill>
              </a:endParaRPr>
            </a:p>
          </p:txBody>
        </p:sp>
      </p:grpSp>
      <p:sp>
        <p:nvSpPr>
          <p:cNvPr id="2" name="Text 25">
            <a:extLst>
              <a:ext uri="{FF2B5EF4-FFF2-40B4-BE49-F238E27FC236}">
                <a16:creationId xmlns:a16="http://schemas.microsoft.com/office/drawing/2014/main" id="{2BB34BC3-A67A-27E8-FB72-E2D9E004B907}"/>
              </a:ext>
            </a:extLst>
          </p:cNvPr>
          <p:cNvSpPr/>
          <p:nvPr/>
        </p:nvSpPr>
        <p:spPr>
          <a:xfrm>
            <a:off x="7477040" y="4621141"/>
            <a:ext cx="1386161" cy="268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Completed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349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105E23F7-02E9-DB2B-77F0-94AD7616FF3C}"/>
              </a:ext>
            </a:extLst>
          </p:cNvPr>
          <p:cNvGrpSpPr/>
          <p:nvPr/>
        </p:nvGrpSpPr>
        <p:grpSpPr>
          <a:xfrm>
            <a:off x="1119618" y="1806398"/>
            <a:ext cx="9952764" cy="4371812"/>
            <a:chOff x="424180" y="1438098"/>
            <a:chExt cx="9952764" cy="4371812"/>
          </a:xfrm>
        </p:grpSpPr>
        <p:sp>
          <p:nvSpPr>
            <p:cNvPr id="51" name="Shape 18">
              <a:extLst>
                <a:ext uri="{FF2B5EF4-FFF2-40B4-BE49-F238E27FC236}">
                  <a16:creationId xmlns:a16="http://schemas.microsoft.com/office/drawing/2014/main" id="{4F6BA580-F30E-0860-0468-0002783715B1}"/>
                </a:ext>
              </a:extLst>
            </p:cNvPr>
            <p:cNvSpPr/>
            <p:nvPr/>
          </p:nvSpPr>
          <p:spPr>
            <a:xfrm>
              <a:off x="497691" y="1651987"/>
              <a:ext cx="5782609" cy="2363479"/>
            </a:xfrm>
            <a:prstGeom prst="rect">
              <a:avLst/>
            </a:prstGeom>
            <a:solidFill>
              <a:srgbClr val="F8FAFC"/>
            </a:solidFill>
            <a:ln w="25400">
              <a:solidFill>
                <a:srgbClr val="000000"/>
              </a:solidFill>
              <a:prstDash val="solid"/>
            </a:ln>
          </p:spPr>
          <p:txBody>
            <a:bodyPr/>
            <a:lstStyle/>
            <a:p>
              <a:pPr algn="ctr">
                <a:spcBef>
                  <a:spcPts val="2000"/>
                </a:spcBef>
              </a:pPr>
              <a:endParaRPr lang="en-US" altLang="zh-CN" sz="2400" b="1" dirty="0"/>
            </a:p>
          </p:txBody>
        </p:sp>
        <p:pic>
          <p:nvPicPr>
            <p:cNvPr id="5" name="Image 0" descr="preencoded.png">
              <a:extLst>
                <a:ext uri="{FF2B5EF4-FFF2-40B4-BE49-F238E27FC236}">
                  <a16:creationId xmlns:a16="http://schemas.microsoft.com/office/drawing/2014/main" id="{7F5FD1C6-5A5C-CECB-D298-9366BD131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88024" y="1693630"/>
              <a:ext cx="2788920" cy="1600200"/>
            </a:xfrm>
            <a:prstGeom prst="rect">
              <a:avLst/>
            </a:prstGeom>
          </p:spPr>
        </p:pic>
        <p:sp>
          <p:nvSpPr>
            <p:cNvPr id="6" name="Text 1">
              <a:extLst>
                <a:ext uri="{FF2B5EF4-FFF2-40B4-BE49-F238E27FC236}">
                  <a16:creationId xmlns:a16="http://schemas.microsoft.com/office/drawing/2014/main" id="{377595D1-0E29-BD79-3F56-2B2B6111CAC0}"/>
                </a:ext>
              </a:extLst>
            </p:cNvPr>
            <p:cNvSpPr/>
            <p:nvPr/>
          </p:nvSpPr>
          <p:spPr>
            <a:xfrm>
              <a:off x="6482781" y="1890969"/>
              <a:ext cx="14173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zh-CN" sz="2000" dirty="0">
                  <a:solidFill>
                    <a:schemeClr val="dk1"/>
                  </a:solidFill>
                </a:rPr>
                <a:t>Interaction</a:t>
              </a:r>
              <a:endParaRPr lang="en-US" sz="2000" dirty="0">
                <a:solidFill>
                  <a:schemeClr val="dk1"/>
                </a:solidFill>
              </a:endParaRPr>
            </a:p>
          </p:txBody>
        </p:sp>
        <p:sp>
          <p:nvSpPr>
            <p:cNvPr id="7" name="Shape 2">
              <a:extLst>
                <a:ext uri="{FF2B5EF4-FFF2-40B4-BE49-F238E27FC236}">
                  <a16:creationId xmlns:a16="http://schemas.microsoft.com/office/drawing/2014/main" id="{E250B8C1-42EF-634B-5246-73CC6E18AF9F}"/>
                </a:ext>
              </a:extLst>
            </p:cNvPr>
            <p:cNvSpPr/>
            <p:nvPr/>
          </p:nvSpPr>
          <p:spPr>
            <a:xfrm>
              <a:off x="6456198" y="2244954"/>
              <a:ext cx="1417123" cy="713232"/>
            </a:xfrm>
            <a:prstGeom prst="leftRight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C32A5EB0-7AF7-8F66-6422-E53C5D1D8279}"/>
                </a:ext>
              </a:extLst>
            </p:cNvPr>
            <p:cNvGrpSpPr/>
            <p:nvPr/>
          </p:nvGrpSpPr>
          <p:grpSpPr>
            <a:xfrm>
              <a:off x="8479562" y="4575134"/>
              <a:ext cx="1005840" cy="1234776"/>
              <a:chOff x="9306091" y="4393063"/>
              <a:chExt cx="1005840" cy="1234776"/>
            </a:xfrm>
          </p:grpSpPr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350811FC-AA15-6A68-31C7-1A8A2FD79D2A}"/>
                  </a:ext>
                </a:extLst>
              </p:cNvPr>
              <p:cNvGrpSpPr/>
              <p:nvPr/>
            </p:nvGrpSpPr>
            <p:grpSpPr>
              <a:xfrm>
                <a:off x="9526119" y="4393063"/>
                <a:ext cx="565785" cy="843611"/>
                <a:chOff x="1865947" y="4084776"/>
                <a:chExt cx="565785" cy="843611"/>
              </a:xfrm>
            </p:grpSpPr>
            <p:sp>
              <p:nvSpPr>
                <p:cNvPr id="46" name="任意多边形: 形状 45">
                  <a:extLst>
                    <a:ext uri="{FF2B5EF4-FFF2-40B4-BE49-F238E27FC236}">
                      <a16:creationId xmlns:a16="http://schemas.microsoft.com/office/drawing/2014/main" id="{9E0668B4-E54C-46B9-3A40-A0F34F81B2D6}"/>
                    </a:ext>
                  </a:extLst>
                </p:cNvPr>
                <p:cNvSpPr/>
                <p:nvPr/>
              </p:nvSpPr>
              <p:spPr>
                <a:xfrm>
                  <a:off x="1960244" y="4084776"/>
                  <a:ext cx="377190" cy="370332"/>
                </a:xfrm>
                <a:custGeom>
                  <a:avLst/>
                  <a:gdLst>
                    <a:gd name="connsiteX0" fmla="*/ 377190 w 377190"/>
                    <a:gd name="connsiteY0" fmla="*/ 185166 h 370332"/>
                    <a:gd name="connsiteX1" fmla="*/ 188595 w 377190"/>
                    <a:gd name="connsiteY1" fmla="*/ 370332 h 370332"/>
                    <a:gd name="connsiteX2" fmla="*/ 0 w 377190"/>
                    <a:gd name="connsiteY2" fmla="*/ 185166 h 370332"/>
                    <a:gd name="connsiteX3" fmla="*/ 188595 w 377190"/>
                    <a:gd name="connsiteY3" fmla="*/ 0 h 370332"/>
                    <a:gd name="connsiteX4" fmla="*/ 377190 w 377190"/>
                    <a:gd name="connsiteY4" fmla="*/ 185166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7190" h="370332">
                      <a:moveTo>
                        <a:pt x="377190" y="185166"/>
                      </a:moveTo>
                      <a:cubicBezTo>
                        <a:pt x="377190" y="287430"/>
                        <a:pt x="292753" y="370332"/>
                        <a:pt x="188595" y="370332"/>
                      </a:cubicBezTo>
                      <a:cubicBezTo>
                        <a:pt x="84437" y="370332"/>
                        <a:pt x="0" y="287430"/>
                        <a:pt x="0" y="185166"/>
                      </a:cubicBezTo>
                      <a:cubicBezTo>
                        <a:pt x="0" y="82902"/>
                        <a:pt x="84437" y="0"/>
                        <a:pt x="188595" y="0"/>
                      </a:cubicBezTo>
                      <a:cubicBezTo>
                        <a:pt x="292753" y="0"/>
                        <a:pt x="377190" y="82902"/>
                        <a:pt x="377190" y="185166"/>
                      </a:cubicBezTo>
                      <a:close/>
                    </a:path>
                  </a:pathLst>
                </a:custGeom>
                <a:noFill/>
                <a:ln w="37505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47" name="任意多边形: 形状 46">
                  <a:extLst>
                    <a:ext uri="{FF2B5EF4-FFF2-40B4-BE49-F238E27FC236}">
                      <a16:creationId xmlns:a16="http://schemas.microsoft.com/office/drawing/2014/main" id="{D5532900-E4B2-5405-2B5D-51A67049EFA6}"/>
                    </a:ext>
                  </a:extLst>
                </p:cNvPr>
                <p:cNvSpPr/>
                <p:nvPr/>
              </p:nvSpPr>
              <p:spPr>
                <a:xfrm>
                  <a:off x="1865947" y="4527194"/>
                  <a:ext cx="565785" cy="395020"/>
                </a:xfrm>
                <a:custGeom>
                  <a:avLst/>
                  <a:gdLst>
                    <a:gd name="connsiteX0" fmla="*/ 0 w 565785"/>
                    <a:gd name="connsiteY0" fmla="*/ 395021 h 395020"/>
                    <a:gd name="connsiteX1" fmla="*/ 282893 w 565785"/>
                    <a:gd name="connsiteY1" fmla="*/ 0 h 395020"/>
                    <a:gd name="connsiteX2" fmla="*/ 565785 w 565785"/>
                    <a:gd name="connsiteY2" fmla="*/ 395021 h 3950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65785" h="395020">
                      <a:moveTo>
                        <a:pt x="0" y="395021"/>
                      </a:moveTo>
                      <a:cubicBezTo>
                        <a:pt x="0" y="123444"/>
                        <a:pt x="125730" y="0"/>
                        <a:pt x="282893" y="0"/>
                      </a:cubicBezTo>
                      <a:cubicBezTo>
                        <a:pt x="440055" y="0"/>
                        <a:pt x="565785" y="123444"/>
                        <a:pt x="565785" y="395021"/>
                      </a:cubicBezTo>
                    </a:path>
                  </a:pathLst>
                </a:custGeom>
                <a:noFill/>
                <a:ln w="37505" cap="rnd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48" name="任意多边形: 形状 47">
                  <a:extLst>
                    <a:ext uri="{FF2B5EF4-FFF2-40B4-BE49-F238E27FC236}">
                      <a16:creationId xmlns:a16="http://schemas.microsoft.com/office/drawing/2014/main" id="{823B2BE2-2874-C00A-AA5A-752BAE44C29A}"/>
                    </a:ext>
                  </a:extLst>
                </p:cNvPr>
                <p:cNvSpPr/>
                <p:nvPr/>
              </p:nvSpPr>
              <p:spPr>
                <a:xfrm>
                  <a:off x="1865947" y="4922215"/>
                  <a:ext cx="565785" cy="6172"/>
                </a:xfrm>
                <a:custGeom>
                  <a:avLst/>
                  <a:gdLst>
                    <a:gd name="connsiteX0" fmla="*/ 0 w 565785"/>
                    <a:gd name="connsiteY0" fmla="*/ 0 h 6172"/>
                    <a:gd name="connsiteX1" fmla="*/ 565785 w 565785"/>
                    <a:gd name="connsiteY1" fmla="*/ 0 h 61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565785" h="6172">
                      <a:moveTo>
                        <a:pt x="0" y="0"/>
                      </a:moveTo>
                      <a:lnTo>
                        <a:pt x="565785" y="0"/>
                      </a:lnTo>
                    </a:path>
                  </a:pathLst>
                </a:custGeom>
                <a:noFill/>
                <a:ln w="37505" cap="rnd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9" name="Text 3">
                <a:extLst>
                  <a:ext uri="{FF2B5EF4-FFF2-40B4-BE49-F238E27FC236}">
                    <a16:creationId xmlns:a16="http://schemas.microsoft.com/office/drawing/2014/main" id="{537DD5AA-56F8-036E-B7AF-EFB56830BDD1}"/>
                  </a:ext>
                </a:extLst>
              </p:cNvPr>
              <p:cNvSpPr/>
              <p:nvPr/>
            </p:nvSpPr>
            <p:spPr>
              <a:xfrm>
                <a:off x="9306091" y="5307799"/>
                <a:ext cx="1005840" cy="3200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400" dirty="0"/>
                  <a:t>User</a:t>
                </a:r>
              </a:p>
            </p:txBody>
          </p:sp>
        </p:grp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6A247319-E928-0AC1-1966-3ADC4E3A21CD}"/>
                </a:ext>
              </a:extLst>
            </p:cNvPr>
            <p:cNvSpPr/>
            <p:nvPr/>
          </p:nvSpPr>
          <p:spPr>
            <a:xfrm rot="5400000">
              <a:off x="7300589" y="4254128"/>
              <a:ext cx="502920" cy="1815847"/>
            </a:xfrm>
            <a:prstGeom prst="up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sp>
          <p:nvSpPr>
            <p:cNvPr id="11" name="Text 5">
              <a:extLst>
                <a:ext uri="{FF2B5EF4-FFF2-40B4-BE49-F238E27FC236}">
                  <a16:creationId xmlns:a16="http://schemas.microsoft.com/office/drawing/2014/main" id="{44BD4A7A-B5A5-94C9-ADA0-6581FE23A036}"/>
                </a:ext>
              </a:extLst>
            </p:cNvPr>
            <p:cNvSpPr/>
            <p:nvPr/>
          </p:nvSpPr>
          <p:spPr>
            <a:xfrm>
              <a:off x="9160768" y="3423274"/>
              <a:ext cx="1203473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Deploy </a:t>
              </a:r>
            </a:p>
            <a:p>
              <a:pPr marL="0" indent="0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Workflow</a:t>
              </a:r>
            </a:p>
          </p:txBody>
        </p:sp>
        <p:sp>
          <p:nvSpPr>
            <p:cNvPr id="12" name="Text 6">
              <a:extLst>
                <a:ext uri="{FF2B5EF4-FFF2-40B4-BE49-F238E27FC236}">
                  <a16:creationId xmlns:a16="http://schemas.microsoft.com/office/drawing/2014/main" id="{45B4A606-9253-E4B9-41A2-B47BB703640E}"/>
                </a:ext>
              </a:extLst>
            </p:cNvPr>
            <p:cNvSpPr/>
            <p:nvPr/>
          </p:nvSpPr>
          <p:spPr>
            <a:xfrm>
              <a:off x="6777596" y="4490090"/>
              <a:ext cx="1620855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zh-CN" sz="2000" dirty="0">
                  <a:solidFill>
                    <a:schemeClr val="dk1"/>
                  </a:solidFill>
                </a:rPr>
                <a:t>Programming Framework</a:t>
              </a:r>
              <a:endParaRPr lang="en-US" sz="2000" dirty="0">
                <a:solidFill>
                  <a:schemeClr val="dk1"/>
                </a:solidFill>
              </a:endParaRPr>
            </a:p>
          </p:txBody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3667AFC3-47F4-8131-C90F-D67E81F10EA3}"/>
                </a:ext>
              </a:extLst>
            </p:cNvPr>
            <p:cNvSpPr/>
            <p:nvPr/>
          </p:nvSpPr>
          <p:spPr>
            <a:xfrm rot="5400000">
              <a:off x="8291767" y="3439328"/>
              <a:ext cx="1381431" cy="502920"/>
            </a:xfrm>
            <a:prstGeom prst="left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sp>
          <p:nvSpPr>
            <p:cNvPr id="24" name="Shape 18">
              <a:extLst>
                <a:ext uri="{FF2B5EF4-FFF2-40B4-BE49-F238E27FC236}">
                  <a16:creationId xmlns:a16="http://schemas.microsoft.com/office/drawing/2014/main" id="{6E656889-B9DF-3B38-2BCE-E9E3E4532493}"/>
                </a:ext>
              </a:extLst>
            </p:cNvPr>
            <p:cNvSpPr/>
            <p:nvPr/>
          </p:nvSpPr>
          <p:spPr>
            <a:xfrm>
              <a:off x="532471" y="4860067"/>
              <a:ext cx="5747829" cy="640080"/>
            </a:xfrm>
            <a:prstGeom prst="rect">
              <a:avLst/>
            </a:prstGeom>
            <a:solidFill>
              <a:srgbClr val="F8FAFC"/>
            </a:solidFill>
            <a:ln w="25400">
              <a:solidFill>
                <a:srgbClr val="000000"/>
              </a:solidFill>
              <a:prstDash val="solid"/>
            </a:ln>
          </p:spPr>
          <p:txBody>
            <a:bodyPr/>
            <a:lstStyle/>
            <a:p>
              <a:pPr algn="ctr">
                <a:spcBef>
                  <a:spcPts val="2000"/>
                </a:spcBef>
              </a:pPr>
              <a:endParaRPr lang="en-US" altLang="zh-CN" sz="2400" b="1" dirty="0"/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D0CCF9FF-0680-D413-B847-F4D0971ACDE6}"/>
                </a:ext>
              </a:extLst>
            </p:cNvPr>
            <p:cNvSpPr/>
            <p:nvPr/>
          </p:nvSpPr>
          <p:spPr>
            <a:xfrm>
              <a:off x="424180" y="4926713"/>
              <a:ext cx="626364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sz="2200" dirty="0"/>
            </a:p>
          </p:txBody>
        </p:sp>
        <p:sp>
          <p:nvSpPr>
            <p:cNvPr id="26" name="Shape 20">
              <a:extLst>
                <a:ext uri="{FF2B5EF4-FFF2-40B4-BE49-F238E27FC236}">
                  <a16:creationId xmlns:a16="http://schemas.microsoft.com/office/drawing/2014/main" id="{DE878C9D-11EC-45DB-619B-B2DEBDE414D5}"/>
                </a:ext>
              </a:extLst>
            </p:cNvPr>
            <p:cNvSpPr/>
            <p:nvPr/>
          </p:nvSpPr>
          <p:spPr>
            <a:xfrm>
              <a:off x="3247116" y="4087552"/>
              <a:ext cx="364149" cy="640080"/>
            </a:xfrm>
            <a:prstGeom prst="up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sp>
          <p:nvSpPr>
            <p:cNvPr id="27" name="Text 21">
              <a:extLst>
                <a:ext uri="{FF2B5EF4-FFF2-40B4-BE49-F238E27FC236}">
                  <a16:creationId xmlns:a16="http://schemas.microsoft.com/office/drawing/2014/main" id="{AE5DEB92-3327-2913-98B7-3DC9E9AD7DE9}"/>
                </a:ext>
              </a:extLst>
            </p:cNvPr>
            <p:cNvSpPr/>
            <p:nvPr/>
          </p:nvSpPr>
          <p:spPr>
            <a:xfrm>
              <a:off x="3664290" y="4250990"/>
              <a:ext cx="118710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zh-CN" sz="2000" dirty="0">
                  <a:solidFill>
                    <a:schemeClr val="dk1"/>
                  </a:solidFill>
                </a:rPr>
                <a:t>Guidance</a:t>
              </a:r>
              <a:endParaRPr lang="en-US" sz="2000" dirty="0">
                <a:solidFill>
                  <a:schemeClr val="dk1"/>
                </a:solidFill>
              </a:endParaRPr>
            </a:p>
          </p:txBody>
        </p: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E0602C2E-9899-80C2-6746-042237351A4D}"/>
                </a:ext>
              </a:extLst>
            </p:cNvPr>
            <p:cNvGrpSpPr/>
            <p:nvPr/>
          </p:nvGrpSpPr>
          <p:grpSpPr>
            <a:xfrm>
              <a:off x="872384" y="2195740"/>
              <a:ext cx="2395324" cy="667708"/>
              <a:chOff x="3489960" y="2446020"/>
              <a:chExt cx="1325880" cy="960120"/>
            </a:xfrm>
          </p:grpSpPr>
          <p:sp>
            <p:nvSpPr>
              <p:cNvPr id="36" name="Shape 15">
                <a:extLst>
                  <a:ext uri="{FF2B5EF4-FFF2-40B4-BE49-F238E27FC236}">
                    <a16:creationId xmlns:a16="http://schemas.microsoft.com/office/drawing/2014/main" id="{B589031A-3D76-A650-F4D2-402632174616}"/>
                  </a:ext>
                </a:extLst>
              </p:cNvPr>
              <p:cNvSpPr/>
              <p:nvPr/>
            </p:nvSpPr>
            <p:spPr>
              <a:xfrm>
                <a:off x="3489960" y="2446020"/>
                <a:ext cx="1325880" cy="960120"/>
              </a:xfrm>
              <a:prstGeom prst="roundRect">
                <a:avLst/>
              </a:prstGeom>
              <a:solidFill>
                <a:srgbClr val="EEF2FF"/>
              </a:solidFill>
              <a:ln w="12700">
                <a:solidFill>
                  <a:srgbClr val="334155"/>
                </a:solidFill>
                <a:prstDash val="solid"/>
              </a:ln>
              <a:effectLst>
                <a:outerShdw blurRad="38100" dist="19050" dir="2700000" algn="bl" rotWithShape="0">
                  <a:srgbClr val="000000">
                    <a:alpha val="15000"/>
                  </a:srgbClr>
                </a:outerShdw>
              </a:effec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7" name="Text 16">
                <a:extLst>
                  <a:ext uri="{FF2B5EF4-FFF2-40B4-BE49-F238E27FC236}">
                    <a16:creationId xmlns:a16="http://schemas.microsoft.com/office/drawing/2014/main" id="{C603D1EE-3E42-4FEA-2758-F951063DBA65}"/>
                  </a:ext>
                </a:extLst>
              </p:cNvPr>
              <p:cNvSpPr/>
              <p:nvPr/>
            </p:nvSpPr>
            <p:spPr>
              <a:xfrm>
                <a:off x="3581400" y="2516786"/>
                <a:ext cx="1143000" cy="8686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indent="0" algn="ctr">
                  <a:buNone/>
                </a:pPr>
                <a:r>
                  <a:rPr lang="en-US" dirty="0">
                    <a:solidFill>
                      <a:schemeClr val="dk1"/>
                    </a:solidFill>
                  </a:rPr>
                  <a:t>Prediction </a:t>
                </a:r>
              </a:p>
              <a:p>
                <a:pPr indent="0" algn="ctr">
                  <a:buNone/>
                </a:pPr>
                <a:r>
                  <a:rPr lang="en-US" dirty="0">
                    <a:solidFill>
                      <a:schemeClr val="dk1"/>
                    </a:solidFill>
                  </a:rPr>
                  <a:t>Service</a:t>
                </a:r>
              </a:p>
            </p:txBody>
          </p:sp>
        </p:grpSp>
        <p:sp>
          <p:nvSpPr>
            <p:cNvPr id="38" name="Shape 17">
              <a:extLst>
                <a:ext uri="{FF2B5EF4-FFF2-40B4-BE49-F238E27FC236}">
                  <a16:creationId xmlns:a16="http://schemas.microsoft.com/office/drawing/2014/main" id="{620D3A45-B8B5-C12A-45DC-27682FB7F539}"/>
                </a:ext>
              </a:extLst>
            </p:cNvPr>
            <p:cNvSpPr/>
            <p:nvPr/>
          </p:nvSpPr>
          <p:spPr>
            <a:xfrm>
              <a:off x="3664291" y="2207551"/>
              <a:ext cx="2395324" cy="667708"/>
            </a:xfrm>
            <a:prstGeom prst="roundRect">
              <a:avLst/>
            </a:prstGeom>
            <a:solidFill>
              <a:srgbClr val="ECFDF5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Gating &amp; Budgeting</a:t>
              </a:r>
            </a:p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Service</a:t>
              </a:r>
            </a:p>
          </p:txBody>
        </p:sp>
        <p:sp>
          <p:nvSpPr>
            <p:cNvPr id="39" name="Shape 19">
              <a:extLst>
                <a:ext uri="{FF2B5EF4-FFF2-40B4-BE49-F238E27FC236}">
                  <a16:creationId xmlns:a16="http://schemas.microsoft.com/office/drawing/2014/main" id="{1C7670E4-46BF-5131-35D1-B97032782888}"/>
                </a:ext>
              </a:extLst>
            </p:cNvPr>
            <p:cNvSpPr/>
            <p:nvPr/>
          </p:nvSpPr>
          <p:spPr>
            <a:xfrm>
              <a:off x="3647533" y="3104332"/>
              <a:ext cx="2395324" cy="667708"/>
            </a:xfrm>
            <a:prstGeom prst="roundRect">
              <a:avLst/>
            </a:prstGeom>
            <a:solidFill>
              <a:srgbClr val="FFF7ED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Buffering</a:t>
              </a:r>
            </a:p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Service</a:t>
              </a:r>
            </a:p>
          </p:txBody>
        </p:sp>
        <p:sp>
          <p:nvSpPr>
            <p:cNvPr id="40" name="Shape 21">
              <a:extLst>
                <a:ext uri="{FF2B5EF4-FFF2-40B4-BE49-F238E27FC236}">
                  <a16:creationId xmlns:a16="http://schemas.microsoft.com/office/drawing/2014/main" id="{0C0FE419-951C-22CA-BF38-63D36BAA4571}"/>
                </a:ext>
              </a:extLst>
            </p:cNvPr>
            <p:cNvSpPr/>
            <p:nvPr/>
          </p:nvSpPr>
          <p:spPr>
            <a:xfrm>
              <a:off x="870343" y="3104332"/>
              <a:ext cx="2395325" cy="667708"/>
            </a:xfrm>
            <a:prstGeom prst="roundRect">
              <a:avLst/>
            </a:prstGeom>
            <a:solidFill>
              <a:srgbClr val="FEF2F2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Validation  &amp; Recovery</a:t>
              </a:r>
            </a:p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Service</a:t>
              </a:r>
            </a:p>
            <a:p>
              <a:endParaRPr lang="zh-CN" altLang="en-US" dirty="0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F02E962E-B3E4-1347-1CB7-14B78CEF3736}"/>
                </a:ext>
              </a:extLst>
            </p:cNvPr>
            <p:cNvSpPr txBox="1"/>
            <p:nvPr/>
          </p:nvSpPr>
          <p:spPr>
            <a:xfrm>
              <a:off x="7680179" y="1438098"/>
              <a:ext cx="268406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altLang="zh-CN" sz="2000" b="1" dirty="0"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Serverless Platform</a:t>
              </a:r>
              <a:endParaRPr lang="en-US" altLang="zh-CN" sz="2000" b="1" dirty="0"/>
            </a:p>
          </p:txBody>
        </p:sp>
        <p:sp>
          <p:nvSpPr>
            <p:cNvPr id="50" name="Text 13">
              <a:extLst>
                <a:ext uri="{FF2B5EF4-FFF2-40B4-BE49-F238E27FC236}">
                  <a16:creationId xmlns:a16="http://schemas.microsoft.com/office/drawing/2014/main" id="{0172D709-06B1-1336-7429-FAEE6B225512}"/>
                </a:ext>
              </a:extLst>
            </p:cNvPr>
            <p:cNvSpPr/>
            <p:nvPr/>
          </p:nvSpPr>
          <p:spPr>
            <a:xfrm>
              <a:off x="1897570" y="4948823"/>
              <a:ext cx="3063240" cy="39130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400" dirty="0"/>
                <a:t>The </a:t>
              </a:r>
              <a:r>
                <a:rPr lang="en-US" altLang="zh-CN" sz="2400" dirty="0" err="1"/>
                <a:t>SpecSW</a:t>
              </a:r>
              <a:r>
                <a:rPr lang="en-US" altLang="zh-CN" sz="2400" dirty="0"/>
                <a:t> </a:t>
              </a:r>
              <a:r>
                <a:rPr lang="en-US" altLang="zh-CN" sz="2400" b="1" dirty="0"/>
                <a:t>Method</a:t>
              </a:r>
            </a:p>
            <a:p>
              <a:pPr indent="0" algn="ctr">
                <a:buNone/>
              </a:pPr>
              <a:endParaRPr lang="en-US" sz="2000" dirty="0">
                <a:solidFill>
                  <a:schemeClr val="dk1"/>
                </a:solidFill>
              </a:endParaRPr>
            </a:p>
          </p:txBody>
        </p:sp>
        <p:sp>
          <p:nvSpPr>
            <p:cNvPr id="52" name="Text 13">
              <a:extLst>
                <a:ext uri="{FF2B5EF4-FFF2-40B4-BE49-F238E27FC236}">
                  <a16:creationId xmlns:a16="http://schemas.microsoft.com/office/drawing/2014/main" id="{8D6EFF6D-7447-8487-3892-DB8FA16184F6}"/>
                </a:ext>
              </a:extLst>
            </p:cNvPr>
            <p:cNvSpPr/>
            <p:nvPr/>
          </p:nvSpPr>
          <p:spPr>
            <a:xfrm>
              <a:off x="1897570" y="1693630"/>
              <a:ext cx="3063240" cy="39130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400" dirty="0"/>
                <a:t>The </a:t>
              </a:r>
              <a:r>
                <a:rPr lang="en-US" altLang="zh-CN" sz="2400" dirty="0" err="1"/>
                <a:t>SpecSW</a:t>
              </a:r>
              <a:r>
                <a:rPr lang="en-US" altLang="zh-CN" sz="2400" dirty="0"/>
                <a:t> </a:t>
              </a:r>
              <a:r>
                <a:rPr lang="en-US" altLang="zh-CN" sz="2400" b="1" dirty="0"/>
                <a:t>System</a:t>
              </a:r>
            </a:p>
            <a:p>
              <a:pPr indent="0" algn="ctr">
                <a:buNone/>
              </a:pPr>
              <a:endParaRPr lang="en-US" sz="2000" dirty="0">
                <a:solidFill>
                  <a:schemeClr val="dk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95218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179E52C9-F383-9729-A28C-A10CEB2EABF9}"/>
              </a:ext>
            </a:extLst>
          </p:cNvPr>
          <p:cNvGrpSpPr/>
          <p:nvPr/>
        </p:nvGrpSpPr>
        <p:grpSpPr>
          <a:xfrm>
            <a:off x="739810" y="365760"/>
            <a:ext cx="5380320" cy="4587120"/>
            <a:chOff x="739810" y="365760"/>
            <a:chExt cx="5380320" cy="4587120"/>
          </a:xfrm>
        </p:grpSpPr>
        <p:sp>
          <p:nvSpPr>
            <p:cNvPr id="12" name="Shape 0">
              <a:extLst>
                <a:ext uri="{FF2B5EF4-FFF2-40B4-BE49-F238E27FC236}">
                  <a16:creationId xmlns:a16="http://schemas.microsoft.com/office/drawing/2014/main" id="{4C121EE9-C7E1-0145-B4E8-2D0B06664E36}"/>
                </a:ext>
              </a:extLst>
            </p:cNvPr>
            <p:cNvSpPr/>
            <p:nvPr/>
          </p:nvSpPr>
          <p:spPr>
            <a:xfrm>
              <a:off x="739810" y="3535560"/>
              <a:ext cx="5372362" cy="141732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prstDash val="solid"/>
            </a:ln>
          </p:spPr>
        </p:sp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89AC3F9E-9BDC-14FD-3D36-E8EF2F38A5D6}"/>
                </a:ext>
              </a:extLst>
            </p:cNvPr>
            <p:cNvSpPr/>
            <p:nvPr/>
          </p:nvSpPr>
          <p:spPr>
            <a:xfrm>
              <a:off x="747768" y="1950660"/>
              <a:ext cx="5372362" cy="141732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prstDash val="solid"/>
            </a:ln>
          </p:spPr>
        </p:sp>
        <p:sp>
          <p:nvSpPr>
            <p:cNvPr id="28" name="Shape 0">
              <a:extLst>
                <a:ext uri="{FF2B5EF4-FFF2-40B4-BE49-F238E27FC236}">
                  <a16:creationId xmlns:a16="http://schemas.microsoft.com/office/drawing/2014/main" id="{F141B2B2-AD0F-4610-81FD-4585F7B4A802}"/>
                </a:ext>
              </a:extLst>
            </p:cNvPr>
            <p:cNvSpPr/>
            <p:nvPr/>
          </p:nvSpPr>
          <p:spPr>
            <a:xfrm>
              <a:off x="747768" y="365760"/>
              <a:ext cx="5372362" cy="141732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prstDash val="solid"/>
            </a:ln>
          </p:spPr>
        </p:sp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6DF583C8-59CB-E888-AB7B-B7A389EC143E}"/>
                </a:ext>
              </a:extLst>
            </p:cNvPr>
            <p:cNvSpPr/>
            <p:nvPr/>
          </p:nvSpPr>
          <p:spPr>
            <a:xfrm>
              <a:off x="747767" y="438912"/>
              <a:ext cx="537236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Serverless 工作流投机执行编程框架</a:t>
              </a:r>
              <a:endParaRPr lang="en-US" sz="2000" dirty="0"/>
            </a:p>
          </p:txBody>
        </p:sp>
        <p:sp>
          <p:nvSpPr>
            <p:cNvPr id="30" name="Shape 2">
              <a:extLst>
                <a:ext uri="{FF2B5EF4-FFF2-40B4-BE49-F238E27FC236}">
                  <a16:creationId xmlns:a16="http://schemas.microsoft.com/office/drawing/2014/main" id="{0F9F212A-B4C5-C2A9-2F59-005CD1B43EB5}"/>
                </a:ext>
              </a:extLst>
            </p:cNvPr>
            <p:cNvSpPr/>
            <p:nvPr/>
          </p:nvSpPr>
          <p:spPr>
            <a:xfrm>
              <a:off x="837901" y="932688"/>
              <a:ext cx="2490117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31" name="Text 3">
              <a:extLst>
                <a:ext uri="{FF2B5EF4-FFF2-40B4-BE49-F238E27FC236}">
                  <a16:creationId xmlns:a16="http://schemas.microsoft.com/office/drawing/2014/main" id="{A82D08BE-9D44-8381-0932-BD476CFEE49B}"/>
                </a:ext>
              </a:extLst>
            </p:cNvPr>
            <p:cNvSpPr/>
            <p:nvPr/>
          </p:nvSpPr>
          <p:spPr>
            <a:xfrm>
              <a:off x="837901" y="932688"/>
              <a:ext cx="2490117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zh-CN" alt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工作流过程描述</a:t>
              </a:r>
              <a:endParaRPr lang="en-US" sz="1600" dirty="0"/>
            </a:p>
          </p:txBody>
        </p:sp>
        <p:sp>
          <p:nvSpPr>
            <p:cNvPr id="32" name="Shape 4">
              <a:extLst>
                <a:ext uri="{FF2B5EF4-FFF2-40B4-BE49-F238E27FC236}">
                  <a16:creationId xmlns:a16="http://schemas.microsoft.com/office/drawing/2014/main" id="{AC77FA24-928B-7FA4-5182-6BEB57F23A0F}"/>
                </a:ext>
              </a:extLst>
            </p:cNvPr>
            <p:cNvSpPr/>
            <p:nvPr/>
          </p:nvSpPr>
          <p:spPr>
            <a:xfrm>
              <a:off x="3479015" y="932688"/>
              <a:ext cx="2490117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33" name="Text 5">
              <a:extLst>
                <a:ext uri="{FF2B5EF4-FFF2-40B4-BE49-F238E27FC236}">
                  <a16:creationId xmlns:a16="http://schemas.microsoft.com/office/drawing/2014/main" id="{B78A48E5-E6D5-22C6-3F4E-E193739F9BB3}"/>
                </a:ext>
              </a:extLst>
            </p:cNvPr>
            <p:cNvSpPr/>
            <p:nvPr/>
          </p:nvSpPr>
          <p:spPr>
            <a:xfrm>
              <a:off x="3479015" y="932688"/>
              <a:ext cx="2490117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zh-CN" altLang="en-US" sz="1600" dirty="0"/>
                <a:t>投机运行时配置接口</a:t>
              </a:r>
              <a:endParaRPr lang="en-US" sz="1600" dirty="0"/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2D63D094-1694-2442-2287-0D7AA4B652C2}"/>
                </a:ext>
              </a:extLst>
            </p:cNvPr>
            <p:cNvSpPr/>
            <p:nvPr/>
          </p:nvSpPr>
          <p:spPr>
            <a:xfrm>
              <a:off x="747767" y="2039112"/>
              <a:ext cx="5348233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Serverless 工作流投机执行模型</a:t>
              </a:r>
              <a:endParaRPr lang="en-US" sz="2000" dirty="0"/>
            </a:p>
          </p:txBody>
        </p:sp>
        <p:sp>
          <p:nvSpPr>
            <p:cNvPr id="36" name="Shape 8">
              <a:extLst>
                <a:ext uri="{FF2B5EF4-FFF2-40B4-BE49-F238E27FC236}">
                  <a16:creationId xmlns:a16="http://schemas.microsoft.com/office/drawing/2014/main" id="{C578D7C8-5E84-73FD-F14E-016109EB40D5}"/>
                </a:ext>
              </a:extLst>
            </p:cNvPr>
            <p:cNvSpPr/>
            <p:nvPr/>
          </p:nvSpPr>
          <p:spPr>
            <a:xfrm>
              <a:off x="837901" y="2532888"/>
              <a:ext cx="1613534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20657FB9-3608-20A0-B849-5CDB280E7086}"/>
                </a:ext>
              </a:extLst>
            </p:cNvPr>
            <p:cNvSpPr/>
            <p:nvPr/>
          </p:nvSpPr>
          <p:spPr>
            <a:xfrm>
              <a:off x="837901" y="2532888"/>
              <a:ext cx="1613534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模型定义</a:t>
              </a:r>
              <a:endParaRPr lang="en-US" sz="1600" dirty="0"/>
            </a:p>
          </p:txBody>
        </p:sp>
        <p:sp>
          <p:nvSpPr>
            <p:cNvPr id="38" name="Shape 10">
              <a:extLst>
                <a:ext uri="{FF2B5EF4-FFF2-40B4-BE49-F238E27FC236}">
                  <a16:creationId xmlns:a16="http://schemas.microsoft.com/office/drawing/2014/main" id="{74726928-6414-E8D0-695D-7ECBECA0F1B4}"/>
                </a:ext>
              </a:extLst>
            </p:cNvPr>
            <p:cNvSpPr/>
            <p:nvPr/>
          </p:nvSpPr>
          <p:spPr>
            <a:xfrm>
              <a:off x="2604842" y="2520666"/>
              <a:ext cx="1613534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39" name="Text 11">
              <a:extLst>
                <a:ext uri="{FF2B5EF4-FFF2-40B4-BE49-F238E27FC236}">
                  <a16:creationId xmlns:a16="http://schemas.microsoft.com/office/drawing/2014/main" id="{9490749F-CC97-5ED2-9390-20C2ECABA347}"/>
                </a:ext>
              </a:extLst>
            </p:cNvPr>
            <p:cNvSpPr/>
            <p:nvPr/>
          </p:nvSpPr>
          <p:spPr>
            <a:xfrm>
              <a:off x="2604842" y="2520666"/>
              <a:ext cx="1613534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模型组件</a:t>
              </a:r>
              <a:endParaRPr lang="en-US" sz="1600" dirty="0"/>
            </a:p>
          </p:txBody>
        </p:sp>
        <p:sp>
          <p:nvSpPr>
            <p:cNvPr id="40" name="Shape 12">
              <a:extLst>
                <a:ext uri="{FF2B5EF4-FFF2-40B4-BE49-F238E27FC236}">
                  <a16:creationId xmlns:a16="http://schemas.microsoft.com/office/drawing/2014/main" id="{04118ECC-B42D-7DB2-A3D0-966D921C3CED}"/>
                </a:ext>
              </a:extLst>
            </p:cNvPr>
            <p:cNvSpPr/>
            <p:nvPr/>
          </p:nvSpPr>
          <p:spPr>
            <a:xfrm>
              <a:off x="4371782" y="2532888"/>
              <a:ext cx="1613534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41" name="Text 13">
              <a:extLst>
                <a:ext uri="{FF2B5EF4-FFF2-40B4-BE49-F238E27FC236}">
                  <a16:creationId xmlns:a16="http://schemas.microsoft.com/office/drawing/2014/main" id="{7AF06E9D-8BA7-CCB4-E73D-0ED06D91AD86}"/>
                </a:ext>
              </a:extLst>
            </p:cNvPr>
            <p:cNvSpPr/>
            <p:nvPr/>
          </p:nvSpPr>
          <p:spPr>
            <a:xfrm>
              <a:off x="4371782" y="2532888"/>
              <a:ext cx="1613534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模型运行时行为</a:t>
              </a:r>
              <a:endParaRPr lang="en-US" sz="1600" dirty="0"/>
            </a:p>
          </p:txBody>
        </p:sp>
        <p:sp>
          <p:nvSpPr>
            <p:cNvPr id="3" name="Text 7">
              <a:extLst>
                <a:ext uri="{FF2B5EF4-FFF2-40B4-BE49-F238E27FC236}">
                  <a16:creationId xmlns:a16="http://schemas.microsoft.com/office/drawing/2014/main" id="{BBCCB63C-6C77-B42B-B4E3-B09990E6F79E}"/>
                </a:ext>
              </a:extLst>
            </p:cNvPr>
            <p:cNvSpPr/>
            <p:nvPr/>
          </p:nvSpPr>
          <p:spPr>
            <a:xfrm>
              <a:off x="739810" y="3639312"/>
              <a:ext cx="537236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Serverless </a:t>
              </a:r>
              <a:r>
                <a:rPr lang="zh-CN" altLang="en-US" sz="20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工作流投机执行关键优化方法</a:t>
              </a:r>
              <a:endParaRPr lang="en-US" sz="2000" dirty="0"/>
            </a:p>
          </p:txBody>
        </p:sp>
        <p:sp>
          <p:nvSpPr>
            <p:cNvPr id="4" name="Shape 8">
              <a:extLst>
                <a:ext uri="{FF2B5EF4-FFF2-40B4-BE49-F238E27FC236}">
                  <a16:creationId xmlns:a16="http://schemas.microsoft.com/office/drawing/2014/main" id="{B50D6590-3B59-E09A-7624-1014D73C212D}"/>
                </a:ext>
              </a:extLst>
            </p:cNvPr>
            <p:cNvSpPr/>
            <p:nvPr/>
          </p:nvSpPr>
          <p:spPr>
            <a:xfrm>
              <a:off x="837901" y="4133088"/>
              <a:ext cx="2506300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5" name="Text 9">
              <a:extLst>
                <a:ext uri="{FF2B5EF4-FFF2-40B4-BE49-F238E27FC236}">
                  <a16:creationId xmlns:a16="http://schemas.microsoft.com/office/drawing/2014/main" id="{A79B3FF8-5B53-DC38-6049-020BB78F6976}"/>
                </a:ext>
              </a:extLst>
            </p:cNvPr>
            <p:cNvSpPr/>
            <p:nvPr/>
          </p:nvSpPr>
          <p:spPr>
            <a:xfrm>
              <a:off x="837901" y="4133088"/>
              <a:ext cx="2490117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zh-CN" alt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输入感知的分支预测</a:t>
              </a:r>
              <a:endParaRPr lang="en-US" sz="1600" dirty="0"/>
            </a:p>
          </p:txBody>
        </p:sp>
        <p:sp>
          <p:nvSpPr>
            <p:cNvPr id="6" name="Shape 10">
              <a:extLst>
                <a:ext uri="{FF2B5EF4-FFF2-40B4-BE49-F238E27FC236}">
                  <a16:creationId xmlns:a16="http://schemas.microsoft.com/office/drawing/2014/main" id="{A2E2D134-56A7-1493-B913-24F47BB6CBBB}"/>
                </a:ext>
              </a:extLst>
            </p:cNvPr>
            <p:cNvSpPr/>
            <p:nvPr/>
          </p:nvSpPr>
          <p:spPr>
            <a:xfrm>
              <a:off x="3479016" y="4142232"/>
              <a:ext cx="2506300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7" name="Text 11">
              <a:extLst>
                <a:ext uri="{FF2B5EF4-FFF2-40B4-BE49-F238E27FC236}">
                  <a16:creationId xmlns:a16="http://schemas.microsoft.com/office/drawing/2014/main" id="{6544578B-1477-48FA-DF87-86C6D65E4FEE}"/>
                </a:ext>
              </a:extLst>
            </p:cNvPr>
            <p:cNvSpPr/>
            <p:nvPr/>
          </p:nvSpPr>
          <p:spPr>
            <a:xfrm>
              <a:off x="3489650" y="4142232"/>
              <a:ext cx="2479481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zh-CN" alt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分布漂移适应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113059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77180E39-A75E-C53B-4DDE-E50E30C52B33}"/>
              </a:ext>
            </a:extLst>
          </p:cNvPr>
          <p:cNvGrpSpPr/>
          <p:nvPr/>
        </p:nvGrpSpPr>
        <p:grpSpPr>
          <a:xfrm>
            <a:off x="319155" y="1963552"/>
            <a:ext cx="10571346" cy="4185184"/>
            <a:chOff x="319155" y="1963552"/>
            <a:chExt cx="10571346" cy="4185184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B0619AAE-D481-C95E-E765-275544AE4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13331" y="3217559"/>
              <a:ext cx="1677170" cy="1677170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B407AFCE-2210-3FFA-2435-41CA9ABC20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10060" b="2210"/>
            <a:stretch/>
          </p:blipFill>
          <p:spPr>
            <a:xfrm>
              <a:off x="319155" y="1963552"/>
              <a:ext cx="7722048" cy="4185184"/>
            </a:xfrm>
            <a:prstGeom prst="rect">
              <a:avLst/>
            </a:prstGeom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EE2A0F62-9619-18AA-B76A-C04BDFE27075}"/>
                </a:ext>
              </a:extLst>
            </p:cNvPr>
            <p:cNvSpPr/>
            <p:nvPr/>
          </p:nvSpPr>
          <p:spPr>
            <a:xfrm>
              <a:off x="319155" y="1963552"/>
              <a:ext cx="7722048" cy="418518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5577BB5-862E-0885-8F0C-20A8F09C22CA}"/>
                </a:ext>
              </a:extLst>
            </p:cNvPr>
            <p:cNvSpPr txBox="1"/>
            <p:nvPr/>
          </p:nvSpPr>
          <p:spPr>
            <a:xfrm>
              <a:off x="8349593" y="3640645"/>
              <a:ext cx="490840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4800" b="1" dirty="0"/>
                <a:t>+</a:t>
              </a:r>
              <a:endParaRPr lang="zh-CN" altLang="en-US" sz="4800" b="1" dirty="0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614BE567-6868-9755-CE5B-4279745D59D1}"/>
                </a:ext>
              </a:extLst>
            </p:cNvPr>
            <p:cNvSpPr/>
            <p:nvPr/>
          </p:nvSpPr>
          <p:spPr>
            <a:xfrm>
              <a:off x="9213330" y="3217559"/>
              <a:ext cx="1677170" cy="1677169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31027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输入感知与分布漂移适应联合预测示意图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4B55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更简化的概念图：路径级采用完整漂移适应；桶级仅使用 EWMA 统计，再通过回退混合得到最终分支分布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6035040" y="5029200"/>
            <a:ext cx="0" cy="658368"/>
          </a:xfrm>
          <a:prstGeom prst="line">
            <a:avLst/>
          </a:prstGeom>
          <a:noFill/>
          <a:ln w="2286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897380" y="1725228"/>
            <a:ext cx="3108960" cy="2450592"/>
          </a:xfrm>
          <a:prstGeom prst="ellipse">
            <a:avLst/>
          </a:prstGeom>
          <a:solidFill>
            <a:srgbClr val="EEF2FF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257800" y="1572768"/>
            <a:ext cx="3840480" cy="3840480"/>
          </a:xfrm>
          <a:prstGeom prst="ellipse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108960" y="19568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8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输入感知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5897880" y="19385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分布漂移适应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24912" y="2505456"/>
            <a:ext cx="16002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23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输入桶细化</a:t>
            </a:r>
            <a:endParaRPr lang="en-US" sz="1230" dirty="0"/>
          </a:p>
          <a:p>
            <a:pPr marL="0" indent="0">
              <a:buNone/>
            </a:pPr>
            <a:r>
              <a:rPr lang="en-US" sz="123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区分输入模式</a:t>
            </a:r>
            <a:endParaRPr lang="en-US" sz="1230" dirty="0"/>
          </a:p>
          <a:p>
            <a:pPr marL="0" indent="0">
              <a:buNone/>
            </a:pPr>
            <a:r>
              <a:rPr lang="en-US" sz="123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捕捉空间差异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6821424" y="2505456"/>
            <a:ext cx="1261872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EWMA + Window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强调近期统计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响应时间变化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4572000" y="2807208"/>
            <a:ext cx="2331720" cy="1389888"/>
          </a:xfrm>
          <a:prstGeom prst="roundRect">
            <a:avLst>
              <a:gd name="adj" fmla="val 5263"/>
            </a:avLst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28032" y="29077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60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联合预测器</a:t>
            </a:r>
            <a:endParaRPr lang="en-US" sz="1660" dirty="0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193852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3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路径级：完整 Drift
</a:t>
            </a:r>
            <a:r>
              <a:rPr lang="en-US" sz="123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桶级：仅 EWMA 修正
</a:t>
            </a:r>
            <a:r>
              <a:rPr lang="en-US" sz="123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回退混合输出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9464040" y="2907792"/>
            <a:ext cx="2084832" cy="896112"/>
          </a:xfrm>
          <a:prstGeom prst="roundRect">
            <a:avLst>
              <a:gd name="adj" fmla="val 6122"/>
            </a:avLst>
          </a:prstGeom>
          <a:solidFill>
            <a:srgbClr val="FFF7ED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3026664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34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桶级不使用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A34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滑动窗口 / JSD / 模式切换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A34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仅保留 EWMA 统计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87952" y="5705856"/>
            <a:ext cx="3749040" cy="512064"/>
          </a:xfrm>
          <a:prstGeom prst="roundRect">
            <a:avLst>
              <a:gd name="adj" fmla="val 12500"/>
            </a:avLst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25696" y="5843016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最终分支分布  P_t(v)</a:t>
            </a:r>
            <a:endParaRPr lang="en-US" sz="15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210FB8FB-6371-C6E2-2296-882B9F475235}"/>
              </a:ext>
            </a:extLst>
          </p:cNvPr>
          <p:cNvSpPr/>
          <p:nvPr/>
        </p:nvSpPr>
        <p:spPr>
          <a:xfrm>
            <a:off x="9026713" y="774573"/>
            <a:ext cx="2395324" cy="6677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B0B4E3D-18F4-A99D-2E90-3632FB1A89D0}"/>
              </a:ext>
            </a:extLst>
          </p:cNvPr>
          <p:cNvSpPr/>
          <p:nvPr/>
        </p:nvSpPr>
        <p:spPr>
          <a:xfrm>
            <a:off x="11818620" y="786384"/>
            <a:ext cx="2395324" cy="6677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Gating &amp; Budgeting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Service</a:t>
            </a:r>
          </a:p>
        </p:txBody>
      </p:sp>
      <p:sp>
        <p:nvSpPr>
          <p:cNvPr id="20" name="Shape 19">
            <a:extLst>
              <a:ext uri="{FF2B5EF4-FFF2-40B4-BE49-F238E27FC236}">
                <a16:creationId xmlns:a16="http://schemas.microsoft.com/office/drawing/2014/main" id="{8425C86C-4610-70EF-6D89-4F289EE0A61D}"/>
              </a:ext>
            </a:extLst>
          </p:cNvPr>
          <p:cNvSpPr/>
          <p:nvPr/>
        </p:nvSpPr>
        <p:spPr>
          <a:xfrm>
            <a:off x="11801862" y="1683165"/>
            <a:ext cx="2395324" cy="6677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Buffering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Service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94AFB183-3EF0-3FCE-2AFF-4DEF67FFAE29}"/>
              </a:ext>
            </a:extLst>
          </p:cNvPr>
          <p:cNvSpPr/>
          <p:nvPr/>
        </p:nvSpPr>
        <p:spPr>
          <a:xfrm>
            <a:off x="9024672" y="1683165"/>
            <a:ext cx="2395325" cy="6677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Validation  &amp; Recovery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Service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96999" y="854964"/>
            <a:ext cx="6841066" cy="99669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rgbClr val="4F7CC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2" name="Text 0"/>
          <p:cNvSpPr/>
          <p:nvPr/>
        </p:nvSpPr>
        <p:spPr>
          <a:xfrm>
            <a:off x="502920" y="1645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937"/>
                </a:solidFill>
              </a:rPr>
              <a:t>SpecSW 原型系统总体架构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21208" y="51206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用户接口层、投机控制层与平台执行层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399031" y="2391155"/>
            <a:ext cx="6839031" cy="168705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rgbClr val="D6A22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投机控制层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4828032"/>
            <a:ext cx="1188720" cy="310896"/>
          </a:xfrm>
          <a:prstGeom prst="rect">
            <a:avLst/>
          </a:prstGeom>
          <a:solidFill>
            <a:srgbClr val="53A36B"/>
          </a:solidFill>
          <a:ln>
            <a:solidFill>
              <a:srgbClr val="53A36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平台执行层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691640" y="1197864"/>
            <a:ext cx="2621279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  <a:effectLst>
            <a:outerShdw blurRad="1270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757" y="1275588"/>
            <a:ext cx="24465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工作流定义与运行配置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802045" y="1513332"/>
            <a:ext cx="2424683" cy="54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工作流结构、节点关系、运行参数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99855" y="2743200"/>
            <a:ext cx="166878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4D9E3"/>
            </a:solidFill>
            <a:prstDash val="solid"/>
          </a:ln>
          <a:effectLst>
            <a:outerShdw blurRad="1270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722544" y="2814561"/>
            <a:ext cx="1623401" cy="18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工作流状态管理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986281" y="3098044"/>
            <a:ext cx="1134625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维护工作流运行状态</a:t>
            </a:r>
            <a:endParaRPr lang="en-US" sz="920" dirty="0"/>
          </a:p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节点推进关系</a:t>
            </a:r>
            <a:endParaRPr lang="en-US" sz="920" dirty="0"/>
          </a:p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就绪与后继信息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4590288" y="2743200"/>
            <a:ext cx="3017520" cy="1316736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4D9E3"/>
            </a:solidFill>
            <a:prstDash val="solid"/>
          </a:ln>
          <a:effectLst>
            <a:outerShdw blurRad="1270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36592" y="283464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投机执行控制器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3072384"/>
            <a:ext cx="2688336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组织函数推进</a:t>
            </a:r>
            <a:endParaRPr lang="en-US" sz="920" dirty="0"/>
          </a:p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触发投机路径</a:t>
            </a:r>
            <a:endParaRPr lang="en-US" sz="920" dirty="0"/>
          </a:p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提交 / 撤销结果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8302752" y="2816352"/>
            <a:ext cx="301752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4D9E3"/>
            </a:solidFill>
            <a:prstDash val="solid"/>
          </a:ln>
          <a:effectLst>
            <a:outerShdw blurRad="1270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449056" y="2907792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分支预测与运行记录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467344" y="3145536"/>
            <a:ext cx="2688336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分支预测</a:t>
            </a:r>
            <a:endParaRPr lang="en-US" sz="920" dirty="0"/>
          </a:p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模型状态更新</a:t>
            </a:r>
            <a:endParaRPr lang="en-US" sz="920" dirty="0"/>
          </a:p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时间线与结果汇总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1828800" y="5212080"/>
            <a:ext cx="347472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4D9E3"/>
            </a:solidFill>
            <a:prstDash val="solid"/>
          </a:ln>
          <a:effectLst>
            <a:outerShdw blurRad="1270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975104" y="5303520"/>
            <a:ext cx="3182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本地执行后端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993392" y="5541264"/>
            <a:ext cx="31455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用于调试与快速验证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903720" y="5212080"/>
            <a:ext cx="347472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4D9E3"/>
            </a:solidFill>
            <a:prstDash val="solid"/>
          </a:ln>
          <a:effectLst>
            <a:outerShdw blurRad="1270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050024" y="5303520"/>
            <a:ext cx="3182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OpenWhisk 执行后端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068312" y="5541264"/>
            <a:ext cx="31455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承载函数任务并返回执行结果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154680" y="1764792"/>
            <a:ext cx="0" cy="1033272"/>
          </a:xfrm>
          <a:prstGeom prst="line">
            <a:avLst/>
          </a:prstGeom>
          <a:noFill/>
          <a:ln w="12700">
            <a:solidFill>
              <a:srgbClr val="7C8AA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034272" y="1764792"/>
            <a:ext cx="0" cy="969264"/>
          </a:xfrm>
          <a:prstGeom prst="line">
            <a:avLst/>
          </a:prstGeom>
          <a:noFill/>
          <a:ln w="12700">
            <a:solidFill>
              <a:srgbClr val="7C8AA5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886200" y="3392424"/>
            <a:ext cx="685800" cy="0"/>
          </a:xfrm>
          <a:prstGeom prst="line">
            <a:avLst/>
          </a:prstGeom>
          <a:noFill/>
          <a:ln w="12700">
            <a:solidFill>
              <a:srgbClr val="B28B2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607808" y="3392424"/>
            <a:ext cx="676656" cy="0"/>
          </a:xfrm>
          <a:prstGeom prst="line">
            <a:avLst/>
          </a:prstGeom>
          <a:noFill/>
          <a:ln w="12700">
            <a:solidFill>
              <a:srgbClr val="B28B2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452360" y="3666744"/>
            <a:ext cx="0" cy="0"/>
          </a:xfrm>
          <a:prstGeom prst="line">
            <a:avLst/>
          </a:prstGeom>
          <a:noFill/>
          <a:ln w="12700">
            <a:solidFill>
              <a:srgbClr val="B28B2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099048" y="4059936"/>
            <a:ext cx="0" cy="1133856"/>
          </a:xfrm>
          <a:prstGeom prst="line">
            <a:avLst/>
          </a:prstGeom>
          <a:noFill/>
          <a:ln w="12700">
            <a:solidFill>
              <a:srgbClr val="7C8AA5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099048" y="4059936"/>
            <a:ext cx="2542032" cy="1133856"/>
          </a:xfrm>
          <a:prstGeom prst="line">
            <a:avLst/>
          </a:prstGeom>
          <a:noFill/>
          <a:ln w="12700">
            <a:solidFill>
              <a:srgbClr val="7C8AA5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005840" y="6355080"/>
            <a:ext cx="10241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</a:rPr>
              <a:t>定义与配置 → 控制推进与预测 → 后端执行 → 结果回流与状态更新</a:t>
            </a:r>
            <a:endParaRPr lang="en-US" sz="900" dirty="0"/>
          </a:p>
        </p:txBody>
      </p:sp>
      <p:sp>
        <p:nvSpPr>
          <p:cNvPr id="39" name="Text 0">
            <a:extLst>
              <a:ext uri="{FF2B5EF4-FFF2-40B4-BE49-F238E27FC236}">
                <a16:creationId xmlns:a16="http://schemas.microsoft.com/office/drawing/2014/main" id="{E265CC4A-08CE-E9B2-5C97-9B6B307127FE}"/>
              </a:ext>
            </a:extLst>
          </p:cNvPr>
          <p:cNvSpPr/>
          <p:nvPr/>
        </p:nvSpPr>
        <p:spPr>
          <a:xfrm>
            <a:off x="4387599" y="893826"/>
            <a:ext cx="92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rgbClr val="111827"/>
                </a:solidFill>
              </a:rPr>
              <a:t>用户接口层</a:t>
            </a:r>
            <a:endParaRPr lang="en-US" sz="1400" b="1" dirty="0">
              <a:solidFill>
                <a:srgbClr val="111827"/>
              </a:solidFill>
            </a:endParaRPr>
          </a:p>
        </p:txBody>
      </p:sp>
      <p:sp>
        <p:nvSpPr>
          <p:cNvPr id="40" name="Shape 8">
            <a:extLst>
              <a:ext uri="{FF2B5EF4-FFF2-40B4-BE49-F238E27FC236}">
                <a16:creationId xmlns:a16="http://schemas.microsoft.com/office/drawing/2014/main" id="{8BF199D0-320D-EA1D-C9C6-72DCD1237B98}"/>
              </a:ext>
            </a:extLst>
          </p:cNvPr>
          <p:cNvSpPr/>
          <p:nvPr/>
        </p:nvSpPr>
        <p:spPr>
          <a:xfrm>
            <a:off x="5324857" y="1197864"/>
            <a:ext cx="2621279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  <a:effectLst>
            <a:outerShdw blurRad="1270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90288" y="1275588"/>
            <a:ext cx="4096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部署与执行入口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05529" y="1527048"/>
            <a:ext cx="4059936" cy="54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20" dirty="0">
                <a:solidFill>
                  <a:srgbClr val="4B5563"/>
                </a:solidFill>
              </a:rPr>
              <a:t>Python API / specx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517AC8DD-15CC-B104-6BD4-2FF15A18A5C7}"/>
              </a:ext>
            </a:extLst>
          </p:cNvPr>
          <p:cNvSpPr/>
          <p:nvPr/>
        </p:nvSpPr>
        <p:spPr>
          <a:xfrm>
            <a:off x="4949044" y="4297690"/>
            <a:ext cx="1128585" cy="764167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b2</a:t>
            </a:r>
            <a:endParaRPr lang="zh-CN" altLang="en-US" sz="2400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EC19FFE-6C81-C73D-EB40-8F6467575AEA}"/>
              </a:ext>
            </a:extLst>
          </p:cNvPr>
          <p:cNvSpPr/>
          <p:nvPr/>
        </p:nvSpPr>
        <p:spPr>
          <a:xfrm>
            <a:off x="4949044" y="2413331"/>
            <a:ext cx="1128587" cy="764167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b1</a:t>
            </a:r>
            <a:endParaRPr lang="zh-CN" altLang="en-US" sz="2400" dirty="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D2B16B8-B90F-9513-74B0-767CCD4ACD23}"/>
              </a:ext>
            </a:extLst>
          </p:cNvPr>
          <p:cNvSpPr/>
          <p:nvPr/>
        </p:nvSpPr>
        <p:spPr>
          <a:xfrm>
            <a:off x="7313284" y="3412602"/>
            <a:ext cx="1128587" cy="764167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end</a:t>
            </a:r>
            <a:endParaRPr lang="zh-CN" altLang="en-US" sz="2400" dirty="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E982D34-6CD3-0C6F-147D-1E4F4962AA95}"/>
              </a:ext>
            </a:extLst>
          </p:cNvPr>
          <p:cNvSpPr/>
          <p:nvPr/>
        </p:nvSpPr>
        <p:spPr>
          <a:xfrm>
            <a:off x="1109659" y="3429000"/>
            <a:ext cx="1128587" cy="764167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start</a:t>
            </a:r>
            <a:endParaRPr lang="zh-CN" altLang="en-US" sz="2400" dirty="0"/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89DCB4B5-88F8-9B83-BC55-F111FAE9758D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991377" y="2795415"/>
            <a:ext cx="957667" cy="1015668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958A73AF-AD46-AB6E-2527-CD2BF0DFDD3A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991377" y="3811083"/>
            <a:ext cx="957667" cy="86869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5B97A0AA-0CE4-3428-1777-55A2A2A54DC9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77631" y="2795415"/>
            <a:ext cx="1235653" cy="99927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9A639A5B-AC5D-D630-A708-AACE34278EA9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6077629" y="3794686"/>
            <a:ext cx="1235655" cy="88508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8BCC8A5-1F89-094F-738B-26FFEB6DFD53}"/>
              </a:ext>
            </a:extLst>
          </p:cNvPr>
          <p:cNvSpPr/>
          <p:nvPr/>
        </p:nvSpPr>
        <p:spPr>
          <a:xfrm>
            <a:off x="2862790" y="3428999"/>
            <a:ext cx="1128587" cy="764167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 err="1"/>
              <a:t>br</a:t>
            </a:r>
            <a:endParaRPr lang="zh-CN" altLang="en-US" sz="2400" dirty="0"/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3DACF067-47FA-F4FC-09E2-ABB7ABF75A78}"/>
              </a:ext>
            </a:extLst>
          </p:cNvPr>
          <p:cNvCxnSpPr>
            <a:stCxn id="9" idx="3"/>
            <a:endCxn id="4" idx="1"/>
          </p:cNvCxnSpPr>
          <p:nvPr/>
        </p:nvCxnSpPr>
        <p:spPr>
          <a:xfrm flipV="1">
            <a:off x="2238246" y="3811083"/>
            <a:ext cx="624544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814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89283F29-6859-72D1-D9C5-E37BC68A651B}"/>
              </a:ext>
            </a:extLst>
          </p:cNvPr>
          <p:cNvGrpSpPr/>
          <p:nvPr/>
        </p:nvGrpSpPr>
        <p:grpSpPr>
          <a:xfrm>
            <a:off x="231874" y="636205"/>
            <a:ext cx="11201018" cy="1796327"/>
            <a:chOff x="231874" y="636205"/>
            <a:chExt cx="11201018" cy="1796327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0E982D34-6CD3-0C6F-147D-1E4F4962AA95}"/>
                </a:ext>
              </a:extLst>
            </p:cNvPr>
            <p:cNvSpPr/>
            <p:nvPr/>
          </p:nvSpPr>
          <p:spPr>
            <a:xfrm>
              <a:off x="231874" y="1179526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recv_request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请求接入</a:t>
              </a:r>
            </a:p>
          </p:txBody>
        </p:sp>
        <p:cxnSp>
          <p:nvCxnSpPr>
            <p:cNvPr id="12" name="连接符: 肘形 11">
              <a:extLst>
                <a:ext uri="{FF2B5EF4-FFF2-40B4-BE49-F238E27FC236}">
                  <a16:creationId xmlns:a16="http://schemas.microsoft.com/office/drawing/2014/main" id="{5B97A0AA-0CE4-3428-1777-55A2A2A54DC9}"/>
                </a:ext>
              </a:extLst>
            </p:cNvPr>
            <p:cNvCxnSpPr>
              <a:cxnSpLocks/>
              <a:stCxn id="35" idx="3"/>
              <a:endCxn id="46" idx="1"/>
            </p:cNvCxnSpPr>
            <p:nvPr/>
          </p:nvCxnSpPr>
          <p:spPr>
            <a:xfrm>
              <a:off x="9401825" y="963635"/>
              <a:ext cx="333125" cy="598060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连接符: 肘形 12">
              <a:extLst>
                <a:ext uri="{FF2B5EF4-FFF2-40B4-BE49-F238E27FC236}">
                  <a16:creationId xmlns:a16="http://schemas.microsoft.com/office/drawing/2014/main" id="{9A639A5B-AC5D-D630-A708-AACE34278EA9}"/>
                </a:ext>
              </a:extLst>
            </p:cNvPr>
            <p:cNvCxnSpPr>
              <a:cxnSpLocks/>
              <a:stCxn id="42" idx="3"/>
              <a:endCxn id="46" idx="1"/>
            </p:cNvCxnSpPr>
            <p:nvPr/>
          </p:nvCxnSpPr>
          <p:spPr>
            <a:xfrm flipV="1">
              <a:off x="9401825" y="1561695"/>
              <a:ext cx="333125" cy="543407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3DACF067-47FA-F4FC-09E2-ABB7ABF75A78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1809919" y="1506956"/>
              <a:ext cx="25251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DB17EE34-76FF-4D58-9AA5-C765DB3C7B92}"/>
                </a:ext>
              </a:extLst>
            </p:cNvPr>
            <p:cNvSpPr/>
            <p:nvPr/>
          </p:nvSpPr>
          <p:spPr>
            <a:xfrm>
              <a:off x="2062431" y="1179526"/>
              <a:ext cx="1716603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check_context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上下文校验</a:t>
              </a:r>
            </a:p>
          </p:txBody>
        </p: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4BBEB8C0-FFA9-F216-F376-0963BF3626E9}"/>
                </a:ext>
              </a:extLst>
            </p:cNvPr>
            <p:cNvSpPr/>
            <p:nvPr/>
          </p:nvSpPr>
          <p:spPr>
            <a:xfrm>
              <a:off x="4027827" y="1177466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extract_feat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风险特征提取</a:t>
              </a:r>
            </a:p>
          </p:txBody>
        </p: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055D524A-AF76-EB5F-F374-097830FE3C55}"/>
                </a:ext>
              </a:extLst>
            </p:cNvPr>
            <p:cNvCxnSpPr>
              <a:cxnSpLocks/>
            </p:cNvCxnSpPr>
            <p:nvPr/>
          </p:nvCxnSpPr>
          <p:spPr>
            <a:xfrm>
              <a:off x="3779034" y="1504896"/>
              <a:ext cx="25251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074DBF14-2A04-5182-E891-D1F859723F74}"/>
                </a:ext>
              </a:extLst>
            </p:cNvPr>
            <p:cNvSpPr/>
            <p:nvPr/>
          </p:nvSpPr>
          <p:spPr>
            <a:xfrm>
              <a:off x="5854665" y="1177466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risk_gate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风险分流</a:t>
              </a:r>
            </a:p>
          </p:txBody>
        </p: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184D9475-7CFD-CDEA-A24C-F7E124B760E2}"/>
                </a:ext>
              </a:extLst>
            </p:cNvPr>
            <p:cNvCxnSpPr>
              <a:cxnSpLocks/>
            </p:cNvCxnSpPr>
            <p:nvPr/>
          </p:nvCxnSpPr>
          <p:spPr>
            <a:xfrm>
              <a:off x="5605872" y="1504896"/>
              <a:ext cx="25251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连接符: 肘形 32">
              <a:extLst>
                <a:ext uri="{FF2B5EF4-FFF2-40B4-BE49-F238E27FC236}">
                  <a16:creationId xmlns:a16="http://schemas.microsoft.com/office/drawing/2014/main" id="{EBCE1B68-04DD-79F4-64D0-3E2FCADF323D}"/>
                </a:ext>
              </a:extLst>
            </p:cNvPr>
            <p:cNvCxnSpPr>
              <a:cxnSpLocks/>
              <a:stCxn id="31" idx="3"/>
              <a:endCxn id="42" idx="1"/>
            </p:cNvCxnSpPr>
            <p:nvPr/>
          </p:nvCxnSpPr>
          <p:spPr>
            <a:xfrm>
              <a:off x="7432710" y="1504896"/>
              <a:ext cx="391070" cy="600206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C06FB6CF-441F-B956-C233-AEB754F2FA5A}"/>
                </a:ext>
              </a:extLst>
            </p:cNvPr>
            <p:cNvSpPr/>
            <p:nvPr/>
          </p:nvSpPr>
          <p:spPr>
            <a:xfrm>
              <a:off x="7823780" y="636205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fast_path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快速处理</a:t>
              </a:r>
            </a:p>
          </p:txBody>
        </p:sp>
        <p:cxnSp>
          <p:nvCxnSpPr>
            <p:cNvPr id="36" name="连接符: 肘形 35">
              <a:extLst>
                <a:ext uri="{FF2B5EF4-FFF2-40B4-BE49-F238E27FC236}">
                  <a16:creationId xmlns:a16="http://schemas.microsoft.com/office/drawing/2014/main" id="{9B9ADEA2-D18B-04F2-0824-F4F9ED0D6C72}"/>
                </a:ext>
              </a:extLst>
            </p:cNvPr>
            <p:cNvCxnSpPr>
              <a:cxnSpLocks/>
              <a:stCxn id="31" idx="3"/>
              <a:endCxn id="35" idx="1"/>
            </p:cNvCxnSpPr>
            <p:nvPr/>
          </p:nvCxnSpPr>
          <p:spPr>
            <a:xfrm flipV="1">
              <a:off x="7432710" y="963635"/>
              <a:ext cx="391070" cy="541261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A7A9F149-5ABA-0C1E-6468-7610757D079F}"/>
                </a:ext>
              </a:extLst>
            </p:cNvPr>
            <p:cNvSpPr/>
            <p:nvPr/>
          </p:nvSpPr>
          <p:spPr>
            <a:xfrm>
              <a:off x="7823780" y="1777672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deep_check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增强校验与处理</a:t>
              </a:r>
            </a:p>
          </p:txBody>
        </p:sp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DEDC7276-4855-A08E-9DF8-1B1F2D075119}"/>
                </a:ext>
              </a:extLst>
            </p:cNvPr>
            <p:cNvSpPr/>
            <p:nvPr/>
          </p:nvSpPr>
          <p:spPr>
            <a:xfrm>
              <a:off x="9734950" y="1234265"/>
              <a:ext cx="1697942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build_response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结果生成与返回</a:t>
              </a:r>
            </a:p>
          </p:txBody>
        </p:sp>
      </p:grpSp>
      <p:grpSp>
        <p:nvGrpSpPr>
          <p:cNvPr id="91" name="组合 90">
            <a:extLst>
              <a:ext uri="{FF2B5EF4-FFF2-40B4-BE49-F238E27FC236}">
                <a16:creationId xmlns:a16="http://schemas.microsoft.com/office/drawing/2014/main" id="{E58E7C89-A71C-9619-4FD8-0686B2CAE4F4}"/>
              </a:ext>
            </a:extLst>
          </p:cNvPr>
          <p:cNvGrpSpPr/>
          <p:nvPr/>
        </p:nvGrpSpPr>
        <p:grpSpPr>
          <a:xfrm>
            <a:off x="657938" y="3548659"/>
            <a:ext cx="9453332" cy="2396533"/>
            <a:chOff x="657938" y="3548659"/>
            <a:chExt cx="9453332" cy="2396533"/>
          </a:xfrm>
        </p:grpSpPr>
        <p:sp>
          <p:nvSpPr>
            <p:cNvPr id="67" name="矩形: 圆角 66">
              <a:extLst>
                <a:ext uri="{FF2B5EF4-FFF2-40B4-BE49-F238E27FC236}">
                  <a16:creationId xmlns:a16="http://schemas.microsoft.com/office/drawing/2014/main" id="{804D5B5B-7BF2-CCF3-2439-F8F5AE51B273}"/>
                </a:ext>
              </a:extLst>
            </p:cNvPr>
            <p:cNvSpPr/>
            <p:nvPr/>
          </p:nvSpPr>
          <p:spPr>
            <a:xfrm>
              <a:off x="657938" y="4091980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ingest_log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日志事件接入</a:t>
              </a:r>
            </a:p>
          </p:txBody>
        </p: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57D8CBF8-8BEC-41A0-C566-B3E40159C55A}"/>
                </a:ext>
              </a:extLst>
            </p:cNvPr>
            <p:cNvCxnSpPr>
              <a:cxnSpLocks/>
              <a:stCxn id="67" idx="3"/>
            </p:cNvCxnSpPr>
            <p:nvPr/>
          </p:nvCxnSpPr>
          <p:spPr>
            <a:xfrm>
              <a:off x="2235983" y="4419410"/>
              <a:ext cx="25251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矩形: 圆角 70">
              <a:extLst>
                <a:ext uri="{FF2B5EF4-FFF2-40B4-BE49-F238E27FC236}">
                  <a16:creationId xmlns:a16="http://schemas.microsoft.com/office/drawing/2014/main" id="{9E18B5F5-B4D8-06B8-081E-1169420A2D89}"/>
                </a:ext>
              </a:extLst>
            </p:cNvPr>
            <p:cNvSpPr/>
            <p:nvPr/>
          </p:nvSpPr>
          <p:spPr>
            <a:xfrm>
              <a:off x="2488495" y="4091980"/>
              <a:ext cx="1826838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normalize_event</a:t>
              </a:r>
              <a:r>
                <a:rPr lang="zh-CN" altLang="en-US" sz="1200" dirty="0"/>
                <a:t>事件标准化</a:t>
              </a:r>
            </a:p>
          </p:txBody>
        </p:sp>
        <p:sp>
          <p:nvSpPr>
            <p:cNvPr id="72" name="矩形: 圆角 71">
              <a:extLst>
                <a:ext uri="{FF2B5EF4-FFF2-40B4-BE49-F238E27FC236}">
                  <a16:creationId xmlns:a16="http://schemas.microsoft.com/office/drawing/2014/main" id="{B85D84D6-6D62-0B47-F347-C3317B396632}"/>
                </a:ext>
              </a:extLst>
            </p:cNvPr>
            <p:cNvSpPr/>
            <p:nvPr/>
          </p:nvSpPr>
          <p:spPr>
            <a:xfrm>
              <a:off x="4572723" y="4089920"/>
              <a:ext cx="1585469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anomaly_gate</a:t>
              </a:r>
              <a:r>
                <a:rPr lang="zh-CN" altLang="en-US" sz="1200" dirty="0"/>
                <a:t>异常模式判断</a:t>
              </a:r>
            </a:p>
          </p:txBody>
        </p: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A6EF6907-8EAA-DC3F-D762-D3A5F7296012}"/>
                </a:ext>
              </a:extLst>
            </p:cNvPr>
            <p:cNvCxnSpPr>
              <a:cxnSpLocks/>
            </p:cNvCxnSpPr>
            <p:nvPr/>
          </p:nvCxnSpPr>
          <p:spPr>
            <a:xfrm>
              <a:off x="4327635" y="4417350"/>
              <a:ext cx="25251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连接符: 肘形 75">
              <a:extLst>
                <a:ext uri="{FF2B5EF4-FFF2-40B4-BE49-F238E27FC236}">
                  <a16:creationId xmlns:a16="http://schemas.microsoft.com/office/drawing/2014/main" id="{1E147E05-15AA-CB85-781A-2F3850CC7B92}"/>
                </a:ext>
              </a:extLst>
            </p:cNvPr>
            <p:cNvCxnSpPr>
              <a:cxnSpLocks/>
              <a:endCxn id="79" idx="1"/>
            </p:cNvCxnSpPr>
            <p:nvPr/>
          </p:nvCxnSpPr>
          <p:spPr>
            <a:xfrm>
              <a:off x="6158192" y="4417350"/>
              <a:ext cx="391070" cy="600206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矩形: 圆角 76">
              <a:extLst>
                <a:ext uri="{FF2B5EF4-FFF2-40B4-BE49-F238E27FC236}">
                  <a16:creationId xmlns:a16="http://schemas.microsoft.com/office/drawing/2014/main" id="{D6751835-AD6D-B5C5-91CF-19C11A628268}"/>
                </a:ext>
              </a:extLst>
            </p:cNvPr>
            <p:cNvSpPr/>
            <p:nvPr/>
          </p:nvSpPr>
          <p:spPr>
            <a:xfrm>
              <a:off x="6549262" y="3548659"/>
              <a:ext cx="1654700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archive_event</a:t>
              </a:r>
              <a:r>
                <a:rPr lang="zh-CN" altLang="en-US" sz="1200" dirty="0"/>
                <a:t>普通事件归档</a:t>
              </a:r>
            </a:p>
          </p:txBody>
        </p:sp>
        <p:cxnSp>
          <p:nvCxnSpPr>
            <p:cNvPr id="78" name="连接符: 肘形 77">
              <a:extLst>
                <a:ext uri="{FF2B5EF4-FFF2-40B4-BE49-F238E27FC236}">
                  <a16:creationId xmlns:a16="http://schemas.microsoft.com/office/drawing/2014/main" id="{4666D667-00F4-0B9E-76EC-C68BAA100D61}"/>
                </a:ext>
              </a:extLst>
            </p:cNvPr>
            <p:cNvCxnSpPr>
              <a:cxnSpLocks/>
              <a:stCxn id="72" idx="3"/>
              <a:endCxn id="77" idx="1"/>
            </p:cNvCxnSpPr>
            <p:nvPr/>
          </p:nvCxnSpPr>
          <p:spPr>
            <a:xfrm flipV="1">
              <a:off x="6158192" y="3876089"/>
              <a:ext cx="391070" cy="541261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: 圆角 78">
              <a:extLst>
                <a:ext uri="{FF2B5EF4-FFF2-40B4-BE49-F238E27FC236}">
                  <a16:creationId xmlns:a16="http://schemas.microsoft.com/office/drawing/2014/main" id="{382BB62C-D4BF-5928-2217-A19873731888}"/>
                </a:ext>
              </a:extLst>
            </p:cNvPr>
            <p:cNvSpPr/>
            <p:nvPr/>
          </p:nvSpPr>
          <p:spPr>
            <a:xfrm>
              <a:off x="6549262" y="4690126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enrich_alert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异常事件告警富化</a:t>
              </a:r>
            </a:p>
          </p:txBody>
        </p:sp>
        <p:cxnSp>
          <p:nvCxnSpPr>
            <p:cNvPr id="86" name="连接符: 肘形 85">
              <a:extLst>
                <a:ext uri="{FF2B5EF4-FFF2-40B4-BE49-F238E27FC236}">
                  <a16:creationId xmlns:a16="http://schemas.microsoft.com/office/drawing/2014/main" id="{BA41EFCA-1A72-11FC-C0AD-0BF55B44C1D1}"/>
                </a:ext>
              </a:extLst>
            </p:cNvPr>
            <p:cNvCxnSpPr>
              <a:cxnSpLocks/>
            </p:cNvCxnSpPr>
            <p:nvPr/>
          </p:nvCxnSpPr>
          <p:spPr>
            <a:xfrm>
              <a:off x="8134731" y="5017556"/>
              <a:ext cx="391070" cy="600206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连接符: 肘形 86">
              <a:extLst>
                <a:ext uri="{FF2B5EF4-FFF2-40B4-BE49-F238E27FC236}">
                  <a16:creationId xmlns:a16="http://schemas.microsoft.com/office/drawing/2014/main" id="{A74BCD61-0C6C-0BE8-D2A7-0BB064E825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34731" y="4476295"/>
              <a:ext cx="391070" cy="541261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9B533D81-8DB5-9AE7-6661-36810F60B62F}"/>
                </a:ext>
              </a:extLst>
            </p:cNvPr>
            <p:cNvSpPr/>
            <p:nvPr/>
          </p:nvSpPr>
          <p:spPr>
            <a:xfrm>
              <a:off x="8511762" y="4146719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notify_basic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普通通知</a:t>
              </a:r>
            </a:p>
          </p:txBody>
        </p:sp>
        <p:sp>
          <p:nvSpPr>
            <p:cNvPr id="89" name="矩形: 圆角 88">
              <a:extLst>
                <a:ext uri="{FF2B5EF4-FFF2-40B4-BE49-F238E27FC236}">
                  <a16:creationId xmlns:a16="http://schemas.microsoft.com/office/drawing/2014/main" id="{2C5C397C-8475-A0D1-248E-41B1C82DC694}"/>
                </a:ext>
              </a:extLst>
            </p:cNvPr>
            <p:cNvSpPr/>
            <p:nvPr/>
          </p:nvSpPr>
          <p:spPr>
            <a:xfrm>
              <a:off x="8533225" y="5290332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notify_urgent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紧急通知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8673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>
            <a:extLst>
              <a:ext uri="{FF2B5EF4-FFF2-40B4-BE49-F238E27FC236}">
                <a16:creationId xmlns:a16="http://schemas.microsoft.com/office/drawing/2014/main" id="{6A4BA878-A415-0709-0FF3-CEF660DFF3AC}"/>
              </a:ext>
            </a:extLst>
          </p:cNvPr>
          <p:cNvGrpSpPr/>
          <p:nvPr/>
        </p:nvGrpSpPr>
        <p:grpSpPr>
          <a:xfrm>
            <a:off x="484386" y="3602914"/>
            <a:ext cx="13431609" cy="2422433"/>
            <a:chOff x="484386" y="3602914"/>
            <a:chExt cx="13431609" cy="2422433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0E982D34-6CD3-0C6F-147D-1E4F4962AA95}"/>
                </a:ext>
              </a:extLst>
            </p:cNvPr>
            <p:cNvSpPr/>
            <p:nvPr/>
          </p:nvSpPr>
          <p:spPr>
            <a:xfrm>
              <a:off x="484386" y="4500537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ingest_media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内容上传事件接入</a:t>
              </a:r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3DACF067-47FA-F4FC-09E2-ABB7ABF75A78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2062431" y="4827967"/>
              <a:ext cx="25251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BF5C341E-B6ED-A559-C4F3-2D6AA12AFC03}"/>
                </a:ext>
              </a:extLst>
            </p:cNvPr>
            <p:cNvSpPr/>
            <p:nvPr/>
          </p:nvSpPr>
          <p:spPr>
            <a:xfrm>
              <a:off x="2327245" y="4500537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prep_input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输入预处理</a:t>
              </a:r>
            </a:p>
          </p:txBody>
        </p:sp>
        <p:cxnSp>
          <p:nvCxnSpPr>
            <p:cNvPr id="3" name="连接符: 肘形 2">
              <a:extLst>
                <a:ext uri="{FF2B5EF4-FFF2-40B4-BE49-F238E27FC236}">
                  <a16:creationId xmlns:a16="http://schemas.microsoft.com/office/drawing/2014/main" id="{A6BCA606-4CC8-B40A-23C3-FBBF525676C7}"/>
                </a:ext>
              </a:extLst>
            </p:cNvPr>
            <p:cNvCxnSpPr>
              <a:cxnSpLocks/>
              <a:stCxn id="2" idx="3"/>
              <a:endCxn id="11" idx="1"/>
            </p:cNvCxnSpPr>
            <p:nvPr/>
          </p:nvCxnSpPr>
          <p:spPr>
            <a:xfrm>
              <a:off x="3905290" y="4827967"/>
              <a:ext cx="466771" cy="869950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连接符: 肘形 3">
              <a:extLst>
                <a:ext uri="{FF2B5EF4-FFF2-40B4-BE49-F238E27FC236}">
                  <a16:creationId xmlns:a16="http://schemas.microsoft.com/office/drawing/2014/main" id="{3AB5D9AF-B312-4F10-73E1-937D71713FD5}"/>
                </a:ext>
              </a:extLst>
            </p:cNvPr>
            <p:cNvCxnSpPr>
              <a:cxnSpLocks/>
              <a:stCxn id="2" idx="3"/>
              <a:endCxn id="8" idx="1"/>
            </p:cNvCxnSpPr>
            <p:nvPr/>
          </p:nvCxnSpPr>
          <p:spPr>
            <a:xfrm flipV="1">
              <a:off x="3905290" y="3957134"/>
              <a:ext cx="466769" cy="870833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连接符: 肘形 4">
              <a:extLst>
                <a:ext uri="{FF2B5EF4-FFF2-40B4-BE49-F238E27FC236}">
                  <a16:creationId xmlns:a16="http://schemas.microsoft.com/office/drawing/2014/main" id="{002C85BC-D91B-4A3E-6998-9737FEDC4D70}"/>
                </a:ext>
              </a:extLst>
            </p:cNvPr>
            <p:cNvCxnSpPr>
              <a:cxnSpLocks/>
              <a:stCxn id="2" idx="3"/>
              <a:endCxn id="10" idx="1"/>
            </p:cNvCxnSpPr>
            <p:nvPr/>
          </p:nvCxnSpPr>
          <p:spPr>
            <a:xfrm flipV="1">
              <a:off x="3905290" y="4827380"/>
              <a:ext cx="466770" cy="587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DD411304-0641-0500-2F40-661B23ADD868}"/>
                </a:ext>
              </a:extLst>
            </p:cNvPr>
            <p:cNvSpPr/>
            <p:nvPr/>
          </p:nvSpPr>
          <p:spPr>
            <a:xfrm>
              <a:off x="4372059" y="3629704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scan_meta</a:t>
              </a:r>
              <a:endParaRPr lang="en-US" altLang="zh-CN" sz="1200" dirty="0"/>
            </a:p>
            <a:p>
              <a:pPr algn="ctr"/>
              <a:r>
                <a:rPr lang="zh-CN" altLang="en-US" sz="1200" dirty="0"/>
                <a:t>元数据识别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9C9C738-F409-4487-FF64-12286DB681D3}"/>
                </a:ext>
              </a:extLst>
            </p:cNvPr>
            <p:cNvSpPr/>
            <p:nvPr/>
          </p:nvSpPr>
          <p:spPr>
            <a:xfrm>
              <a:off x="4372060" y="4499950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extract_tag</a:t>
              </a:r>
              <a:endParaRPr lang="en-US" altLang="zh-CN" sz="1200" dirty="0"/>
            </a:p>
            <a:p>
              <a:pPr algn="ctr"/>
              <a:r>
                <a:rPr lang="zh-CN" altLang="en-US" sz="1200" dirty="0"/>
                <a:t>内容标签提取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74F65DDB-6D94-D3E4-2EE6-0227AA5CA5C4}"/>
                </a:ext>
              </a:extLst>
            </p:cNvPr>
            <p:cNvSpPr/>
            <p:nvPr/>
          </p:nvSpPr>
          <p:spPr>
            <a:xfrm>
              <a:off x="4372061" y="5370487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check_quality</a:t>
              </a:r>
              <a:r>
                <a:rPr lang="zh-CN" altLang="en-US" sz="1200" dirty="0"/>
                <a:t>基础质量检查</a:t>
              </a: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FA4A4A93-D7E9-EDAD-2501-CB04E36BF9A7}"/>
                </a:ext>
              </a:extLst>
            </p:cNvPr>
            <p:cNvSpPr/>
            <p:nvPr/>
          </p:nvSpPr>
          <p:spPr>
            <a:xfrm>
              <a:off x="6329385" y="4499950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merge_signals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并行结果汇聚</a:t>
              </a: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3F635D50-E65C-1D3F-D695-FFE8BD9259E8}"/>
                </a:ext>
              </a:extLst>
            </p:cNvPr>
            <p:cNvSpPr/>
            <p:nvPr/>
          </p:nvSpPr>
          <p:spPr>
            <a:xfrm>
              <a:off x="8156905" y="4499950"/>
              <a:ext cx="1578045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route_flow</a:t>
              </a:r>
              <a:endParaRPr lang="en-US" altLang="zh-CN" sz="1200" dirty="0"/>
            </a:p>
            <a:p>
              <a:pPr algn="ctr"/>
              <a:r>
                <a:rPr lang="zh-CN" altLang="en-US" sz="1200" dirty="0"/>
                <a:t>后续处理路径选择</a:t>
              </a: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8D07EA8A-A5D3-7657-08D7-5292A3C50A8C}"/>
                </a:ext>
              </a:extLst>
            </p:cNvPr>
            <p:cNvSpPr/>
            <p:nvPr/>
          </p:nvSpPr>
          <p:spPr>
            <a:xfrm>
              <a:off x="10201719" y="3602914"/>
              <a:ext cx="1637054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standard_flow</a:t>
              </a:r>
              <a:r>
                <a:rPr lang="zh-CN" altLang="en-US" sz="1200" dirty="0"/>
                <a:t>常规处理路径</a:t>
              </a: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33383EB3-8825-AC4D-3C16-5CFB638FB587}"/>
                </a:ext>
              </a:extLst>
            </p:cNvPr>
            <p:cNvSpPr/>
            <p:nvPr/>
          </p:nvSpPr>
          <p:spPr>
            <a:xfrm>
              <a:off x="10210277" y="5369900"/>
              <a:ext cx="1697941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enhanced_flow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增强处理路径</a:t>
              </a: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310259F9-0654-A068-5E35-1E05F3CDBC4B}"/>
                </a:ext>
              </a:extLst>
            </p:cNvPr>
            <p:cNvSpPr/>
            <p:nvPr/>
          </p:nvSpPr>
          <p:spPr>
            <a:xfrm>
              <a:off x="12218054" y="4499950"/>
              <a:ext cx="1697941" cy="654860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/>
                <a:t>emit_result</a:t>
              </a:r>
              <a:endParaRPr lang="en-US" altLang="zh-CN" dirty="0"/>
            </a:p>
            <a:p>
              <a:pPr algn="ctr"/>
              <a:r>
                <a:rPr lang="zh-CN" altLang="en-US" sz="1200" dirty="0"/>
                <a:t>最终结果输出</a:t>
              </a:r>
            </a:p>
          </p:txBody>
        </p:sp>
        <p:cxnSp>
          <p:nvCxnSpPr>
            <p:cNvPr id="26" name="连接符: 肘形 25">
              <a:extLst>
                <a:ext uri="{FF2B5EF4-FFF2-40B4-BE49-F238E27FC236}">
                  <a16:creationId xmlns:a16="http://schemas.microsoft.com/office/drawing/2014/main" id="{A8B0EB7A-9A16-26BD-01F5-F1B0B56F1CDF}"/>
                </a:ext>
              </a:extLst>
            </p:cNvPr>
            <p:cNvCxnSpPr>
              <a:cxnSpLocks/>
              <a:stCxn id="8" idx="3"/>
              <a:endCxn id="14" idx="1"/>
            </p:cNvCxnSpPr>
            <p:nvPr/>
          </p:nvCxnSpPr>
          <p:spPr>
            <a:xfrm>
              <a:off x="5950104" y="3957134"/>
              <a:ext cx="379281" cy="870246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A206DC7D-1B31-6421-768C-67CF50A4D5FB}"/>
                </a:ext>
              </a:extLst>
            </p:cNvPr>
            <p:cNvCxnSpPr>
              <a:cxnSpLocks/>
              <a:stCxn id="10" idx="3"/>
              <a:endCxn id="14" idx="1"/>
            </p:cNvCxnSpPr>
            <p:nvPr/>
          </p:nvCxnSpPr>
          <p:spPr>
            <a:xfrm>
              <a:off x="5950105" y="4827380"/>
              <a:ext cx="37928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连接符: 肘形 48">
              <a:extLst>
                <a:ext uri="{FF2B5EF4-FFF2-40B4-BE49-F238E27FC236}">
                  <a16:creationId xmlns:a16="http://schemas.microsoft.com/office/drawing/2014/main" id="{774143AB-40BC-8499-ED32-81EDED20D7E8}"/>
                </a:ext>
              </a:extLst>
            </p:cNvPr>
            <p:cNvCxnSpPr>
              <a:cxnSpLocks/>
              <a:stCxn id="11" idx="3"/>
              <a:endCxn id="14" idx="1"/>
            </p:cNvCxnSpPr>
            <p:nvPr/>
          </p:nvCxnSpPr>
          <p:spPr>
            <a:xfrm flipV="1">
              <a:off x="5950106" y="4827380"/>
              <a:ext cx="379279" cy="870537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F4893255-F31F-27C7-FDC1-17720C1D03F9}"/>
                </a:ext>
              </a:extLst>
            </p:cNvPr>
            <p:cNvCxnSpPr>
              <a:cxnSpLocks/>
            </p:cNvCxnSpPr>
            <p:nvPr/>
          </p:nvCxnSpPr>
          <p:spPr>
            <a:xfrm>
              <a:off x="7907430" y="4827380"/>
              <a:ext cx="25251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连接符: 肘形 53">
              <a:extLst>
                <a:ext uri="{FF2B5EF4-FFF2-40B4-BE49-F238E27FC236}">
                  <a16:creationId xmlns:a16="http://schemas.microsoft.com/office/drawing/2014/main" id="{734488B4-7F9E-F2F1-6E2A-A7E7D6542B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34950" y="3956840"/>
              <a:ext cx="466769" cy="870833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连接符: 肘形 54">
              <a:extLst>
                <a:ext uri="{FF2B5EF4-FFF2-40B4-BE49-F238E27FC236}">
                  <a16:creationId xmlns:a16="http://schemas.microsoft.com/office/drawing/2014/main" id="{F0168E9E-0958-625E-503B-8E2157432C4B}"/>
                </a:ext>
              </a:extLst>
            </p:cNvPr>
            <p:cNvCxnSpPr>
              <a:cxnSpLocks/>
            </p:cNvCxnSpPr>
            <p:nvPr/>
          </p:nvCxnSpPr>
          <p:spPr>
            <a:xfrm>
              <a:off x="9739228" y="4827380"/>
              <a:ext cx="466771" cy="869950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连接符: 肘形 55">
              <a:extLst>
                <a:ext uri="{FF2B5EF4-FFF2-40B4-BE49-F238E27FC236}">
                  <a16:creationId xmlns:a16="http://schemas.microsoft.com/office/drawing/2014/main" id="{7F7138B0-7E6A-FD0D-49A8-63BFE8EFB34C}"/>
                </a:ext>
              </a:extLst>
            </p:cNvPr>
            <p:cNvCxnSpPr>
              <a:cxnSpLocks/>
            </p:cNvCxnSpPr>
            <p:nvPr/>
          </p:nvCxnSpPr>
          <p:spPr>
            <a:xfrm>
              <a:off x="11838773" y="3930048"/>
              <a:ext cx="379281" cy="870246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连接符: 肘形 62">
              <a:extLst>
                <a:ext uri="{FF2B5EF4-FFF2-40B4-BE49-F238E27FC236}">
                  <a16:creationId xmlns:a16="http://schemas.microsoft.com/office/drawing/2014/main" id="{A47668E4-CD80-3803-AD2F-F1202FECD31C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 flipV="1">
              <a:off x="11908218" y="4365171"/>
              <a:ext cx="120195" cy="1332159"/>
            </a:xfrm>
            <a:prstGeom prst="bentConnector2">
              <a:avLst/>
            </a:prstGeom>
            <a:ln w="38100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60A7D5C2-238D-7AB4-ED32-7F4CBB5A5133}"/>
                </a:ext>
              </a:extLst>
            </p:cNvPr>
            <p:cNvSpPr txBox="1"/>
            <p:nvPr/>
          </p:nvSpPr>
          <p:spPr>
            <a:xfrm>
              <a:off x="3490785" y="4115287"/>
              <a:ext cx="84655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600" dirty="0"/>
                <a:t>fork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2B098556-0ABB-8EAD-A5B7-447FD8149589}"/>
                </a:ext>
              </a:extLst>
            </p:cNvPr>
            <p:cNvSpPr txBox="1"/>
            <p:nvPr/>
          </p:nvSpPr>
          <p:spPr>
            <a:xfrm>
              <a:off x="5229917" y="4114475"/>
              <a:ext cx="22951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600" dirty="0"/>
                <a:t>join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44A51E6-63A6-E3C3-626A-59DD8C460E5F}"/>
                </a:ext>
              </a:extLst>
            </p:cNvPr>
            <p:cNvSpPr txBox="1"/>
            <p:nvPr/>
          </p:nvSpPr>
          <p:spPr>
            <a:xfrm>
              <a:off x="5380537" y="5165291"/>
              <a:ext cx="22951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600" dirty="0"/>
                <a:t>wait-all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2901885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6050</TotalTime>
  <Words>584</Words>
  <Application>Microsoft Office PowerPoint</Application>
  <PresentationFormat>宽屏</PresentationFormat>
  <Paragraphs>267</Paragraphs>
  <Slides>15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Microsoft YaHei</vt:lpstr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cd w</dc:creator>
  <cp:lastModifiedBy>cd w</cp:lastModifiedBy>
  <cp:revision>40</cp:revision>
  <dcterms:created xsi:type="dcterms:W3CDTF">2023-08-09T12:44:00Z</dcterms:created>
  <dcterms:modified xsi:type="dcterms:W3CDTF">2026-04-22T16:55:54Z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